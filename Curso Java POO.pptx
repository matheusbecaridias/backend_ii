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61.xml.rels" ContentType="application/vnd.openxmlformats-package.relationships+xml"/>
  <Override PartName="/ppt/slides/_rels/slide60.xml.rels" ContentType="application/vnd.openxmlformats-package.relationships+xml"/>
  <Override PartName="/ppt/slides/_rels/slide14.xml.rels" ContentType="application/vnd.openxmlformats-package.relationships+xml"/>
  <Override PartName="/ppt/slides/_rels/slide82.xml.rels" ContentType="application/vnd.openxmlformats-package.relationships+xml"/>
  <Override PartName="/ppt/slides/_rels/slide12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83.xml.rels" ContentType="application/vnd.openxmlformats-package.relationships+xml"/>
  <Override PartName="/ppt/slides/_rels/slide46.xml.rels" ContentType="application/vnd.openxmlformats-package.relationships+xml"/>
  <Override PartName="/ppt/slides/_rels/slide13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84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60.xml.rels" ContentType="application/vnd.openxmlformats-package.relationships+xml"/>
  <Override PartName="/ppt/slides/_rels/slide9.xml.rels" ContentType="application/vnd.openxmlformats-package.relationships+xml"/>
  <Override PartName="/ppt/slides/_rels/slide96.xml.rels" ContentType="application/vnd.openxmlformats-package.relationships+xml"/>
  <Override PartName="/ppt/slides/_rels/slide28.xml.rels" ContentType="application/vnd.openxmlformats-package.relationships+xml"/>
  <Override PartName="/ppt/slides/_rels/slide141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161.xml.rels" ContentType="application/vnd.openxmlformats-package.relationships+xml"/>
  <Override PartName="/ppt/slides/_rels/slide20.xml.rels" ContentType="application/vnd.openxmlformats-package.relationships+xml"/>
  <Override PartName="/ppt/slides/_rels/slide93.xml.rels" ContentType="application/vnd.openxmlformats-package.relationships+xml"/>
  <Override PartName="/ppt/slides/_rels/slide25.xml.rels" ContentType="application/vnd.openxmlformats-package.relationships+xml"/>
  <Override PartName="/ppt/slides/_rels/slide171.xml.rels" ContentType="application/vnd.openxmlformats-package.relationships+xml"/>
  <Override PartName="/ppt/slides/_rels/slide103.xml.rels" ContentType="application/vnd.openxmlformats-package.relationships+xml"/>
  <Override PartName="/ppt/slides/_rels/slide58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144.xml.rels" ContentType="application/vnd.openxmlformats-package.relationships+xml"/>
  <Override PartName="/ppt/slides/_rels/slide97.xml.rels" ContentType="application/vnd.openxmlformats-package.relationships+xml"/>
  <Override PartName="/ppt/slides/_rels/slide29.xml.rels" ContentType="application/vnd.openxmlformats-package.relationships+xml"/>
  <Override PartName="/ppt/slides/_rels/slide142.xml.rels" ContentType="application/vnd.openxmlformats-package.relationships+xml"/>
  <Override PartName="/ppt/slides/_rels/slide4.xml.rels" ContentType="application/vnd.openxmlformats-package.relationships+xml"/>
  <Override PartName="/ppt/slides/_rels/slide49.xml.rels" ContentType="application/vnd.openxmlformats-package.relationships+xml"/>
  <Override PartName="/ppt/slides/_rels/slide162.xml.rels" ContentType="application/vnd.openxmlformats-package.relationships+xml"/>
  <Override PartName="/ppt/slides/_rels/slide21.xml.rels" ContentType="application/vnd.openxmlformats-package.relationships+xml"/>
  <Override PartName="/ppt/slides/_rels/slide26.xml.rels" ContentType="application/vnd.openxmlformats-package.relationships+xml"/>
  <Override PartName="/ppt/slides/_rels/slide94.xml.rels" ContentType="application/vnd.openxmlformats-package.relationships+xml"/>
  <Override PartName="/ppt/slides/_rels/slide91.xml.rels" ContentType="application/vnd.openxmlformats-package.relationships+xml"/>
  <Override PartName="/ppt/slides/_rels/slide23.xml.rels" ContentType="application/vnd.openxmlformats-package.relationships+xml"/>
  <Override PartName="/ppt/slides/_rels/slide104.xml.rels" ContentType="application/vnd.openxmlformats-package.relationships+xml"/>
  <Override PartName="/ppt/slides/_rels/slide172.xml.rels" ContentType="application/vnd.openxmlformats-package.relationships+xml"/>
  <Override PartName="/ppt/slides/_rels/slide59.xml.rels" ContentType="application/vnd.openxmlformats-package.relationships+xml"/>
  <Override PartName="/ppt/slides/_rels/slide1.xml.rels" ContentType="application/vnd.openxmlformats-package.relationships+xml"/>
  <Override PartName="/ppt/slides/_rels/slide129.xml.rels" ContentType="application/vnd.openxmlformats-package.relationships+xml"/>
  <Override PartName="/ppt/slides/_rels/slide98.xml.rels" ContentType="application/vnd.openxmlformats-package.relationships+xml"/>
  <Override PartName="/ppt/slides/_rels/slide143.xml.rels" ContentType="application/vnd.openxmlformats-package.relationships+xml"/>
  <Override PartName="/ppt/slides/_rels/slide5.xml.rels" ContentType="application/vnd.openxmlformats-package.relationships+xml"/>
  <Override PartName="/ppt/slides/_rels/slide138.xml.rels" ContentType="application/vnd.openxmlformats-package.relationships+xml"/>
  <Override PartName="/ppt/slides/_rels/slide137.xml.rels" ContentType="application/vnd.openxmlformats-package.relationships+xml"/>
  <Override PartName="/ppt/slides/_rels/slide100.xml.rels" ContentType="application/vnd.openxmlformats-package.relationships+xml"/>
  <Override PartName="/ppt/slides/_rels/slide55.xml.rels" ContentType="application/vnd.openxmlformats-package.relationships+xml"/>
  <Override PartName="/ppt/slides/_rels/slide136.xml.rels" ContentType="application/vnd.openxmlformats-package.relationships+xml"/>
  <Override PartName="/ppt/slides/_rels/slide45.xml.rels" ContentType="application/vnd.openxmlformats-package.relationships+xml"/>
  <Override PartName="/ppt/slides/_rels/slide135.xml.rels" ContentType="application/vnd.openxmlformats-package.relationships+xml"/>
  <Override PartName="/ppt/slides/_rels/slide44.xml.rels" ContentType="application/vnd.openxmlformats-package.relationships+xml"/>
  <Override PartName="/ppt/slides/_rels/slide167.xml.rels" ContentType="application/vnd.openxmlformats-package.relationships+xml"/>
  <Override PartName="/ppt/slides/_rels/slide89.xml.rels" ContentType="application/vnd.openxmlformats-package.relationships+xml"/>
  <Override PartName="/ppt/slides/_rels/slide134.xml.rels" ContentType="application/vnd.openxmlformats-package.relationships+xml"/>
  <Override PartName="/ppt/slides/_rels/slide101.xml.rels" ContentType="application/vnd.openxmlformats-package.relationships+xml"/>
  <Override PartName="/ppt/slides/_rels/slide56.xml.rels" ContentType="application/vnd.openxmlformats-package.relationships+xml"/>
  <Override PartName="/ppt/slides/_rels/slide43.xml.rels" ContentType="application/vnd.openxmlformats-package.relationships+xml"/>
  <Override PartName="/ppt/slides/_rels/slide133.xml.rels" ContentType="application/vnd.openxmlformats-package.relationships+xml"/>
  <Override PartName="/ppt/slides/_rels/slide88.xml.rels" ContentType="application/vnd.openxmlformats-package.relationships+xml"/>
  <Override PartName="/ppt/slides/_rels/slide166.xml.rels" ContentType="application/vnd.openxmlformats-package.relationships+xml"/>
  <Override PartName="/ppt/slides/_rels/slide128.xml.rels" ContentType="application/vnd.openxmlformats-package.relationships+xml"/>
  <Override PartName="/ppt/slides/_rels/slide64.xml.rels" ContentType="application/vnd.openxmlformats-package.relationships+xml"/>
  <Override PartName="/ppt/slides/_rels/slide32.xml.rels" ContentType="application/vnd.openxmlformats-package.relationships+xml"/>
  <Override PartName="/ppt/slides/_rels/slide110.xml.rels" ContentType="application/vnd.openxmlformats-package.relationships+xml"/>
  <Override PartName="/ppt/slides/_rels/slide65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15.xml.rels" ContentType="application/vnd.openxmlformats-package.relationships+xml"/>
  <Override PartName="/ppt/slides/_rels/slide2.xml.rels" ContentType="application/vnd.openxmlformats-package.relationships+xml"/>
  <Override PartName="/ppt/slides/_rels/slide121.xml.rels" ContentType="application/vnd.openxmlformats-package.relationships+xml"/>
  <Override PartName="/ppt/slides/_rels/slide76.xml.rels" ContentType="application/vnd.openxmlformats-package.relationships+xml"/>
  <Override PartName="/ppt/slides/_rels/slide154.xml.rels" ContentType="application/vnd.openxmlformats-package.relationships+xml"/>
  <Override PartName="/ppt/slides/_rels/slide116.xml.rels" ContentType="application/vnd.openxmlformats-package.relationships+xml"/>
  <Override PartName="/ppt/slides/_rels/slide108.xml.rels" ContentType="application/vnd.openxmlformats-package.relationships+xml"/>
  <Override PartName="/ppt/slides/_rels/slide176.xml.rels" ContentType="application/vnd.openxmlformats-package.relationships+xml"/>
  <Override PartName="/ppt/slides/_rels/slide122.xml.rels" ContentType="application/vnd.openxmlformats-package.relationships+xml"/>
  <Override PartName="/ppt/slides/_rels/slide77.xml.rels" ContentType="application/vnd.openxmlformats-package.relationships+xml"/>
  <Override PartName="/ppt/slides/_rels/slide155.xml.rels" ContentType="application/vnd.openxmlformats-package.relationships+xml"/>
  <Override PartName="/ppt/slides/_rels/slide117.xml.rels" ContentType="application/vnd.openxmlformats-package.relationships+xml"/>
  <Override PartName="/ppt/slides/_rels/slide174.xml.rels" ContentType="application/vnd.openxmlformats-package.relationships+xml"/>
  <Override PartName="/ppt/slides/_rels/slide106.xml.rels" ContentType="application/vnd.openxmlformats-package.relationships+xml"/>
  <Override PartName="/ppt/slides/_rels/slide42.xml.rels" ContentType="application/vnd.openxmlformats-package.relationships+xml"/>
  <Override PartName="/ppt/slides/_rels/slide157.xml.rels" ContentType="application/vnd.openxmlformats-package.relationships+xml"/>
  <Override PartName="/ppt/slides/_rels/slide109.xml.rels" ContentType="application/vnd.openxmlformats-package.relationships+xml"/>
  <Override PartName="/ppt/slides/_rels/slide177.xml.rels" ContentType="application/vnd.openxmlformats-package.relationships+xml"/>
  <Override PartName="/ppt/slides/_rels/slide123.xml.rels" ContentType="application/vnd.openxmlformats-package.relationships+xml"/>
  <Override PartName="/ppt/slides/_rels/slide78.xml.rels" ContentType="application/vnd.openxmlformats-package.relationships+xml"/>
  <Override PartName="/ppt/slides/_rels/slide156.xml.rels" ContentType="application/vnd.openxmlformats-package.relationships+xml"/>
  <Override PartName="/ppt/slides/_rels/slide118.xml.rels" ContentType="application/vnd.openxmlformats-package.relationships+xml"/>
  <Override PartName="/ppt/slides/_rels/slide111.xml.rels" ContentType="application/vnd.openxmlformats-package.relationships+xml"/>
  <Override PartName="/ppt/slides/_rels/slide66.xml.rels" ContentType="application/vnd.openxmlformats-package.relationships+xml"/>
  <Override PartName="/ppt/slides/_rels/slide175.xml.rels" ContentType="application/vnd.openxmlformats-package.relationships+xml"/>
  <Override PartName="/ppt/slides/_rels/slide107.xml.rels" ContentType="application/vnd.openxmlformats-package.relationships+xml"/>
  <Override PartName="/ppt/slides/_rels/slide70.xml.rels" ContentType="application/vnd.openxmlformats-package.relationships+xml"/>
  <Override PartName="/ppt/slides/_rels/slide119.xml.rels" ContentType="application/vnd.openxmlformats-package.relationships+xml"/>
  <Override PartName="/ppt/slides/_rels/slide112.xml.rels" ContentType="application/vnd.openxmlformats-package.relationships+xml"/>
  <Override PartName="/ppt/slides/_rels/slide67.xml.rels" ContentType="application/vnd.openxmlformats-package.relationships+xml"/>
  <Override PartName="/ppt/slides/_rels/slide145.xml.rels" ContentType="application/vnd.openxmlformats-package.relationships+xml"/>
  <Override PartName="/ppt/slides/_rels/slide126.xml.rels" ContentType="application/vnd.openxmlformats-package.relationships+xml"/>
  <Override PartName="/ppt/slides/_rels/slide127.xml.rels" ContentType="application/vnd.openxmlformats-package.relationships+xml"/>
  <Override PartName="/ppt/slides/_rels/slide120.xml.rels" ContentType="application/vnd.openxmlformats-package.relationships+xml"/>
  <Override PartName="/ppt/slides/_rels/slide75.xml.rels" ContentType="application/vnd.openxmlformats-package.relationships+xml"/>
  <Override PartName="/ppt/slides/_rels/slide153.xml.rels" ContentType="application/vnd.openxmlformats-package.relationships+xml"/>
  <Override PartName="/ppt/slides/_rels/slide125.xml.rels" ContentType="application/vnd.openxmlformats-package.relationships+xml"/>
  <Override PartName="/ppt/slides/_rels/slide79.xml.rels" ContentType="application/vnd.openxmlformats-package.relationships+xml"/>
  <Override PartName="/ppt/slides/_rels/slide124.xml.rels" ContentType="application/vnd.openxmlformats-package.relationships+xml"/>
  <Override PartName="/ppt/slides/_rels/slide114.xml.rels" ContentType="application/vnd.openxmlformats-package.relationships+xml"/>
  <Override PartName="/ppt/slides/_rels/slide69.xml.rels" ContentType="application/vnd.openxmlformats-package.relationships+xml"/>
  <Override PartName="/ppt/slides/_rels/slide147.xml.rels" ContentType="application/vnd.openxmlformats-package.relationships+xml"/>
  <Override PartName="/ppt/slides/_rels/slide113.xml.rels" ContentType="application/vnd.openxmlformats-package.relationships+xml"/>
  <Override PartName="/ppt/slides/_rels/slide68.xml.rels" ContentType="application/vnd.openxmlformats-package.relationships+xml"/>
  <Override PartName="/ppt/slides/_rels/slide146.xml.rels" ContentType="application/vnd.openxmlformats-package.relationships+xml"/>
  <Override PartName="/ppt/slides/_rels/slide74.xml.rels" ContentType="application/vnd.openxmlformats-package.relationships+xml"/>
  <Override PartName="/ppt/slides/_rels/slide39.xml.rels" ContentType="application/vnd.openxmlformats-package.relationships+xml"/>
  <Override PartName="/ppt/slides/_rels/slide152.xml.rels" ContentType="application/vnd.openxmlformats-package.relationships+xml"/>
  <Override PartName="/ppt/slides/_rels/slide73.xml.rels" ContentType="application/vnd.openxmlformats-package.relationships+xml"/>
  <Override PartName="/ppt/slides/_rels/slide38.xml.rels" ContentType="application/vnd.openxmlformats-package.relationships+xml"/>
  <Override PartName="/ppt/slides/_rels/slide151.xml.rels" ContentType="application/vnd.openxmlformats-package.relationships+xml"/>
  <Override PartName="/ppt/slides/_rels/slide72.xml.rels" ContentType="application/vnd.openxmlformats-package.relationships+xml"/>
  <Override PartName="/ppt/slides/_rels/slide37.xml.rels" ContentType="application/vnd.openxmlformats-package.relationships+xml"/>
  <Override PartName="/ppt/slides/_rels/slide150.xml.rels" ContentType="application/vnd.openxmlformats-package.relationships+xml"/>
  <Override PartName="/ppt/slides/_rels/slide71.xml.rels" ContentType="application/vnd.openxmlformats-package.relationships+xml"/>
  <Override PartName="/ppt/slides/_rels/slide173.xml.rels" ContentType="application/vnd.openxmlformats-package.relationships+xml"/>
  <Override PartName="/ppt/slides/_rels/slide105.xml.rels" ContentType="application/vnd.openxmlformats-package.relationships+xml"/>
  <Override PartName="/ppt/slides/_rels/slide57.xml.rels" ContentType="application/vnd.openxmlformats-package.relationships+xml"/>
  <Override PartName="/ppt/slides/_rels/slide170.xml.rels" ContentType="application/vnd.openxmlformats-package.relationships+xml"/>
  <Override PartName="/ppt/slides/_rels/slide102.xml.rels" ContentType="application/vnd.openxmlformats-package.relationships+xml"/>
  <Override PartName="/ppt/slides/_rels/slide92.xml.rels" ContentType="application/vnd.openxmlformats-package.relationships+xml"/>
  <Override PartName="/ppt/slides/_rels/slide24.xml.rels" ContentType="application/vnd.openxmlformats-package.relationships+xml"/>
  <Override PartName="/ppt/slides/_rels/slide139.xml.rels" ContentType="application/vnd.openxmlformats-package.relationships+xml"/>
  <Override PartName="/ppt/slides/_rels/slide95.xml.rels" ContentType="application/vnd.openxmlformats-package.relationships+xml"/>
  <Override PartName="/ppt/slides/_rels/slide27.xml.rels" ContentType="application/vnd.openxmlformats-package.relationships+xml"/>
  <Override PartName="/ppt/slides/_rels/slide140.xml.rels" ContentType="application/vnd.openxmlformats-package.relationships+xml"/>
  <Override PartName="/ppt/slides/_rels/slide62.xml.rels" ContentType="application/vnd.openxmlformats-package.relationships+xml"/>
  <Override PartName="/ppt/slides/_rels/slide159.xml.rels" ContentType="application/vnd.openxmlformats-package.relationships+xml"/>
  <Override PartName="/ppt/slides/_rels/slide158.xml.rels" ContentType="application/vnd.openxmlformats-package.relationships+xml"/>
  <Override PartName="/ppt/slides/_rels/slide163.xml.rels" ContentType="application/vnd.openxmlformats-package.relationships+xml"/>
  <Override PartName="/ppt/slides/_rels/slide164.xml.rels" ContentType="application/vnd.openxmlformats-package.relationships+xml"/>
  <Override PartName="/ppt/slides/_rels/slide165.xml.rels" ContentType="application/vnd.openxmlformats-package.relationships+xml"/>
  <Override PartName="/ppt/slides/_rels/slide86.xml.rels" ContentType="application/vnd.openxmlformats-package.relationships+xml"/>
  <Override PartName="/ppt/slides/_rels/slide18.xml.rels" ContentType="application/vnd.openxmlformats-package.relationships+xml"/>
  <Override PartName="/ppt/slides/_rels/slide131.xml.rels" ContentType="application/vnd.openxmlformats-package.relationships+xml"/>
  <Override PartName="/ppt/slides/_rels/slide53.xml.rels" ContentType="application/vnd.openxmlformats-package.relationships+xml"/>
  <Override PartName="/ppt/slides/_rels/slide168.xml.rels" ContentType="application/vnd.openxmlformats-package.relationships+xml"/>
  <Override PartName="/ppt/slides/_rels/slide87.xml.rels" ContentType="application/vnd.openxmlformats-package.relationships+xml"/>
  <Override PartName="/ppt/slides/_rels/slide19.xml.rels" ContentType="application/vnd.openxmlformats-package.relationships+xml"/>
  <Override PartName="/ppt/slides/_rels/slide132.xml.rels" ContentType="application/vnd.openxmlformats-package.relationships+xml"/>
  <Override PartName="/ppt/slides/_rels/slide54.xml.rels" ContentType="application/vnd.openxmlformats-package.relationships+xml"/>
  <Override PartName="/ppt/slides/_rels/slide169.xml.rels" ContentType="application/vnd.openxmlformats-package.relationships+xml"/>
  <Override PartName="/ppt/slides/_rels/slide50.xml.rels" ContentType="application/vnd.openxmlformats-package.relationships+xml"/>
  <Override PartName="/ppt/slides/_rels/slide63.xml.rels" ContentType="application/vnd.openxmlformats-package.relationships+xml"/>
  <Override PartName="/ppt/slides/_rels/slide178.xml.rels" ContentType="application/vnd.openxmlformats-package.relationships+xml"/>
  <Override PartName="/ppt/slides/_rels/slide7.xml.rels" ContentType="application/vnd.openxmlformats-package.relationships+xml"/>
  <Override PartName="/ppt/slides/_rels/slide52.xml.rels" ContentType="application/vnd.openxmlformats-package.relationships+xml"/>
  <Override PartName="/ppt/slides/_rels/slide85.xml.rels" ContentType="application/vnd.openxmlformats-package.relationships+xml"/>
  <Override PartName="/ppt/slides/_rels/slide130.xml.rels" ContentType="application/vnd.openxmlformats-package.relationships+xml"/>
  <Override PartName="/ppt/slides/_rels/slide17.xml.rels" ContentType="application/vnd.openxmlformats-package.relationships+xml"/>
  <Override PartName="/ppt/slides/_rels/slide51.xml.rels" ContentType="application/vnd.openxmlformats-package.relationships+xml"/>
  <Override PartName="/ppt/slides/_rels/slide179.xml.rels" ContentType="application/vnd.openxmlformats-package.relationships+xml"/>
  <Override PartName="/ppt/slides/_rels/slide8.xml.rels" ContentType="application/vnd.openxmlformats-package.relationships+xml"/>
  <Override PartName="/ppt/slides/_rels/slide149.xml.rels" ContentType="application/vnd.openxmlformats-package.relationships+xml"/>
  <Override PartName="/ppt/slides/_rels/slide148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1.xml.rels" ContentType="application/vnd.openxmlformats-package.relationships+xml"/>
  <Override PartName="/ppt/slides/_rels/slide30.xml.rels" ContentType="application/vnd.openxmlformats-package.relationships+xml"/>
  <Override PartName="/ppt/slides/_rels/slide22.xml.rels" ContentType="application/vnd.openxmlformats-package.relationships+xml"/>
  <Override PartName="/ppt/slides/_rels/slide90.xml.rels" ContentType="application/vnd.openxmlformats-package.relationships+xml"/>
  <Override PartName="/ppt/slides/slide127.xml" ContentType="application/vnd.openxmlformats-officedocument.presentationml.slide+xml"/>
  <Override PartName="/ppt/slides/slide126.xml" ContentType="application/vnd.openxmlformats-officedocument.presentationml.slide+xml"/>
  <Override PartName="/ppt/slides/slide119.xml" ContentType="application/vnd.openxmlformats-officedocument.presentationml.slide+xml"/>
  <Override PartName="/ppt/slides/slide118.xml" ContentType="application/vnd.openxmlformats-officedocument.presentationml.slide+xml"/>
  <Override PartName="/ppt/slides/slide117.xml" ContentType="application/vnd.openxmlformats-officedocument.presentationml.slide+xml"/>
  <Override PartName="/ppt/slides/slide116.xml" ContentType="application/vnd.openxmlformats-officedocument.presentationml.slide+xml"/>
  <Override PartName="/ppt/slides/slide109.xml" ContentType="application/vnd.openxmlformats-officedocument.presentationml.slide+xml"/>
  <Override PartName="/ppt/slides/slide177.xml" ContentType="application/vnd.openxmlformats-officedocument.presentationml.slide+xml"/>
  <Override PartName="/ppt/slides/slide108.xml" ContentType="application/vnd.openxmlformats-officedocument.presentationml.slide+xml"/>
  <Override PartName="/ppt/slides/slide176.xml" ContentType="application/vnd.openxmlformats-officedocument.presentationml.slide+xml"/>
  <Override PartName="/ppt/slides/slide107.xml" ContentType="application/vnd.openxmlformats-officedocument.presentationml.slide+xml"/>
  <Override PartName="/ppt/slides/slide175.xml" ContentType="application/vnd.openxmlformats-officedocument.presentationml.slide+xml"/>
  <Override PartName="/ppt/slides/slide106.xml" ContentType="application/vnd.openxmlformats-officedocument.presentationml.slide+xml"/>
  <Override PartName="/ppt/slides/slide174.xml" ContentType="application/vnd.openxmlformats-officedocument.presentationml.slide+xml"/>
  <Override PartName="/ppt/slides/slide95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87.xml" ContentType="application/vnd.openxmlformats-officedocument.presentationml.slide+xml"/>
  <Override PartName="/ppt/slides/slide19.xml" ContentType="application/vnd.openxmlformats-officedocument.presentationml.slide+xml"/>
  <Override PartName="/ppt/slides/slide86.xml" ContentType="application/vnd.openxmlformats-officedocument.presentationml.slide+xml"/>
  <Override PartName="/ppt/slides/slide18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25.xml" ContentType="application/vnd.openxmlformats-officedocument.presentationml.slide+xml"/>
  <Override PartName="/ppt/slides/slide79.xml" ContentType="application/vnd.openxmlformats-officedocument.presentationml.slide+xml"/>
  <Override PartName="/ppt/slides/slide124.xml" ContentType="application/vnd.openxmlformats-officedocument.presentationml.slide+xml"/>
  <Override PartName="/ppt/slides/slide78.xml" ContentType="application/vnd.openxmlformats-officedocument.presentationml.slide+xml"/>
  <Override PartName="/ppt/slides/slide123.xml" ContentType="application/vnd.openxmlformats-officedocument.presentationml.slide+xml"/>
  <Override PartName="/ppt/slides/slide77.xml" ContentType="application/vnd.openxmlformats-officedocument.presentationml.slide+xml"/>
  <Override PartName="/ppt/slides/slide122.xml" ContentType="application/vnd.openxmlformats-officedocument.presentationml.slide+xml"/>
  <Override PartName="/ppt/slides/slide76.xml" ContentType="application/vnd.openxmlformats-officedocument.presentationml.slide+xml"/>
  <Override PartName="/ppt/slides/slide121.xml" ContentType="application/vnd.openxmlformats-officedocument.presentationml.slide+xml"/>
  <Override PartName="/ppt/slides/slide75.xml" ContentType="application/vnd.openxmlformats-officedocument.presentationml.slide+xml"/>
  <Override PartName="/ppt/slides/slide120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115.xml" ContentType="application/vnd.openxmlformats-officedocument.presentationml.slide+xml"/>
  <Override PartName="/ppt/slides/slide69.xml" ContentType="application/vnd.openxmlformats-officedocument.presentationml.slide+xml"/>
  <Override PartName="/ppt/slides/slide114.xml" ContentType="application/vnd.openxmlformats-officedocument.presentationml.slide+xml"/>
  <Override PartName="/ppt/slides/slide68.xml" ContentType="application/vnd.openxmlformats-officedocument.presentationml.slide+xml"/>
  <Override PartName="/ppt/slides/slide113.xml" ContentType="application/vnd.openxmlformats-officedocument.presentationml.slide+xml"/>
  <Override PartName="/ppt/slides/slide67.xml" ContentType="application/vnd.openxmlformats-officedocument.presentationml.slide+xml"/>
  <Override PartName="/ppt/slides/slide112.xml" ContentType="application/vnd.openxmlformats-officedocument.presentationml.slide+xml"/>
  <Override PartName="/ppt/slides/slide66.xml" ContentType="application/vnd.openxmlformats-officedocument.presentationml.slide+xml"/>
  <Override PartName="/ppt/slides/slide111.xml" ContentType="application/vnd.openxmlformats-officedocument.presentationml.slide+xml"/>
  <Override PartName="/ppt/slides/slide65.xml" ContentType="application/vnd.openxmlformats-officedocument.presentationml.slide+xml"/>
  <Override PartName="/ppt/slides/slide110.xml" ContentType="application/vnd.openxmlformats-officedocument.presentationml.slide+xml"/>
  <Override PartName="/ppt/slides/slide64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9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01.xml" ContentType="application/vnd.openxmlformats-officedocument.presentationml.slide+xml"/>
  <Override PartName="/ppt/slides/slide55.xml" ContentType="application/vnd.openxmlformats-officedocument.presentationml.slide+xml"/>
  <Override PartName="/ppt/slides/slide138.xml" ContentType="application/vnd.openxmlformats-officedocument.presentationml.slide+xml"/>
  <Override PartName="/ppt/slides/slide170.xml" ContentType="application/vnd.openxmlformats-officedocument.presentationml.slide+xml"/>
  <Override PartName="/ppt/slides/slide102.xml" ContentType="application/vnd.openxmlformats-officedocument.presentationml.slide+xml"/>
  <Override PartName="/ppt/slides/slide56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59.xml" ContentType="application/vnd.openxmlformats-officedocument.presentationml.slide+xml"/>
  <Override PartName="/ppt/slides/slide161.xml" ContentType="application/vnd.openxmlformats-officedocument.presentationml.slide+xml"/>
  <Override PartName="/ppt/slides/slide160.xml" ContentType="application/vnd.openxmlformats-officedocument.presentationml.slide+xml"/>
  <Override PartName="/ppt/slides/slide49.xml" ContentType="application/vnd.openxmlformats-officedocument.presentationml.slide+xml"/>
  <Override PartName="/ppt/slides/slide158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31.xml" ContentType="application/vnd.openxmlformats-officedocument.presentationml.slide+xml"/>
  <Override PartName="/ppt/slides/slide168.xml" ContentType="application/vnd.openxmlformats-officedocument.presentationml.slide+xml"/>
  <Override PartName="/ppt/slides/slide11.xml" ContentType="application/vnd.openxmlformats-officedocument.presentationml.slide+xml"/>
  <Override PartName="/ppt/slides/slide132.xml" ContentType="application/vnd.openxmlformats-officedocument.presentationml.slide+xml"/>
  <Override PartName="/ppt/slides/slide169.xml" ContentType="application/vnd.openxmlformats-officedocument.presentationml.slide+xml"/>
  <Override PartName="/ppt/slides/slide166.xml" ContentType="application/vnd.openxmlformats-officedocument.presentationml.slide+xml"/>
  <Override PartName="/ppt/slides/slide141.xml" ContentType="application/vnd.openxmlformats-officedocument.presentationml.slide+xml"/>
  <Override PartName="/ppt/slides/slide178.xml" ContentType="application/vnd.openxmlformats-officedocument.presentationml.slide+xml"/>
  <Override PartName="/ppt/slides/slide21.xml" ContentType="application/vnd.openxmlformats-officedocument.presentationml.slide+xml"/>
  <Override PartName="/ppt/slides/slide143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97.xml" ContentType="application/vnd.openxmlformats-officedocument.presentationml.slide+xml"/>
  <Override PartName="/ppt/slides/slide130.xml" ContentType="application/vnd.openxmlformats-officedocument.presentationml.slide+xml"/>
  <Override PartName="/ppt/slides/slide167.xml" ContentType="application/vnd.openxmlformats-officedocument.presentationml.slide+xml"/>
  <Override PartName="/ppt/slides/slide10.xml" ContentType="application/vnd.openxmlformats-officedocument.presentationml.slide+xml"/>
  <Override PartName="/ppt/slides/slide142.xml" ContentType="application/vnd.openxmlformats-officedocument.presentationml.slide+xml"/>
  <Override PartName="/ppt/slides/slide1.xml" ContentType="application/vnd.openxmlformats-officedocument.presentationml.slide+xml"/>
  <Override PartName="/ppt/slides/slide179.xml" ContentType="application/vnd.openxmlformats-officedocument.presentationml.slide+xml"/>
  <Override PartName="/ppt/slides/slide144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157.xml" ContentType="application/vnd.openxmlformats-officedocument.presentationml.slide+xml"/>
  <Override PartName="/ppt/slides/slide156.xml" ContentType="application/vnd.openxmlformats-officedocument.presentationml.slide+xml"/>
  <Override PartName="/ppt/slides/slide155.xml" ContentType="application/vnd.openxmlformats-officedocument.presentationml.slide+xml"/>
  <Override PartName="/ppt/slides/slide154.xml" ContentType="application/vnd.openxmlformats-officedocument.presentationml.slide+xml"/>
  <Override PartName="/ppt/slides/slide153.xml" ContentType="application/vnd.openxmlformats-officedocument.presentationml.slide+xml"/>
  <Override PartName="/ppt/slides/slide152.xml" ContentType="application/vnd.openxmlformats-officedocument.presentationml.slide+xml"/>
  <Override PartName="/ppt/slides/slide151.xml" ContentType="application/vnd.openxmlformats-officedocument.presentationml.slide+xml"/>
  <Override PartName="/ppt/slides/slide149.xml" ContentType="application/vnd.openxmlformats-officedocument.presentationml.slide+xml"/>
  <Override PartName="/ppt/slides/slide8.xml" ContentType="application/vnd.openxmlformats-officedocument.presentationml.slide+xml"/>
  <Override PartName="/ppt/slides/slide45.xml" ContentType="application/vnd.openxmlformats-officedocument.presentationml.slide+xml"/>
  <Override PartName="/ppt/slides/slide150.xml" ContentType="application/vnd.openxmlformats-officedocument.presentationml.slide+xml"/>
  <Override PartName="/ppt/slides/slide39.xml" ContentType="application/vnd.openxmlformats-officedocument.presentationml.slide+xml"/>
  <Override PartName="/ppt/slides/slide148.xml" ContentType="application/vnd.openxmlformats-officedocument.presentationml.slide+xml"/>
  <Override PartName="/ppt/slides/slide7.xml" ContentType="application/vnd.openxmlformats-officedocument.presentationml.slide+xml"/>
  <Override PartName="/ppt/slides/slide147.xml" ContentType="application/vnd.openxmlformats-officedocument.presentationml.slide+xml"/>
  <Override PartName="/ppt/slides/slide6.xml" ContentType="application/vnd.openxmlformats-officedocument.presentationml.slide+xml"/>
  <Override PartName="/ppt/slides/slide146.xml" ContentType="application/vnd.openxmlformats-officedocument.presentationml.slide+xml"/>
  <Override PartName="/ppt/slides/slide5.xml" ContentType="application/vnd.openxmlformats-officedocument.presentationml.slide+xml"/>
  <Override PartName="/ppt/slides/slide145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105.xml" ContentType="application/vnd.openxmlformats-officedocument.presentationml.slide+xml"/>
  <Override PartName="/ppt/slides/slide173.xml" ContentType="application/vnd.openxmlformats-officedocument.presentationml.slide+xml"/>
  <Override PartName="/ppt/slides/slide22.xml" ContentType="application/vnd.openxmlformats-officedocument.presentationml.slide+xml"/>
  <Override PartName="/ppt/slides/slide90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172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171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84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13.xml" ContentType="application/vnd.openxmlformats-officedocument.presentationml.slide+xml"/>
  <Override PartName="/ppt/slides/slide46.xml" ContentType="application/vnd.openxmlformats-officedocument.presentationml.slide+xml"/>
  <Override PartName="/ppt/slides/slide83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91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92.xml" ContentType="application/vnd.openxmlformats-officedocument.presentationml.slide+xml"/>
  <Override PartName="/ppt/slides/slide96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93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Slides/_rels/notesSlide3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2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7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15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75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165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127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150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04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79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8.xml.rels" ContentType="application/vnd.openxmlformats-package.relationships+xml"/>
  <Override PartName="/ppt/notesSlides/_rels/notesSlide101.xml.rels" ContentType="application/vnd.openxmlformats-package.relationships+xml"/>
  <Override PartName="/ppt/notesSlides/_rels/notesSlide83.xml.rels" ContentType="application/vnd.openxmlformats-package.relationships+xml"/>
  <Override PartName="/ppt/notesSlides/_rels/notesSlide15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119.xml.rels" ContentType="application/vnd.openxmlformats-package.relationships+xml"/>
  <Override PartName="/ppt/notesSlides/_rels/notesSlide147.xml.rels" ContentType="application/vnd.openxmlformats-package.relationships+xml"/>
  <Override PartName="/ppt/notesSlides/_rels/notesSlide94.xml.rels" ContentType="application/vnd.openxmlformats-package.relationships+xml"/>
  <Override PartName="/ppt/notesSlides/notesSlide5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366" r:id="rId124"/>
    <p:sldId id="367" r:id="rId125"/>
    <p:sldId id="368" r:id="rId126"/>
    <p:sldId id="369" r:id="rId127"/>
    <p:sldId id="370" r:id="rId128"/>
    <p:sldId id="371" r:id="rId129"/>
    <p:sldId id="372" r:id="rId130"/>
    <p:sldId id="373" r:id="rId131"/>
    <p:sldId id="374" r:id="rId132"/>
    <p:sldId id="375" r:id="rId133"/>
    <p:sldId id="376" r:id="rId134"/>
    <p:sldId id="377" r:id="rId135"/>
    <p:sldId id="378" r:id="rId136"/>
    <p:sldId id="379" r:id="rId137"/>
    <p:sldId id="380" r:id="rId138"/>
    <p:sldId id="381" r:id="rId139"/>
    <p:sldId id="382" r:id="rId140"/>
    <p:sldId id="383" r:id="rId141"/>
    <p:sldId id="384" r:id="rId142"/>
    <p:sldId id="385" r:id="rId143"/>
    <p:sldId id="386" r:id="rId144"/>
    <p:sldId id="387" r:id="rId145"/>
    <p:sldId id="388" r:id="rId146"/>
    <p:sldId id="389" r:id="rId147"/>
    <p:sldId id="390" r:id="rId148"/>
    <p:sldId id="391" r:id="rId149"/>
    <p:sldId id="392" r:id="rId150"/>
    <p:sldId id="393" r:id="rId151"/>
    <p:sldId id="394" r:id="rId152"/>
    <p:sldId id="395" r:id="rId153"/>
    <p:sldId id="396" r:id="rId154"/>
    <p:sldId id="397" r:id="rId155"/>
    <p:sldId id="398" r:id="rId156"/>
    <p:sldId id="399" r:id="rId157"/>
    <p:sldId id="400" r:id="rId158"/>
    <p:sldId id="401" r:id="rId159"/>
    <p:sldId id="402" r:id="rId160"/>
    <p:sldId id="403" r:id="rId161"/>
    <p:sldId id="404" r:id="rId162"/>
    <p:sldId id="405" r:id="rId163"/>
    <p:sldId id="406" r:id="rId164"/>
    <p:sldId id="407" r:id="rId165"/>
    <p:sldId id="408" r:id="rId166"/>
    <p:sldId id="409" r:id="rId167"/>
    <p:sldId id="410" r:id="rId168"/>
    <p:sldId id="411" r:id="rId169"/>
    <p:sldId id="412" r:id="rId170"/>
    <p:sldId id="413" r:id="rId171"/>
    <p:sldId id="414" r:id="rId172"/>
    <p:sldId id="415" r:id="rId173"/>
    <p:sldId id="416" r:id="rId174"/>
    <p:sldId id="417" r:id="rId175"/>
    <p:sldId id="418" r:id="rId176"/>
    <p:sldId id="419" r:id="rId177"/>
    <p:sldId id="420" r:id="rId178"/>
    <p:sldId id="421" r:id="rId179"/>
    <p:sldId id="422" r:id="rId180"/>
    <p:sldId id="423" r:id="rId181"/>
    <p:sldId id="424" r:id="rId182"/>
    <p:sldId id="425" r:id="rId183"/>
    <p:sldId id="426" r:id="rId184"/>
    <p:sldId id="427" r:id="rId185"/>
    <p:sldId id="428" r:id="rId186"/>
    <p:sldId id="429" r:id="rId187"/>
    <p:sldId id="430" r:id="rId188"/>
    <p:sldId id="431" r:id="rId189"/>
    <p:sldId id="432" r:id="rId190"/>
    <p:sldId id="433" r:id="rId191"/>
    <p:sldId id="434" r:id="rId19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 para mover o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5D4BD3F-FE63-4348-AE6B-950943C0FCE9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15.xml.rels><?xml version="1.0" encoding="UTF-8"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
</Relationships>
</file>

<file path=ppt/notesSlides/_rels/notesSlide119.xml.rels><?xml version="1.0" encoding="UTF-8"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
</Relationships>
</file>

<file path=ppt/notesSlides/_rels/notesSlide121.xml.rels><?xml version="1.0" encoding="UTF-8"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
</Relationships>
</file>

<file path=ppt/notesSlides/_rels/notesSlide127.xml.rels><?xml version="1.0" encoding="UTF-8"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
</Relationships>
</file>

<file path=ppt/notesSlides/_rels/notesSlide138.xml.rels><?xml version="1.0" encoding="UTF-8"?>
<Relationships xmlns="http://schemas.openxmlformats.org/package/2006/relationships"><Relationship Id="rId1" Type="http://schemas.openxmlformats.org/officeDocument/2006/relationships/slide" Target="../slides/slide138.xml"/><Relationship Id="rId2" Type="http://schemas.openxmlformats.org/officeDocument/2006/relationships/notesMaster" Target="../notesMasters/notesMaster1.xml"/>
</Relationships>
</file>

<file path=ppt/notesSlides/_rels/notesSlide145.xml.rels><?xml version="1.0" encoding="UTF-8"?>
<Relationships xmlns="http://schemas.openxmlformats.org/package/2006/relationships"><Relationship Id="rId1" Type="http://schemas.openxmlformats.org/officeDocument/2006/relationships/slide" Target="../slides/slide145.xml"/><Relationship Id="rId2" Type="http://schemas.openxmlformats.org/officeDocument/2006/relationships/notesMaster" Target="../notesMasters/notesMaster1.xml"/>
</Relationships>
</file>

<file path=ppt/notesSlides/_rels/notesSlide147.xml.rels><?xml version="1.0" encoding="UTF-8"?>
<Relationships xmlns="http://schemas.openxmlformats.org/package/2006/relationships"><Relationship Id="rId1" Type="http://schemas.openxmlformats.org/officeDocument/2006/relationships/slide" Target="../slides/slide147.xml"/><Relationship Id="rId2" Type="http://schemas.openxmlformats.org/officeDocument/2006/relationships/notesMaster" Target="../notesMasters/notesMaster1.xml"/>
</Relationships>
</file>

<file path=ppt/notesSlides/_rels/notesSlide150.xml.rels><?xml version="1.0" encoding="UTF-8"?>
<Relationships xmlns="http://schemas.openxmlformats.org/package/2006/relationships"><Relationship Id="rId1" Type="http://schemas.openxmlformats.org/officeDocument/2006/relationships/slide" Target="../slides/slide150.xml"/><Relationship Id="rId2" Type="http://schemas.openxmlformats.org/officeDocument/2006/relationships/notesMaster" Target="../notesMasters/notesMaster1.xml"/>
</Relationships>
</file>

<file path=ppt/notesSlides/_rels/notesSlide155.xml.rels><?xml version="1.0" encoding="UTF-8"?>
<Relationships xmlns="http://schemas.openxmlformats.org/package/2006/relationships"><Relationship Id="rId1" Type="http://schemas.openxmlformats.org/officeDocument/2006/relationships/slide" Target="../slides/slide155.xml"/><Relationship Id="rId2" Type="http://schemas.openxmlformats.org/officeDocument/2006/relationships/notesMaster" Target="../notesMasters/notesMaster1.xml"/>
</Relationships>
</file>

<file path=ppt/notesSlides/_rels/notesSlide165.xml.rels><?xml version="1.0" encoding="UTF-8"?>
<Relationships xmlns="http://schemas.openxmlformats.org/package/2006/relationships"><Relationship Id="rId1" Type="http://schemas.openxmlformats.org/officeDocument/2006/relationships/slide" Target="../slides/slide165.xml"/><Relationship Id="rId2" Type="http://schemas.openxmlformats.org/officeDocument/2006/relationships/notesMaster" Target="../notesMasters/notesMaster1.xml"/>
</Relationships>
</file>

<file path=ppt/notesSlides/_rels/notesSlide175.xml.rels><?xml version="1.0" encoding="UTF-8"?>
<Relationships xmlns="http://schemas.openxmlformats.org/package/2006/relationships"><Relationship Id="rId1" Type="http://schemas.openxmlformats.org/officeDocument/2006/relationships/slide" Target="../slides/slide175.xml"/><Relationship Id="rId2" Type="http://schemas.openxmlformats.org/officeDocument/2006/relationships/notesMaster" Target="../notesMasters/notesMaster1.xml"/>
</Relationships>
</file>

<file path=ppt/notesSlides/_rels/notesSlide179.xml.rels><?xml version="1.0" encoding="UTF-8"?>
<Relationships xmlns="http://schemas.openxmlformats.org/package/2006/relationships"><Relationship Id="rId1" Type="http://schemas.openxmlformats.org/officeDocument/2006/relationships/slide" Target="../slides/slide17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Boa-vindas. Apresente o curso: 40 horas, 6 módulos. Não é necessário saber programar.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D755C2-140F-46B5-9171-3BA1D933716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Sugestão de tempo: 4h (2 aulas de 2h). Encoraje a instalação em aula ou como tarefa.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203F4B-612E-4F17-AB0F-ED7E31634D8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Pergunte aos alunos onde eles 'usam' programas hoje. Introduza a palavra algoritmo.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1E04AB-A98C-40B6-A9C6-DAC9CECD5C5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Ponto-chave: instalar o JDK já traz tudo (inclusive o JRE). A JVM é o segredo do 'roda em qualquer lugar'.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2D47EE-EB5A-4DB5-9367-C6C5378FE4C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Explique que o .java é o que escrevemos, o .class é gerado pelo javac, e o java (JVM) executa.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E9B503-1C85-4348-A9AC-39195B4A440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Na aula, demonstre `java -version`. Em sala, faça a instalação junto com a turma.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7EF225-32A9-4B77-BD8C-780552C1CF8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Digite junto com a turma. Nome do arquivo DEVE ser igual ao da classe: OlaMundo.java.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DE47D8-F484-4F7D-B656-FF6A97CD730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Esses detalhes serão revisitados nos módulos 1 e 2. Aqui, apenas apresente.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0AE201-02A2-4FE9-8B59-05648430A16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Valor padrão = o valor assumido se você não atribuir nada. String null = 'vazio' (veremos no Módulo 1).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90D9FF4-270F-4009-8BD8-03D81BFCD12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% (módulo) é muito útil para saber se um número é par (n % 2 == 0).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55E4CD-732F-457E-A263-45C4FBA3F2B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15-20 min. Rode o programa de 2 alunos no projetor.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A737F3-BD9D-4D52-85E9-1CE8800FDC5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15-20 min.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E94F70-D431-4DED-A297-1E2648CAD8A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20 min. Resposta esperada: 2550.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FC81EA-4E16-48CF-B2E1-CE4EB001A5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Corrija cada alternativa, explicando o porquê.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FA8AD2-FCAB-4535-9F62-BEEEC8690F9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Crie expectativa: o próximo módulo muda a forma de pensar sobre programas.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DA9B52-7DAC-41D8-A451-863659486FE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Sugestão: 3 aulas de 2h. Este é o módulo mais importante do curso — vá devagar e pratique muito.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2A32C5-B278-4C7A-8E22-6D58DE1596C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Ressalte o 'cheiro de código': a solução sem POO não escala.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E9D43F-270F-454F-969E-A070D41813B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Pergunte: qual o 'estado' e o 'comportamento' de um aluno? De um pedido de loja?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282792-7FD2-4A06-95C3-25BD24466E9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Quadro comparativo clássico. Peça exemplos da turma (Classe Carro → Fusca, Uno...).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B848AE-C7AD-49F3-AE94-0E68C3B5E59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Este é o momento de gravar: classe = molde. Atributos = características.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811B20-A1FF-436D-BE72-01BE4E9C8BF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Desenhe a memória no quadro: variável → seta → objeto com nome/idade.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04ABB7-65AA-4899-9A20-F7F378EBF6A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 o atributo não for preenchido, ele assume esses valores automaticamente.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A530D2-BD5D-4954-B156-EC9CFBE4AE7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20-25 min. Reforce a independência dos objetos.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4AA123-87E7-4DF7-843A-5E807C5413E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20-25 min.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AD3FCA-DDD7-44F2-BAF5-C35B6FC7DF7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25-30 min. O desafio exercita métodos que alteram mais de um atributo.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299D23-B1B8-42E4-A99C-65C84EB7B6D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Explique cada resposta; o item 2 é a pegadinha clássica (declarar não cria objeto).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38DD67-A747-466F-B1C2-88A7E21B815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Módulo mais longo (4 aulas de 2h). Cada conceito tem exemplo + exercício.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DC62DE-5EC0-4838-B32E-15B452C345A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Apresente o cenário: saldo negativo sem passar por saque. Pergunte como evitar.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09EDB8-66A7-495B-8A7A-C75985B10D4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Até o Módulo 4 usaremos private e public. protected aparece com herança.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49943E-10A0-4CDA-A35C-32F9A30A85F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30 min. Esse exercício consolida private + regras nos métodos.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A9F3BB-01F4-46AD-9C50-5894C101667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Mostre as 3 formas de criar um Livro no main e o resultado de cada uma.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91B3C9-C1DD-4B8C-B544-9122E171470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30 min.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D6048F2-AE3C-47F2-AA6D-0FA9CFB0A00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40 min. Este exercício amarra encapsulamento + construtores + objetos como parâmetros.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5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34B341-D515-4857-A304-B0973C2F1F5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Sugestão: 3 aulas de 2h. Os exercícios constroem sistemas pequenos e reais.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8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25A940-8A0B-48A4-BF40-27D5A2E9876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Conceito importante: escolher entre 'tem um' fraco ou forte muda o ciclo de vida dos objetos.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1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1C74C8-1E65-40A0-B3C9-9471A434C56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35-40 min. É o 'sistema escolar em miniatura' — base do projeto final.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4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CC21BE-19C2-48AF-8BA3-1EDF2AB5147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30-35 min. Introduz busca simples — que voltará no projeto final.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7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69F852-61F1-48DE-B8D8-CE801C3813A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40 min. Composição em ação: Pedido contém itens.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0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632058-AE0E-40E1-B14C-71E8FE54FC9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Sugestão: 4 aulas de 2h. Conceitos mais desafiadores; vá com calma e muitos exemplos.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3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D727CC-F376-4E78-83FD-BFC58BB7DFD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25-30 min. Clássico que fixa override + polimorfismo.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6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692171-EECC-4DB1-BEB7-CED70D0C096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Regra de bolso: abstrata = parentesco; interface = capacidade/contrato.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9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18D48B-1289-4D02-8339-17C6753B02D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25 min.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2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101C16-E7EB-4799-B994-117CF11AB5D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Tempo: 35-40 min. Exercício que resume herança/interface + polimorfismo.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5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0F5A54-FDC9-46DA-A2E6-2A0C63BF579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Sugestão: 4 aulas de 2h. O projeto final é o grande teste: oriente passo a passo.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8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83D080-B64D-4163-A4AC-709CBD8FB1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Apresente o escopo; em seguida, a modelagem. Os próximos slides constroem classe por classe.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1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D4588D-24C0-434B-AA9D-A443D3FD4D4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Use esta lista como rubrica de avaliação.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4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8C63F5-F8C7-4AEB-A25D-19390AFCB8C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Parabéns à turma! Resumo da jornada e próximos passos.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7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647E43-CDB9-43AD-8692-939D13D77AD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1A8B3A-3DA3-4249-ADD6-E59687BAB1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63849F-FB63-47C8-A080-4112A11A83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438690B-AF94-44FC-B17A-4E6B90C763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DB3C834-8A43-4367-B47E-48377BF2D9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357B6A8-C2DD-445D-A22A-E386D377D1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D6EEF34-4126-49E1-871E-BFFACB0169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A445ADA-D825-4D06-803F-8CC64DFEBF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4300B5-F9E8-47B7-B7C7-4638B1B1C1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C2C6D4-1A42-4139-BD28-94372947A1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9A01A76-31E0-4BC9-B351-F5AD321397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679092-23EB-4F02-9373-61EF3A189E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551A18-7638-45C7-A693-E4C0322642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0AA840-0612-41B9-8D2A-38F668537E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E9250D-F922-424B-B0A0-C18103AD18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652448-AC44-44D8-88DA-17CDF8835D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242802-F74E-46B2-B7CC-11F5696A87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F930E1-E10B-49BB-B241-3953A69544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82CA68-4BAC-4504-A018-DD64143EE1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45CD88-93A3-4B21-9517-8A5F015AF3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8B8A67-D1B1-4580-8AD5-28560390F7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ACE2A3-B189-4752-BDDD-3DCE49D529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5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9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7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8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5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7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0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5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5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5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93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Oval 2"/>
          <p:cNvSpPr/>
          <p:nvPr/>
        </p:nvSpPr>
        <p:spPr>
          <a:xfrm>
            <a:off x="-1463040" y="-2011680"/>
            <a:ext cx="4754520" cy="4754520"/>
          </a:xfrm>
          <a:prstGeom prst="ellipse">
            <a:avLst/>
          </a:prstGeom>
          <a:solidFill>
            <a:srgbClr val="24335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Oval 3"/>
          <p:cNvSpPr/>
          <p:nvPr/>
        </p:nvSpPr>
        <p:spPr>
          <a:xfrm>
            <a:off x="9966960" y="4846320"/>
            <a:ext cx="4205880" cy="4205880"/>
          </a:xfrm>
          <a:prstGeom prst="ellipse">
            <a:avLst/>
          </a:prstGeom>
          <a:solidFill>
            <a:srgbClr val="24335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914400" y="960120"/>
            <a:ext cx="1554120" cy="91080"/>
          </a:xfrm>
          <a:prstGeom prst="rect">
            <a:avLst/>
          </a:prstGeom>
          <a:solidFill>
            <a:srgbClr val="e76f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914400" y="1325880"/>
            <a:ext cx="1033236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Programação Orientada a Objetos com Java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7"/>
          <p:cNvSpPr/>
          <p:nvPr/>
        </p:nvSpPr>
        <p:spPr>
          <a:xfrm>
            <a:off x="914400" y="3520440"/>
            <a:ext cx="95508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914400" y="3589200"/>
            <a:ext cx="9550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Classes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9"/>
          <p:cNvSpPr/>
          <p:nvPr/>
        </p:nvSpPr>
        <p:spPr>
          <a:xfrm>
            <a:off x="2098440" y="3520440"/>
            <a:ext cx="95508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2098440" y="3589200"/>
            <a:ext cx="9550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Objetos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11"/>
          <p:cNvSpPr/>
          <p:nvPr/>
        </p:nvSpPr>
        <p:spPr>
          <a:xfrm>
            <a:off x="3282840" y="3520440"/>
            <a:ext cx="111060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3282840" y="3589200"/>
            <a:ext cx="1110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Atributos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13"/>
          <p:cNvSpPr/>
          <p:nvPr/>
        </p:nvSpPr>
        <p:spPr>
          <a:xfrm>
            <a:off x="4622400" y="3520440"/>
            <a:ext cx="95508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4"/>
          <p:cNvSpPr/>
          <p:nvPr/>
        </p:nvSpPr>
        <p:spPr>
          <a:xfrm>
            <a:off x="4622400" y="3589200"/>
            <a:ext cx="9550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Métodos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15"/>
          <p:cNvSpPr/>
          <p:nvPr/>
        </p:nvSpPr>
        <p:spPr>
          <a:xfrm>
            <a:off x="5806440" y="3520440"/>
            <a:ext cx="149940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6"/>
          <p:cNvSpPr/>
          <p:nvPr/>
        </p:nvSpPr>
        <p:spPr>
          <a:xfrm>
            <a:off x="5806440" y="3589200"/>
            <a:ext cx="14994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Encapsulamento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17"/>
          <p:cNvSpPr/>
          <p:nvPr/>
        </p:nvSpPr>
        <p:spPr>
          <a:xfrm>
            <a:off x="7534800" y="3520440"/>
            <a:ext cx="95508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7534800" y="3589200"/>
            <a:ext cx="9550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Herança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19"/>
          <p:cNvSpPr/>
          <p:nvPr/>
        </p:nvSpPr>
        <p:spPr>
          <a:xfrm>
            <a:off x="8718840" y="3520440"/>
            <a:ext cx="134388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20"/>
          <p:cNvSpPr/>
          <p:nvPr/>
        </p:nvSpPr>
        <p:spPr>
          <a:xfrm>
            <a:off x="8718840" y="3589200"/>
            <a:ext cx="13438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Polimorfismo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21"/>
          <p:cNvSpPr/>
          <p:nvPr/>
        </p:nvSpPr>
        <p:spPr>
          <a:xfrm>
            <a:off x="914400" y="4087440"/>
            <a:ext cx="1421640" cy="420120"/>
          </a:xfrm>
          <a:prstGeom prst="roundRect">
            <a:avLst>
              <a:gd name="adj" fmla="val 16667"/>
            </a:avLst>
          </a:prstGeom>
          <a:solidFill>
            <a:srgbClr val="334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2"/>
          <p:cNvSpPr/>
          <p:nvPr/>
        </p:nvSpPr>
        <p:spPr>
          <a:xfrm>
            <a:off x="914400" y="4155840"/>
            <a:ext cx="1421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Projeto final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640080" y="311040"/>
            <a:ext cx="603000" cy="310680"/>
          </a:xfrm>
          <a:prstGeom prst="rect">
            <a:avLst/>
          </a:prstGeom>
          <a:solidFill>
            <a:srgbClr val="e76f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Curso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Objetivos do curso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e76f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640080" y="1371600"/>
            <a:ext cx="109112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Ao final, você será capaz de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modelar problemas reais em Java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POO.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Escrever classes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atributos e métodos bem projetados.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Criar e usar objetos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(instâncias) com confiança.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Proteger dados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encapsulamento (private, getters e setters).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Reutilizar código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construtores, sobrecarga e herança.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Construir um projeto completo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(menu, cadastros, listas e buscas).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Desenvolver 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pensamento orientado a objetos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não só a sintaxe.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Oval 2"/>
          <p:cNvSpPr/>
          <p:nvPr/>
        </p:nvSpPr>
        <p:spPr>
          <a:xfrm>
            <a:off x="8778240" y="-2377440"/>
            <a:ext cx="5943240" cy="594324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Oval 3"/>
          <p:cNvSpPr/>
          <p:nvPr/>
        </p:nvSpPr>
        <p:spPr>
          <a:xfrm>
            <a:off x="10149840" y="-1737360"/>
            <a:ext cx="4663080" cy="4663080"/>
          </a:xfrm>
          <a:prstGeom prst="ellipse">
            <a:avLst/>
          </a:prstGeom>
          <a:noFill/>
          <a:ln w="31680">
            <a:solidFill>
              <a:srgbClr val="ffff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10058400" y="320040"/>
            <a:ext cx="22856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00</a:t>
            </a:r>
            <a:endParaRPr b="0" lang="pt-B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914400" y="2148840"/>
            <a:ext cx="9600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Módulo 0 · 4 horas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914400" y="2606040"/>
            <a:ext cx="100580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Primeiros passos com Java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914400" y="3703320"/>
            <a:ext cx="8960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0f4f8"/>
                </a:solidFill>
                <a:latin typeface="Calibri"/>
              </a:rPr>
              <a:t>Ambiente pronto, primeiros programas e a base da linguagem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8"/>
          <p:cNvSpPr/>
          <p:nvPr/>
        </p:nvSpPr>
        <p:spPr>
          <a:xfrm>
            <a:off x="914400" y="4343400"/>
            <a:ext cx="2377080" cy="5436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914400" y="4617720"/>
            <a:ext cx="7863480" cy="12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Instalar o JDK e uma IDE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Escrever e executar o primeiro programa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Usar variáveis, tipos e operadores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Fazer decisões (if/else) e repetições (for/while)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Trabalhar com vetores (arrays)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914400" y="6355080"/>
            <a:ext cx="7314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Curso 40h · Programação Orientada a Objetos com Java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Agenda do módulo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64008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1.  O que é programar?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93276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O que é um programa, linguagens, por que 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64008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2.  Como o Java funciona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93276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JVM, JDK, JRE e compilação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008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3.  Instalação e ambiente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93276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JDK + IDE, primeiro programa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641592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4.  Fundamentos da linguagem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670860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Variáveis, tipos, operadores, entrada do usuário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641592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5.  Controle de fluxo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670860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if/else, for, while, arrays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641592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6.  Exercícios e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7"/>
          <p:cNvSpPr/>
          <p:nvPr/>
        </p:nvSpPr>
        <p:spPr>
          <a:xfrm>
            <a:off x="670860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3 exercícios práticos + pontos-chave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que é programação?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640080" y="1371600"/>
            <a:ext cx="10911240" cy="262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Programar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é dar instruções claras e precisas para o computador executar.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computador faz exatamente o que mandamos — por isso as instruções precisam ser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sem ambiguidade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Programas estão em toda parte: celular, banco, jogos, carros, redes sociais.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Algoritmo: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a sequência lógica de passos para resolver um problema.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Analogia: programar é escrever uma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receita de bolo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muito detalhada.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Ingredientes →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dados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(variáveis)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Passos da receita →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instruções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(código)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Bolo pronto →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resultado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(saída do programa)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que é um programa de computador?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640080" y="1371600"/>
            <a:ext cx="109112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programa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é um conjunto de instruções escritas em uma linguagem de programação.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computador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não entende português nem inglês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ele entende apenas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0 e 1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(binário).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Usamos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linguagens de programação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como ponte entre o humano e a máquina.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código-fonte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é o texto que escrevemos; 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programa executável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é o que a máquina roda.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Exemplos de linguagens: Java, Python, C, JavaScript, C#, PHP...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Cada linguagem tem regras próprias de escrita: 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sintaxe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Erro de sintaxe = frase fora das regras; o computador não consegue interpretar.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Linguagens de programação: compiladas e interpretadas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640080" y="1371600"/>
            <a:ext cx="10911240" cy="26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Compilada: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o código-fonte é traduzido uma vez para a linguagem da máquina.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Exemplo: C, C++ e também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Java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(com um detalhe especial).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Interpretada: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o código é lido e executado linha por linha na hora.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Exemplo: Python, JavaScript.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Java é compilado + interpretado: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O compilador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javac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transforma o código em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bytecode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(intermediário).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A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JVM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(máquina virtual) interpreta o bytecode em qualquer sistema.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Vantagem prática: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escreva uma vez, rode em qualquer lugar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Por que aprender Java?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640080" y="1371600"/>
            <a:ext cx="109112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Uma das linguagens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mais usadas no mercado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há mais de 20 anos.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Multiplataforma: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roda em Windows, Linux, macOS, celulares e servidores.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Base sólida de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POO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o Java foi criado para ensinar e praticar o paradigma.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Forte tipagem: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erros são detectados cedo, ideal para iniciantes.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Imensa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biblioteca padrão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(coleções, arquivos, redes, interfaces gráficas).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Ecossistema gigante: Android, sistemas bancários, grandes empresas.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Comunidade enorme: dúvidas resolvidas em segundos na internet.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JDK, JRE e JVM: o que é cada um?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6" name="Table 6"/>
          <p:cNvGraphicFramePr/>
          <p:nvPr/>
        </p:nvGraphicFramePr>
        <p:xfrm>
          <a:off x="640080" y="1463040"/>
          <a:ext cx="10881000" cy="208332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5120640"/>
                <a:gridCol w="1920240"/>
              </a:tblGrid>
              <a:tr h="38376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Sigla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 que faz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Preciso para...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56664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JDK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Java Development Kit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Ferramentas para DESENVOLVER: compilador </a:t>
                      </a:r>
                      <a:r>
                        <a:rPr b="0" lang="en-US" sz="1200" spc="-1" strike="noStrike">
                          <a:solidFill>
                            <a:srgbClr val="0b6672"/>
                          </a:solidFill>
                          <a:latin typeface="Consolas"/>
                        </a:rPr>
                        <a:t>javac</a:t>
                      </a: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, bibliotecas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criar programas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JRE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Java Runtime Environment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Ambiente para EXECUTAR programas Java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rodar programas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56664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JVM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Java Virtual Machine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Máquina virtual que roda o bytecode em cada sistema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tudo rodar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Do código ao programa: o caminho do Java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640080" y="1371600"/>
            <a:ext cx="109112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50" spc="-1" strike="noStrike">
                <a:solidFill>
                  <a:srgbClr val="5b6b80"/>
                </a:solidFill>
                <a:latin typeface="Calibri"/>
              </a:rPr>
              <a:t>O mesmo .class roda no Windows, no Linux e no Mac — graças à JVM.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7"/>
          <p:cNvSpPr/>
          <p:nvPr/>
        </p:nvSpPr>
        <p:spPr>
          <a:xfrm>
            <a:off x="640080" y="1792080"/>
            <a:ext cx="10911240" cy="20102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8"/>
          <p:cNvSpPr/>
          <p:nvPr/>
        </p:nvSpPr>
        <p:spPr>
          <a:xfrm>
            <a:off x="640080" y="179208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Oval 9"/>
          <p:cNvSpPr/>
          <p:nvPr/>
        </p:nvSpPr>
        <p:spPr>
          <a:xfrm>
            <a:off x="804600" y="189756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Oval 10"/>
          <p:cNvSpPr/>
          <p:nvPr/>
        </p:nvSpPr>
        <p:spPr>
          <a:xfrm>
            <a:off x="987480" y="189756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Oval 11"/>
          <p:cNvSpPr/>
          <p:nvPr/>
        </p:nvSpPr>
        <p:spPr>
          <a:xfrm>
            <a:off x="1170360" y="189756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2"/>
          <p:cNvSpPr/>
          <p:nvPr/>
        </p:nvSpPr>
        <p:spPr>
          <a:xfrm>
            <a:off x="1353240" y="184464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fluxo.txt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3"/>
          <p:cNvSpPr/>
          <p:nvPr/>
        </p:nvSpPr>
        <p:spPr>
          <a:xfrm>
            <a:off x="859680" y="2176200"/>
            <a:ext cx="10472400" cy="15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/* 1. Você escreve o código-fonte */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OlaMundo.java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/* 2. O compilador traduz para bytecode */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javac OlaMundo.java   -&gt;   OlaMundo.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/* 3. A JVM executa o bytecode em qualquer sistema */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java OlaMundo         -&gt;   Olá, mundo!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Instalação: passo a passo (Windows / Linux / Mac)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640080" y="1371600"/>
            <a:ext cx="10911240" cy="29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Passo 1 — Baixe o JDK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(versão LTS mais recente, ex.: 21) no site da Oracle ou em distribuições OpenJDK (Adoptium/Temurin).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Passo 2 — Instale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seguindo o instalador padrão.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Passo 3 — Confirme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que funcionou: abra o terminal e digite: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java -version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mostra a versão instalada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javac -version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mostra o compilador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Se o comando não for encontrado, configure 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variável de ambiente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JAVA_HOME/PATH.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Passo 4 — Instale uma IDE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(IntelliJ IDEA Community, VS Code ou Eclipse) — próxima aula.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Dúvida? O site oficial java.com e as comunidades brasileiras ajudam rapidinho.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Escolhendo a IDE (ambiente de desenvolvimento)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640080" y="1371600"/>
            <a:ext cx="109112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 IDE é o 'editor turbinado' onde escrevemos código: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destaque de sintaxe, sugestões e botão de executar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IntelliJ IDEA Community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a mais popular para Java, gratuita. Recomendada para o curso.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Eclipse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clássica e gratuita, muito usada em universidades.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VS Code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leve, com extensão 'Extension Pack for Java'.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Todas servem: o código que escreveremos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funciona igual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em qualquer uma.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No IntelliJ: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New Project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→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Java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→ criar classe → clicar no botão ▶ para executar.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Terminal também vale: o Java roda direto no prompt de comando.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Seu primeiro programa: Olá, Mundo!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6"/>
          <p:cNvSpPr/>
          <p:nvPr/>
        </p:nvSpPr>
        <p:spPr>
          <a:xfrm>
            <a:off x="640080" y="1371600"/>
            <a:ext cx="10911240" cy="14482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OlaMundo.java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859680" y="1755720"/>
            <a:ext cx="10472400" cy="9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OlaMundo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"Olá, mundo!"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 13"/>
          <p:cNvSpPr/>
          <p:nvPr/>
        </p:nvSpPr>
        <p:spPr>
          <a:xfrm>
            <a:off x="640080" y="293004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Rectangle 14"/>
          <p:cNvSpPr/>
          <p:nvPr/>
        </p:nvSpPr>
        <p:spPr>
          <a:xfrm>
            <a:off x="640080" y="29300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15"/>
          <p:cNvSpPr/>
          <p:nvPr/>
        </p:nvSpPr>
        <p:spPr>
          <a:xfrm>
            <a:off x="804600" y="29775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16"/>
          <p:cNvSpPr/>
          <p:nvPr/>
        </p:nvSpPr>
        <p:spPr>
          <a:xfrm>
            <a:off x="804600" y="327744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Olá, mundo!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7"/>
          <p:cNvSpPr/>
          <p:nvPr/>
        </p:nvSpPr>
        <p:spPr>
          <a:xfrm>
            <a:off x="640080" y="37396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Todo programa Java precisa de uma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classe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(aqui: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OlaMundo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método `main`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o ponto de partida: o Java começa a executar por ele.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System.out.println(...)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imprime uma linha no console.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Entendendo o Olá, Mundo linha por linha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 6"/>
          <p:cNvSpPr/>
          <p:nvPr/>
        </p:nvSpPr>
        <p:spPr>
          <a:xfrm>
            <a:off x="640080" y="1371600"/>
            <a:ext cx="10911240" cy="16354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OlaMundo.java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2"/>
          <p:cNvSpPr/>
          <p:nvPr/>
        </p:nvSpPr>
        <p:spPr>
          <a:xfrm>
            <a:off x="859680" y="1755720"/>
            <a:ext cx="104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OlaMundo {    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1. declara a classe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2. ponto de entrada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3. instrução: imprime texto e pula a linha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"Olá, mundo!"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4. fim do método main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5. fim da classe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13"/>
          <p:cNvSpPr/>
          <p:nvPr/>
        </p:nvSpPr>
        <p:spPr>
          <a:xfrm>
            <a:off x="640080" y="3190320"/>
            <a:ext cx="109112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public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pode ser acessado por qualquer um;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class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é uma classe.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static void main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método que não devolve valor; executa sem criar objeto.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String[] args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parâmetros recebidos do terminal (veremos depois).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encerra cada instrução —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não esqueça!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Compilando e executando pelo terminal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640080" y="1371600"/>
            <a:ext cx="109112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50" spc="-1" strike="noStrike">
                <a:solidFill>
                  <a:srgbClr val="5b6b80"/>
                </a:solidFill>
                <a:latin typeface="Calibri"/>
              </a:rPr>
              <a:t>Na IDE isso acontece em 1 clique; no terminal são 2 comandos.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 7"/>
          <p:cNvSpPr/>
          <p:nvPr/>
        </p:nvSpPr>
        <p:spPr>
          <a:xfrm>
            <a:off x="640080" y="1792080"/>
            <a:ext cx="10911240" cy="10735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ectangle 8"/>
          <p:cNvSpPr/>
          <p:nvPr/>
        </p:nvSpPr>
        <p:spPr>
          <a:xfrm>
            <a:off x="640080" y="179208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Oval 9"/>
          <p:cNvSpPr/>
          <p:nvPr/>
        </p:nvSpPr>
        <p:spPr>
          <a:xfrm>
            <a:off x="804600" y="189756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Oval 10"/>
          <p:cNvSpPr/>
          <p:nvPr/>
        </p:nvSpPr>
        <p:spPr>
          <a:xfrm>
            <a:off x="987480" y="189756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Oval 11"/>
          <p:cNvSpPr/>
          <p:nvPr/>
        </p:nvSpPr>
        <p:spPr>
          <a:xfrm>
            <a:off x="1170360" y="189756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12"/>
          <p:cNvSpPr/>
          <p:nvPr/>
        </p:nvSpPr>
        <p:spPr>
          <a:xfrm>
            <a:off x="1353240" y="184464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Terminal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3"/>
          <p:cNvSpPr/>
          <p:nvPr/>
        </p:nvSpPr>
        <p:spPr>
          <a:xfrm>
            <a:off x="859680" y="2176200"/>
            <a:ext cx="104724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$ javac OlaMundo.java      # compila: gera OlaMundo.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$ java OlaMundo            # executa a classe (sem o .java)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Olá, mundo!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4"/>
          <p:cNvSpPr/>
          <p:nvPr/>
        </p:nvSpPr>
        <p:spPr>
          <a:xfrm>
            <a:off x="640080" y="304920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javac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= compilador.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java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= JVM executando a classe.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Na IDE, pressione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Shift+F10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(IntelliJ) ou o botão ▶.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Variáveis: guardando informações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6"/>
          <p:cNvSpPr/>
          <p:nvPr/>
        </p:nvSpPr>
        <p:spPr>
          <a:xfrm>
            <a:off x="640080" y="1371600"/>
            <a:ext cx="10911240" cy="24073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Variaveis.java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859680" y="1755720"/>
            <a:ext cx="1047240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Variaveis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 = 25;         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número inteiro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altura = 1.78;    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número decimal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estudante =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;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verdadeiro ou falso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char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inicial = 'J';      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um único caractere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 =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"João"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;    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texto (classe do Java)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 tem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idade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 anos."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 13"/>
          <p:cNvSpPr/>
          <p:nvPr/>
        </p:nvSpPr>
        <p:spPr>
          <a:xfrm>
            <a:off x="640080" y="388908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ectangle 14"/>
          <p:cNvSpPr/>
          <p:nvPr/>
        </p:nvSpPr>
        <p:spPr>
          <a:xfrm>
            <a:off x="640080" y="38890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15"/>
          <p:cNvSpPr/>
          <p:nvPr/>
        </p:nvSpPr>
        <p:spPr>
          <a:xfrm>
            <a:off x="804600" y="39366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6"/>
          <p:cNvSpPr/>
          <p:nvPr/>
        </p:nvSpPr>
        <p:spPr>
          <a:xfrm>
            <a:off x="804600" y="423648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João tem 25 anos.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7"/>
          <p:cNvSpPr/>
          <p:nvPr/>
        </p:nvSpPr>
        <p:spPr>
          <a:xfrm>
            <a:off x="640080" y="469872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Padrão: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tipo nome = valor;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primeiro o tipo, depois o nome.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String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a única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com inicial maiúscula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(é uma classe, não um tipo primitivo).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operador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+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junta texto e variáveis (concatenação).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Tipos primitivos do Java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8" name="Table 6"/>
          <p:cNvGraphicFramePr/>
          <p:nvPr/>
        </p:nvGraphicFramePr>
        <p:xfrm>
          <a:off x="640080" y="1463040"/>
          <a:ext cx="10881000" cy="2669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3566160"/>
                <a:gridCol w="2103120"/>
              </a:tblGrid>
              <a:tr h="38376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 que guarda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Exemplo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Valor padrão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números inteiros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int idade = 25;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double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números decimais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double preco = 19.90;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boolean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verdadeiro ou falso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boolean ativo = true;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false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char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um único caractere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char letra = 'A';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'\u0000'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String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texto (classe, não primitivo)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String nome = "Ana";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null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variáveis em ação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Uma conta simples no banco: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 8"/>
          <p:cNvSpPr/>
          <p:nvPr/>
        </p:nvSpPr>
        <p:spPr>
          <a:xfrm>
            <a:off x="640080" y="1993320"/>
            <a:ext cx="10911240" cy="22352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Conta.java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14"/>
          <p:cNvSpPr/>
          <p:nvPr/>
        </p:nvSpPr>
        <p:spPr>
          <a:xfrm>
            <a:off x="859680" y="2377440"/>
            <a:ext cx="1047240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Conta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titular =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"Maria"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saldo = 1000.00;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saque = 250.50;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saldo = saldo - saque;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atualiza o saldo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"Titular: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titular);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"Saldo após o saque: R$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saldo);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Rectangle 15"/>
          <p:cNvSpPr/>
          <p:nvPr/>
        </p:nvSpPr>
        <p:spPr>
          <a:xfrm>
            <a:off x="640080" y="433872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Rectangle 16"/>
          <p:cNvSpPr/>
          <p:nvPr/>
        </p:nvSpPr>
        <p:spPr>
          <a:xfrm>
            <a:off x="640080" y="43387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17"/>
          <p:cNvSpPr/>
          <p:nvPr/>
        </p:nvSpPr>
        <p:spPr>
          <a:xfrm>
            <a:off x="804600" y="43858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18"/>
          <p:cNvSpPr/>
          <p:nvPr/>
        </p:nvSpPr>
        <p:spPr>
          <a:xfrm>
            <a:off x="804600" y="468612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Titular: Maria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Saldo após o saque: R$ 749.5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19"/>
          <p:cNvSpPr/>
          <p:nvPr/>
        </p:nvSpPr>
        <p:spPr>
          <a:xfrm>
            <a:off x="640080" y="53175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Observe: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saldo = saldo - saque;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lê o valor antigo, subtrai e guarda o novo na mesma variável.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Operadores que você precisa conhecer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3" name="Table 6"/>
          <p:cNvGraphicFramePr/>
          <p:nvPr/>
        </p:nvGraphicFramePr>
        <p:xfrm>
          <a:off x="640080" y="1463040"/>
          <a:ext cx="10881000" cy="22122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926080"/>
                <a:gridCol w="1737360"/>
              </a:tblGrid>
              <a:tr h="38376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Operadores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Exemplo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Aritméticos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+  -  *  /  % (resto)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10 % 3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Comparação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==  !=  &gt;  &lt;  &gt;=  &lt;=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5 &gt; 3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true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Lógicos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&amp;&amp; (e)  || (ou)  ! (não)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true &amp;&amp; false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false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Atribuição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=  +=  -=  *=  /=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int x = 5; x += 2;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x = 7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Lendo dados do teclado: a classe Scanner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6"/>
          <p:cNvSpPr/>
          <p:nvPr/>
        </p:nvSpPr>
        <p:spPr>
          <a:xfrm>
            <a:off x="640080" y="1371600"/>
            <a:ext cx="10911240" cy="29401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Saudacao.java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12"/>
          <p:cNvSpPr/>
          <p:nvPr/>
        </p:nvSpPr>
        <p:spPr>
          <a:xfrm>
            <a:off x="859680" y="1755720"/>
            <a:ext cx="1047240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java.util.Scanner;        </a:t>
            </a:r>
            <a:r>
              <a:rPr b="0" lang="en-US" sz="1080" spc="-1" strike="noStrike">
                <a:solidFill>
                  <a:srgbClr val="6a9955"/>
                </a:solidFill>
                <a:latin typeface="Consolas"/>
              </a:rPr>
              <a:t>// importa a classe do teclado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Saudacao {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8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Scanner teclado =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Scanner(System.in);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"Qual é o seu nome? 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nome = teclado.nextLine();   </a:t>
            </a:r>
            <a:r>
              <a:rPr b="0" lang="en-US" sz="1080" spc="-1" strike="noStrike">
                <a:solidFill>
                  <a:srgbClr val="6a9955"/>
                </a:solidFill>
                <a:latin typeface="Consolas"/>
              </a:rPr>
              <a:t>// lê uma linha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"Qual a sua idade? 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idade = teclado.nextInt();      </a:t>
            </a:r>
            <a:r>
              <a:rPr b="0" lang="en-US" sz="1080" spc="-1" strike="noStrike">
                <a:solidFill>
                  <a:srgbClr val="6a9955"/>
                </a:solidFill>
                <a:latin typeface="Consolas"/>
              </a:rPr>
              <a:t>// lê um inteiro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 tem 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+ idade + 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 anos."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teclado.close();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 13"/>
          <p:cNvSpPr/>
          <p:nvPr/>
        </p:nvSpPr>
        <p:spPr>
          <a:xfrm>
            <a:off x="640080" y="442188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14"/>
          <p:cNvSpPr/>
          <p:nvPr/>
        </p:nvSpPr>
        <p:spPr>
          <a:xfrm>
            <a:off x="640080" y="44218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15"/>
          <p:cNvSpPr/>
          <p:nvPr/>
        </p:nvSpPr>
        <p:spPr>
          <a:xfrm>
            <a:off x="804600" y="44694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16"/>
          <p:cNvSpPr/>
          <p:nvPr/>
        </p:nvSpPr>
        <p:spPr>
          <a:xfrm>
            <a:off x="804600" y="476928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Qual é o seu nome? Ana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Qual a sua idade? 22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 tem 22 anos.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17"/>
          <p:cNvSpPr/>
          <p:nvPr/>
        </p:nvSpPr>
        <p:spPr>
          <a:xfrm>
            <a:off x="640080" y="55702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import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no topo traz classes prontas do Java.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nextLine()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lê texto,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nextInt()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lê inteiro,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nextDouble()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lê decimal.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System.out.print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não pula a linha;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println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pula.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programa de decisão (if / else)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A escola aprova quem tira nota maior ou igual a 6: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ectangle 8"/>
          <p:cNvSpPr/>
          <p:nvPr/>
        </p:nvSpPr>
        <p:spPr>
          <a:xfrm>
            <a:off x="640080" y="1993320"/>
            <a:ext cx="10911240" cy="22352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Aprovacao.java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14"/>
          <p:cNvSpPr/>
          <p:nvPr/>
        </p:nvSpPr>
        <p:spPr>
          <a:xfrm>
            <a:off x="859680" y="2377440"/>
            <a:ext cx="1047240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Aprovacao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nota = 7.5;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(nota &gt;= 6)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"Aprovado!"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"Reprovado."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ectangle 15"/>
          <p:cNvSpPr/>
          <p:nvPr/>
        </p:nvSpPr>
        <p:spPr>
          <a:xfrm>
            <a:off x="640080" y="433872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16"/>
          <p:cNvSpPr/>
          <p:nvPr/>
        </p:nvSpPr>
        <p:spPr>
          <a:xfrm>
            <a:off x="640080" y="43387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17"/>
          <p:cNvSpPr/>
          <p:nvPr/>
        </p:nvSpPr>
        <p:spPr>
          <a:xfrm>
            <a:off x="804600" y="43858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18"/>
          <p:cNvSpPr/>
          <p:nvPr/>
        </p:nvSpPr>
        <p:spPr>
          <a:xfrm>
            <a:off x="804600" y="468612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Aprovado!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19"/>
          <p:cNvSpPr/>
          <p:nvPr/>
        </p:nvSpPr>
        <p:spPr>
          <a:xfrm>
            <a:off x="640080" y="51480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Estrutura: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if (condição) { ... } else { ... }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 A condição precisa ser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boolean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Repetição: for e while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ectangle 6"/>
          <p:cNvSpPr/>
          <p:nvPr/>
        </p:nvSpPr>
        <p:spPr>
          <a:xfrm>
            <a:off x="640080" y="1371600"/>
            <a:ext cx="10911240" cy="2714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Repeticao.java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2"/>
          <p:cNvSpPr/>
          <p:nvPr/>
        </p:nvSpPr>
        <p:spPr>
          <a:xfrm>
            <a:off x="859680" y="1755720"/>
            <a:ext cx="10472400" cy="22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Repeticao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for: sabemos quantas vezes repetir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i = 1; i &lt;= 3; i++)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"Volta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i);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while: repetimos enquanto a condição for verdadeira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tentativa = 1;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while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(tentativa &lt;= 3)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"Tentativa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tentativa);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tentativa++;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ectangle 13"/>
          <p:cNvSpPr/>
          <p:nvPr/>
        </p:nvSpPr>
        <p:spPr>
          <a:xfrm>
            <a:off x="640080" y="4196520"/>
            <a:ext cx="10911240" cy="147348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Rectangle 14"/>
          <p:cNvSpPr/>
          <p:nvPr/>
        </p:nvSpPr>
        <p:spPr>
          <a:xfrm>
            <a:off x="640080" y="41965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TextBox 15"/>
          <p:cNvSpPr/>
          <p:nvPr/>
        </p:nvSpPr>
        <p:spPr>
          <a:xfrm>
            <a:off x="804600" y="42440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6"/>
          <p:cNvSpPr/>
          <p:nvPr/>
        </p:nvSpPr>
        <p:spPr>
          <a:xfrm>
            <a:off x="804600" y="4543920"/>
            <a:ext cx="10581840" cy="10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Volta 1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Volta 2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Volta 3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Tentativa 1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Tentativa 2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Tentativa 3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17"/>
          <p:cNvSpPr/>
          <p:nvPr/>
        </p:nvSpPr>
        <p:spPr>
          <a:xfrm>
            <a:off x="640080" y="585324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i++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a mesma coisa que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 = i + 1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Cuidado com o laço infinito: se a condição nunca ficar falsa... o programa nunca para!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Vetores (arrays): guardando várias informações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Rectangle 6"/>
          <p:cNvSpPr/>
          <p:nvPr/>
        </p:nvSpPr>
        <p:spPr>
          <a:xfrm>
            <a:off x="640080" y="1371600"/>
            <a:ext cx="10911240" cy="22352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Vetores.java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12"/>
          <p:cNvSpPr/>
          <p:nvPr/>
        </p:nvSpPr>
        <p:spPr>
          <a:xfrm>
            <a:off x="859680" y="1755720"/>
            <a:ext cx="1047240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Vetores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[] notas = {8.0, 9.0, 7.0};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3 posições (0, 1 e 2)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soma = 0;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 = 0; i &lt; notas.length; i++)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soma = soma + notas[i];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"Média: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(soma / notas.length));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Rectangle 13"/>
          <p:cNvSpPr/>
          <p:nvPr/>
        </p:nvSpPr>
        <p:spPr>
          <a:xfrm>
            <a:off x="640080" y="371664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Rectangle 14"/>
          <p:cNvSpPr/>
          <p:nvPr/>
        </p:nvSpPr>
        <p:spPr>
          <a:xfrm>
            <a:off x="640080" y="37166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15"/>
          <p:cNvSpPr/>
          <p:nvPr/>
        </p:nvSpPr>
        <p:spPr>
          <a:xfrm>
            <a:off x="804600" y="37641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16"/>
          <p:cNvSpPr/>
          <p:nvPr/>
        </p:nvSpPr>
        <p:spPr>
          <a:xfrm>
            <a:off x="804600" y="406440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Média: 8.0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17"/>
          <p:cNvSpPr/>
          <p:nvPr/>
        </p:nvSpPr>
        <p:spPr>
          <a:xfrm>
            <a:off x="640080" y="45262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primeira posição é 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0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(índice 0).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notas.length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tamanho do vetor (aqui, 3).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Módulo 3 veremos coleções melhores: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ArrayList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1 — Calculadora de idade em dias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6"/>
          <p:cNvSpPr/>
          <p:nvPr/>
        </p:nvSpPr>
        <p:spPr>
          <a:xfrm>
            <a:off x="640080" y="1371600"/>
            <a:ext cx="1091124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Crie um programa que pergunta a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idade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do usuário com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Scanner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Calcule quantos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dias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essa pessoa já viveu (aprox.: idade × 365).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Mostre: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"Você já viveu aproximadamente X dias."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Teste com sua própria idade e confira o resultado.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Rectangle 7"/>
          <p:cNvSpPr/>
          <p:nvPr/>
        </p:nvSpPr>
        <p:spPr>
          <a:xfrm>
            <a:off x="640080" y="301464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ectangle 8"/>
          <p:cNvSpPr/>
          <p:nvPr/>
        </p:nvSpPr>
        <p:spPr>
          <a:xfrm>
            <a:off x="640080" y="3014640"/>
            <a:ext cx="82080" cy="7768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9"/>
          <p:cNvSpPr/>
          <p:nvPr/>
        </p:nvSpPr>
        <p:spPr>
          <a:xfrm>
            <a:off x="877680" y="309672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Use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int idade = teclado.nextInt();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e multiplique por 365.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(Calculadora de idade em dias)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ectangle 6"/>
          <p:cNvSpPr/>
          <p:nvPr/>
        </p:nvSpPr>
        <p:spPr>
          <a:xfrm>
            <a:off x="640080" y="1371600"/>
            <a:ext cx="10911240" cy="275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DiasDeVida.java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2"/>
          <p:cNvSpPr/>
          <p:nvPr/>
        </p:nvSpPr>
        <p:spPr>
          <a:xfrm>
            <a:off x="859680" y="1755720"/>
            <a:ext cx="104724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java.util.Scanner;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DiasDeVida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Scanner teclado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Scanner(System.in);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"Qual a sua idade?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idade = teclado.nextInt();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dias = idade * 365;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"Você já viveu aproximadamente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dias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dias."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teclado.close();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ectangle 13"/>
          <p:cNvSpPr/>
          <p:nvPr/>
        </p:nvSpPr>
        <p:spPr>
          <a:xfrm>
            <a:off x="640080" y="424116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ectangle 14"/>
          <p:cNvSpPr/>
          <p:nvPr/>
        </p:nvSpPr>
        <p:spPr>
          <a:xfrm>
            <a:off x="640080" y="42411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15"/>
          <p:cNvSpPr/>
          <p:nvPr/>
        </p:nvSpPr>
        <p:spPr>
          <a:xfrm>
            <a:off x="804600" y="42886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16"/>
          <p:cNvSpPr/>
          <p:nvPr/>
        </p:nvSpPr>
        <p:spPr>
          <a:xfrm>
            <a:off x="804600" y="458892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Qual a sua idade? 20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Você já viveu aproximadamente 7300 dias.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2 — Par ou ímpar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6"/>
          <p:cNvSpPr/>
          <p:nvPr/>
        </p:nvSpPr>
        <p:spPr>
          <a:xfrm>
            <a:off x="640080" y="1371600"/>
            <a:ext cx="1091124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Peça um número inteiro ao usuário.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Use o operador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%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(resto) para descobrir se é par ou ímpar.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Exiba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"O número X é par."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ou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"O número X é ímpar."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Desafio: se for par e maior que 100, exiba também "Número grande!".**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ectangle 7"/>
          <p:cNvSpPr/>
          <p:nvPr/>
        </p:nvSpPr>
        <p:spPr>
          <a:xfrm>
            <a:off x="640080" y="301464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Rectangle 8"/>
          <p:cNvSpPr/>
          <p:nvPr/>
        </p:nvSpPr>
        <p:spPr>
          <a:xfrm>
            <a:off x="640080" y="3014640"/>
            <a:ext cx="82080" cy="7768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9"/>
          <p:cNvSpPr/>
          <p:nvPr/>
        </p:nvSpPr>
        <p:spPr>
          <a:xfrm>
            <a:off x="877680" y="309672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Um número é par quando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numero % 2 == 0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2 (Par ou ímpar)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29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Rectangle 6"/>
          <p:cNvSpPr/>
          <p:nvPr/>
        </p:nvSpPr>
        <p:spPr>
          <a:xfrm>
            <a:off x="640080" y="1371600"/>
            <a:ext cx="10911240" cy="34790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ParImpar.java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12"/>
          <p:cNvSpPr/>
          <p:nvPr/>
        </p:nvSpPr>
        <p:spPr>
          <a:xfrm>
            <a:off x="859680" y="1755720"/>
            <a:ext cx="10472400" cy="30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java.util.Scanner;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ParImpar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Scanner teclado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Scanner(System.in);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"Digite um número: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 = teclado.nextInt();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(n % 2 == 0)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"O número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n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é par."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(n &gt; 100)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"Número grande!"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"O número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n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é ímpar."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teclado.close();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ectangle 13"/>
          <p:cNvSpPr/>
          <p:nvPr/>
        </p:nvSpPr>
        <p:spPr>
          <a:xfrm>
            <a:off x="640080" y="496080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Rectangle 14"/>
          <p:cNvSpPr/>
          <p:nvPr/>
        </p:nvSpPr>
        <p:spPr>
          <a:xfrm>
            <a:off x="640080" y="496080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TextBox 15"/>
          <p:cNvSpPr/>
          <p:nvPr/>
        </p:nvSpPr>
        <p:spPr>
          <a:xfrm>
            <a:off x="804600" y="50079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16"/>
          <p:cNvSpPr/>
          <p:nvPr/>
        </p:nvSpPr>
        <p:spPr>
          <a:xfrm>
            <a:off x="804600" y="530820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Digite um número: 150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O número 150 é par.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Número grande!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3 — Soma dos pares de 1 a 100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6"/>
          <p:cNvSpPr/>
          <p:nvPr/>
        </p:nvSpPr>
        <p:spPr>
          <a:xfrm>
            <a:off x="640080" y="1371600"/>
            <a:ext cx="1091124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Use um laço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for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para percorrer os números de 1 a 100.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Some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apenas os números pares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Ao final, exiba o total.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Depois, refaça com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while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— o resultado deve ser o mesmo!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ectangle 7"/>
          <p:cNvSpPr/>
          <p:nvPr/>
        </p:nvSpPr>
        <p:spPr>
          <a:xfrm>
            <a:off x="640080" y="301464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Rectangle 8"/>
          <p:cNvSpPr/>
          <p:nvPr/>
        </p:nvSpPr>
        <p:spPr>
          <a:xfrm>
            <a:off x="640080" y="3014640"/>
            <a:ext cx="82080" cy="7768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TextBox 9"/>
          <p:cNvSpPr/>
          <p:nvPr/>
        </p:nvSpPr>
        <p:spPr>
          <a:xfrm>
            <a:off x="877680" y="309672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Dentro do laço, use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if (i % 2 == 0)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para somar só os pares.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(Soma dos pares de 1 a 100)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ectangle 6"/>
          <p:cNvSpPr/>
          <p:nvPr/>
        </p:nvSpPr>
        <p:spPr>
          <a:xfrm>
            <a:off x="640080" y="1371600"/>
            <a:ext cx="10911240" cy="2572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SomaPares.java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12"/>
          <p:cNvSpPr/>
          <p:nvPr/>
        </p:nvSpPr>
        <p:spPr>
          <a:xfrm>
            <a:off x="859680" y="1755720"/>
            <a:ext cx="10472400" cy="20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SomaPares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soma = 0;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i = 1; i &lt;= 100; i++)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(i % 2 == 0)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soma = soma + i;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"Soma dos pares de 1 a 100: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soma);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ectangle 13"/>
          <p:cNvSpPr/>
          <p:nvPr/>
        </p:nvSpPr>
        <p:spPr>
          <a:xfrm>
            <a:off x="640080" y="405396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Rectangle 14"/>
          <p:cNvSpPr/>
          <p:nvPr/>
        </p:nvSpPr>
        <p:spPr>
          <a:xfrm>
            <a:off x="640080" y="40539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TextBox 15"/>
          <p:cNvSpPr/>
          <p:nvPr/>
        </p:nvSpPr>
        <p:spPr>
          <a:xfrm>
            <a:off x="804600" y="41014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16"/>
          <p:cNvSpPr/>
          <p:nvPr/>
        </p:nvSpPr>
        <p:spPr>
          <a:xfrm>
            <a:off x="804600" y="440136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Soma dos pares de 1 a 100: 2550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Resumo do Módulo 0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ectangle 6"/>
          <p:cNvSpPr/>
          <p:nvPr/>
        </p:nvSpPr>
        <p:spPr>
          <a:xfrm>
            <a:off x="640080" y="1261800"/>
            <a:ext cx="10911240" cy="4536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TextBox 7"/>
          <p:cNvSpPr/>
          <p:nvPr/>
        </p:nvSpPr>
        <p:spPr>
          <a:xfrm>
            <a:off x="640080" y="1536120"/>
            <a:ext cx="10911240" cy="23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Programar é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dar instruções claras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; um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algoritmo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é a sequência de passos.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Java =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compilado para bytecode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+ executado pela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JVM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em qualquer sistema.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JDK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para desenvolver,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JRE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para rodar,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JVM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para executar.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Primeiro programa: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class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+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main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+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System.out.println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Variáveis guardam dados: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int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double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boolean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char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String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if/else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decide;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for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/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while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repetem;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arrays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guardam várias coisas.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Scanner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lê o que o usuário digita.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Checkpoint rápido — Módulo 0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6"/>
          <p:cNvSpPr/>
          <p:nvPr/>
        </p:nvSpPr>
        <p:spPr>
          <a:xfrm>
            <a:off x="640080" y="1371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1.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Qual comando compila um arquivo Java?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7"/>
          <p:cNvSpPr/>
          <p:nvPr/>
        </p:nvSpPr>
        <p:spPr>
          <a:xfrm>
            <a:off x="1005840" y="1755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java OlaMundo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javac OlaMundo.java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run OlaMundo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Box 8"/>
          <p:cNvSpPr/>
          <p:nvPr/>
        </p:nvSpPr>
        <p:spPr>
          <a:xfrm>
            <a:off x="640080" y="279792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2.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 que a JVM faz?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9"/>
          <p:cNvSpPr/>
          <p:nvPr/>
        </p:nvSpPr>
        <p:spPr>
          <a:xfrm>
            <a:off x="1005840" y="318204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Escreve o código por você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Executa o bytecode em qualquer sistema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Apenas edita textos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10"/>
          <p:cNvSpPr/>
          <p:nvPr/>
        </p:nvSpPr>
        <p:spPr>
          <a:xfrm>
            <a:off x="640080" y="4224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3.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Qual é o valor padrão de uma variável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int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sem valor?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11"/>
          <p:cNvSpPr/>
          <p:nvPr/>
        </p:nvSpPr>
        <p:spPr>
          <a:xfrm>
            <a:off x="1005840" y="4608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null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1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0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ectangle 12"/>
          <p:cNvSpPr/>
          <p:nvPr/>
        </p:nvSpPr>
        <p:spPr>
          <a:xfrm>
            <a:off x="640080" y="5961960"/>
            <a:ext cx="10911240" cy="36540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13"/>
          <p:cNvSpPr/>
          <p:nvPr/>
        </p:nvSpPr>
        <p:spPr>
          <a:xfrm>
            <a:off x="804600" y="6054120"/>
            <a:ext cx="10581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6672"/>
                </a:solidFill>
                <a:latin typeface="Calibri"/>
              </a:rPr>
              <a:t>Gabarito:</a:t>
            </a:r>
            <a:r>
              <a:rPr b="0" lang="en-US" sz="1300" spc="-1" strike="noStrike">
                <a:solidFill>
                  <a:srgbClr val="0b6672"/>
                </a:solidFill>
                <a:latin typeface="Calibri"/>
              </a:rPr>
              <a:t> 1→B, 2→B, 3→C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De olho no próximo passo: por que POO?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0f766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6"/>
          <p:cNvSpPr/>
          <p:nvPr/>
        </p:nvSpPr>
        <p:spPr>
          <a:xfrm>
            <a:off x="640080" y="1371600"/>
            <a:ext cx="10911240" cy="22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Até aqui, guardamos dados 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variáveis soltas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vetores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Em um sistema real (escola, banco, loja) isso vira um caos: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nome, nota, matricula de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cada aluno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ficam em vetores separados.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A lógica (calcular média, aprovar) fica espalhada pelo programa.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Programação Orientada a Objetos (POO)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junta: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dados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(atributos) e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comportamentos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(métodos) de um conceito em uma única peça: a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classe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assim que o Java foi desenhado — e é o que vamos aprender agora!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Oval 2"/>
          <p:cNvSpPr/>
          <p:nvPr/>
        </p:nvSpPr>
        <p:spPr>
          <a:xfrm>
            <a:off x="8778240" y="-2377440"/>
            <a:ext cx="5943240" cy="594324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Oval 3"/>
          <p:cNvSpPr/>
          <p:nvPr/>
        </p:nvSpPr>
        <p:spPr>
          <a:xfrm>
            <a:off x="10149840" y="-1737360"/>
            <a:ext cx="4663080" cy="4663080"/>
          </a:xfrm>
          <a:prstGeom prst="ellipse">
            <a:avLst/>
          </a:prstGeom>
          <a:noFill/>
          <a:ln w="31680">
            <a:solidFill>
              <a:srgbClr val="ffff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TextBox 4"/>
          <p:cNvSpPr/>
          <p:nvPr/>
        </p:nvSpPr>
        <p:spPr>
          <a:xfrm>
            <a:off x="10058400" y="320040"/>
            <a:ext cx="22856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pt-B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5"/>
          <p:cNvSpPr/>
          <p:nvPr/>
        </p:nvSpPr>
        <p:spPr>
          <a:xfrm>
            <a:off x="914400" y="2148840"/>
            <a:ext cx="9600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Módulo 1 · 6 horas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914400" y="2606040"/>
            <a:ext cx="100580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Classes e Objetos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7"/>
          <p:cNvSpPr/>
          <p:nvPr/>
        </p:nvSpPr>
        <p:spPr>
          <a:xfrm>
            <a:off x="914400" y="3703320"/>
            <a:ext cx="8960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0f4f8"/>
                </a:solidFill>
                <a:latin typeface="Calibri"/>
              </a:rPr>
              <a:t>Os dois conceitos mais importantes da POO — com muitos exemplos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Rectangle 8"/>
          <p:cNvSpPr/>
          <p:nvPr/>
        </p:nvSpPr>
        <p:spPr>
          <a:xfrm>
            <a:off x="914400" y="4343400"/>
            <a:ext cx="2377080" cy="5436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9"/>
          <p:cNvSpPr/>
          <p:nvPr/>
        </p:nvSpPr>
        <p:spPr>
          <a:xfrm>
            <a:off x="914400" y="4617720"/>
            <a:ext cx="7863480" cy="12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Entender o que são classes e objetos (e a diferença entre eles)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Criar classes com atributos e métodos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Instanciar objetos com o operador new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Usar métodos com retorno e parâmetros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Resolver 3 exercícios práticos completos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10"/>
          <p:cNvSpPr/>
          <p:nvPr/>
        </p:nvSpPr>
        <p:spPr>
          <a:xfrm>
            <a:off x="914400" y="6355080"/>
            <a:ext cx="7314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Curso 40h · Programação Orientada a Objetos com Java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Agenda do módulo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6"/>
          <p:cNvSpPr/>
          <p:nvPr/>
        </p:nvSpPr>
        <p:spPr>
          <a:xfrm>
            <a:off x="64008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1.  O problema que a POO resolve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7"/>
          <p:cNvSpPr/>
          <p:nvPr/>
        </p:nvSpPr>
        <p:spPr>
          <a:xfrm>
            <a:off x="93276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Cadastro de alunos sem POO × com POO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8"/>
          <p:cNvSpPr/>
          <p:nvPr/>
        </p:nvSpPr>
        <p:spPr>
          <a:xfrm>
            <a:off x="64008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2.  Conceitos centrais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9"/>
          <p:cNvSpPr/>
          <p:nvPr/>
        </p:nvSpPr>
        <p:spPr>
          <a:xfrm>
            <a:off x="93276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Objeto, classe, analogias, classe × objeto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10"/>
          <p:cNvSpPr/>
          <p:nvPr/>
        </p:nvSpPr>
        <p:spPr>
          <a:xfrm>
            <a:off x="64008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3.  Na prática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11"/>
          <p:cNvSpPr/>
          <p:nvPr/>
        </p:nvSpPr>
        <p:spPr>
          <a:xfrm>
            <a:off x="93276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Criar classe Pessoa, usar new, acessar atributos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12"/>
          <p:cNvSpPr/>
          <p:nvPr/>
        </p:nvSpPr>
        <p:spPr>
          <a:xfrm>
            <a:off x="641592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4.  Métodos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Box 13"/>
          <p:cNvSpPr/>
          <p:nvPr/>
        </p:nvSpPr>
        <p:spPr>
          <a:xfrm>
            <a:off x="670860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Sem retorno, com retorno, com parâmetros, this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14"/>
          <p:cNvSpPr/>
          <p:nvPr/>
        </p:nvSpPr>
        <p:spPr>
          <a:xfrm>
            <a:off x="641592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5.  Exemplos completos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15"/>
          <p:cNvSpPr/>
          <p:nvPr/>
        </p:nvSpPr>
        <p:spPr>
          <a:xfrm>
            <a:off x="670860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Classe Carro passo a passo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16"/>
          <p:cNvSpPr/>
          <p:nvPr/>
        </p:nvSpPr>
        <p:spPr>
          <a:xfrm>
            <a:off x="641592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6.  Exercícios +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17"/>
          <p:cNvSpPr/>
          <p:nvPr/>
        </p:nvSpPr>
        <p:spPr>
          <a:xfrm>
            <a:off x="670860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Livro, Cachorro, Retângulo + quiz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problema: cadastro de alunos sem POO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640080" y="1371600"/>
            <a:ext cx="10911240" cy="262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Queremos cadastrar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3 alunos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nome, matrícula e nota.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Sem POO, usaríamos variáveis e vetores separados: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String[] nomes = {"Ana", "Beto", "Carla"};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int[] matriculas = {101, 102, 103};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double[] notas = {8.5, 7.0, 9.5};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 se fossem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3.000 alunos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? Vetores gigantes e fáceis de bagunçar.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 se cada aluno tiver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endereço, telefone, email, foto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? Vetores demais!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dados estão espalhados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a lógica também — um caos para manter.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 ideia da POO: juntar dados + comportamento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6"/>
          <p:cNvSpPr/>
          <p:nvPr/>
        </p:nvSpPr>
        <p:spPr>
          <a:xfrm>
            <a:off x="640080" y="1371600"/>
            <a:ext cx="10911240" cy="23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 POO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agrupa em uma única peça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tudo o que pertence a um conceito: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atributos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as características (dados): nome, matrícula, nota.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métodos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os comportamentos (ações): calcularMedia, exibirDados.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Essa peça é 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classe `Aluno`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; cada aluno real é um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objeto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dessa classe.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Vetor de 3.000 alunos? Simples: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ArrayList&lt;Aluno&gt;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(Módulo 3).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programa passa a pensar em termos do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mundo real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aluno, carro, conta bancária.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isso que a POO faz: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modelar o mundo em código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que é um objeto?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39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Box 6"/>
          <p:cNvSpPr/>
          <p:nvPr/>
        </p:nvSpPr>
        <p:spPr>
          <a:xfrm>
            <a:off x="640080" y="1371600"/>
            <a:ext cx="10911240" cy="29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Objeto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uma 'coisa' concreta do mundo real representada no programa.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Todo objeto tem: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Estado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os valores dos seus atributos naquele momento.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Comportamento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o que ele sabe fazer (métodos).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O seu cachorro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estado: nome, idade, raça · comportamento: latir, correr.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O seu carro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estado: marca, modelo, velocidade · comportamento: acelerar, frear.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Uma conta bancária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estado: titular, saldo · comportamento: depositar, sacar.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Em Java, um objeto é criado 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tempo de execução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dentro da memória.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que é uma classe?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6"/>
          <p:cNvSpPr/>
          <p:nvPr/>
        </p:nvSpPr>
        <p:spPr>
          <a:xfrm>
            <a:off x="640080" y="1371600"/>
            <a:ext cx="10911240" cy="23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Classe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molde / a planta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que define como os objetos serão.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 classe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não é o objeto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ela descreve quais atributos e métodos os objetos terão.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 partir de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uma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classe podemos criar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milhares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de objetos.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Analogia: a classe é 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forma de biscoito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; os objetos são os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biscoitos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Mesma forma, biscoitos diferentes (valores diferentes).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Analogia: a classe é 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planta da casa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; os objetos são as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casas construídas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Quando criamos um objeto a partir da classe, dizemos que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instanciamos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a classe.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Classe × Objeto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Rectangle 6"/>
          <p:cNvSpPr/>
          <p:nvPr/>
        </p:nvSpPr>
        <p:spPr>
          <a:xfrm>
            <a:off x="640080" y="1280160"/>
            <a:ext cx="5272560" cy="45684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TextBox 7"/>
          <p:cNvSpPr/>
          <p:nvPr/>
        </p:nvSpPr>
        <p:spPr>
          <a:xfrm>
            <a:off x="804600" y="1432080"/>
            <a:ext cx="4943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CLASSE (molde)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8"/>
          <p:cNvSpPr/>
          <p:nvPr/>
        </p:nvSpPr>
        <p:spPr>
          <a:xfrm>
            <a:off x="731520" y="1938600"/>
            <a:ext cx="5089680" cy="14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É a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definição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 — o molde.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Descreve atributos e métodos.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Existe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uma única vez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 no código.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Não ocupa memória para dados.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Ex.: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class Cachorro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ectangle 9"/>
          <p:cNvSpPr/>
          <p:nvPr/>
        </p:nvSpPr>
        <p:spPr>
          <a:xfrm>
            <a:off x="6278760" y="1280160"/>
            <a:ext cx="5272560" cy="456840"/>
          </a:xfrm>
          <a:prstGeom prst="rect">
            <a:avLst/>
          </a:prstGeom>
          <a:solidFill>
            <a:srgbClr val="94a3b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5" name="TextBox 10"/>
          <p:cNvSpPr/>
          <p:nvPr/>
        </p:nvSpPr>
        <p:spPr>
          <a:xfrm>
            <a:off x="6443280" y="1432080"/>
            <a:ext cx="4943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OBJETO (instância)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Box 11"/>
          <p:cNvSpPr/>
          <p:nvPr/>
        </p:nvSpPr>
        <p:spPr>
          <a:xfrm>
            <a:off x="6370200" y="1938600"/>
            <a:ext cx="5089680" cy="14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É o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resultado concreto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 — o biscoito.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Tem valores reais nos atributos.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Podem existir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vários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 iguais.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Ocupa memória em tempo de execução.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Ex.: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rex = new Cachorro()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Anatomia de uma classe em Java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ectangle 6"/>
          <p:cNvSpPr/>
          <p:nvPr/>
        </p:nvSpPr>
        <p:spPr>
          <a:xfrm>
            <a:off x="640080" y="1371600"/>
            <a:ext cx="10911240" cy="18230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3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4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5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6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7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Box 12"/>
          <p:cNvSpPr/>
          <p:nvPr/>
        </p:nvSpPr>
        <p:spPr>
          <a:xfrm>
            <a:off x="859680" y="1755720"/>
            <a:ext cx="10472400" cy="13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Pessoa {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1. palavra-chave class + nome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2. ATRIBUTOS: as características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3. MÉTODOS: os comportamentos (por enquanto, vazio)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13"/>
          <p:cNvSpPr/>
          <p:nvPr/>
        </p:nvSpPr>
        <p:spPr>
          <a:xfrm>
            <a:off x="640080" y="33778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nome da classe usa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PascalCase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Pessoa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ContaBancaria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Por enquanto a classe só tem atributos — ela é o molde.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arquivo deve ter o mesmo nome da classe: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Pessoa.java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Criando objetos: o operador new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Rectangle 6"/>
          <p:cNvSpPr/>
          <p:nvPr/>
        </p:nvSpPr>
        <p:spPr>
          <a:xfrm>
            <a:off x="640080" y="1371600"/>
            <a:ext cx="10911240" cy="275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6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7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8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9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0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12"/>
          <p:cNvSpPr/>
          <p:nvPr/>
        </p:nvSpPr>
        <p:spPr>
          <a:xfrm>
            <a:off x="859680" y="1755720"/>
            <a:ext cx="104724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TestePessoa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1. DECLARA a variável do tipo Pessoa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Pessoa joao;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2. CRIA o objeto na memória (new) e o associa à variável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joao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Pessoa();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3. Preenche os atributos do objeto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joao.nome =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"João"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joao.idade = 25;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13"/>
          <p:cNvSpPr/>
          <p:nvPr/>
        </p:nvSpPr>
        <p:spPr>
          <a:xfrm>
            <a:off x="640080" y="431460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Pessoa()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reserva memória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 monta o objeto.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variável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joao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uma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referência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aponta para o objeto na memória.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Acessamos os atributos com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ponto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joao.nome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Pessoa na prática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9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Criamos a classe, criamos 1 objeto e mostramos os dados: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ectangle 8"/>
          <p:cNvSpPr/>
          <p:nvPr/>
        </p:nvSpPr>
        <p:spPr>
          <a:xfrm>
            <a:off x="640080" y="1993320"/>
            <a:ext cx="10911240" cy="23850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1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2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3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4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Box 14"/>
          <p:cNvSpPr/>
          <p:nvPr/>
        </p:nvSpPr>
        <p:spPr>
          <a:xfrm>
            <a:off x="859680" y="2377440"/>
            <a:ext cx="104724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TestePessoa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Pessoa joao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Pessoa();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joao.nome =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"João"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joao.idade = 25;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"Nome: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joao.nome);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"Idade: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joao.idade);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Rectangle 15"/>
          <p:cNvSpPr/>
          <p:nvPr/>
        </p:nvSpPr>
        <p:spPr>
          <a:xfrm>
            <a:off x="640080" y="448848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8" name="Rectangle 16"/>
          <p:cNvSpPr/>
          <p:nvPr/>
        </p:nvSpPr>
        <p:spPr>
          <a:xfrm>
            <a:off x="640080" y="44884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9" name="TextBox 17"/>
          <p:cNvSpPr/>
          <p:nvPr/>
        </p:nvSpPr>
        <p:spPr>
          <a:xfrm>
            <a:off x="804600" y="45360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Box 18"/>
          <p:cNvSpPr/>
          <p:nvPr/>
        </p:nvSpPr>
        <p:spPr>
          <a:xfrm>
            <a:off x="804600" y="483588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Nome: João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Idade: 25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Box 19"/>
          <p:cNvSpPr/>
          <p:nvPr/>
        </p:nvSpPr>
        <p:spPr>
          <a:xfrm>
            <a:off x="640080" y="546732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Pessoa.java (molde) + TestePessoa.java (uso). Em projetos reais, cada classe fica em seu próprio arquivo.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vários objetos independentes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8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Uma classe, dois objetos — cada um com seus próprios valores: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Rectangle 8"/>
          <p:cNvSpPr/>
          <p:nvPr/>
        </p:nvSpPr>
        <p:spPr>
          <a:xfrm>
            <a:off x="640080" y="1993320"/>
            <a:ext cx="10911240" cy="28969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0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1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2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3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4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14"/>
          <p:cNvSpPr/>
          <p:nvPr/>
        </p:nvSpPr>
        <p:spPr>
          <a:xfrm>
            <a:off x="859680" y="2377440"/>
            <a:ext cx="10472400" cy="24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6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TestePessoa {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6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6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6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Pessoa ana = </a:t>
            </a:r>
            <a:r>
              <a:rPr b="0" lang="en-US" sz="106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Pessoa();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ana.nome = </a:t>
            </a:r>
            <a:r>
              <a:rPr b="0" lang="en-US" sz="106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ana.idade = 22;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Pessoa beto = </a:t>
            </a:r>
            <a:r>
              <a:rPr b="0" lang="en-US" sz="106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Pessoa();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beto.nome = </a:t>
            </a:r>
            <a:r>
              <a:rPr b="0" lang="en-US" sz="1060" spc="-1" strike="noStrike">
                <a:solidFill>
                  <a:srgbClr val="ce9178"/>
                </a:solidFill>
                <a:latin typeface="Consolas"/>
              </a:rPr>
              <a:t>"Beto"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beto.idade = 30;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System.out.println(ana.nome + </a:t>
            </a:r>
            <a:r>
              <a:rPr b="0" lang="en-US" sz="1060" spc="-1" strike="noStrike">
                <a:solidFill>
                  <a:srgbClr val="ce9178"/>
                </a:solidFill>
                <a:latin typeface="Consolas"/>
              </a:rPr>
              <a:t>" tem "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+ ana.idade + </a:t>
            </a:r>
            <a:r>
              <a:rPr b="0" lang="en-US" sz="1060" spc="-1" strike="noStrike">
                <a:solidFill>
                  <a:srgbClr val="ce9178"/>
                </a:solidFill>
                <a:latin typeface="Consolas"/>
              </a:rPr>
              <a:t>" anos."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System.out.println(beto.nome + </a:t>
            </a:r>
            <a:r>
              <a:rPr b="0" lang="en-US" sz="1060" spc="-1" strike="noStrike">
                <a:solidFill>
                  <a:srgbClr val="ce9178"/>
                </a:solidFill>
                <a:latin typeface="Consolas"/>
              </a:rPr>
              <a:t>" tem "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+ beto.idade + </a:t>
            </a:r>
            <a:r>
              <a:rPr b="0" lang="en-US" sz="1060" spc="-1" strike="noStrike">
                <a:solidFill>
                  <a:srgbClr val="ce9178"/>
                </a:solidFill>
                <a:latin typeface="Consolas"/>
              </a:rPr>
              <a:t>" anos."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60" spc="-1" strike="noStrike">
                <a:solidFill>
                  <a:srgbClr val="ce9178"/>
                </a:solidFill>
                <a:latin typeface="Consolas"/>
              </a:rPr>
              <a:t>"Objetos são independentes entre si."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Rectangle 15"/>
          <p:cNvSpPr/>
          <p:nvPr/>
        </p:nvSpPr>
        <p:spPr>
          <a:xfrm>
            <a:off x="640080" y="500040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7" name="Rectangle 16"/>
          <p:cNvSpPr/>
          <p:nvPr/>
        </p:nvSpPr>
        <p:spPr>
          <a:xfrm>
            <a:off x="640080" y="500040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8" name="TextBox 17"/>
          <p:cNvSpPr/>
          <p:nvPr/>
        </p:nvSpPr>
        <p:spPr>
          <a:xfrm>
            <a:off x="804600" y="50479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Box 18"/>
          <p:cNvSpPr/>
          <p:nvPr/>
        </p:nvSpPr>
        <p:spPr>
          <a:xfrm>
            <a:off x="804600" y="534780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 tem 22 anos.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Beto tem 30 anos.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Objetos são independentes entre si.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Box 19"/>
          <p:cNvSpPr/>
          <p:nvPr/>
        </p:nvSpPr>
        <p:spPr>
          <a:xfrm>
            <a:off x="640080" y="61488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Mudar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ana.idade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não afeta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beto.idade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cada objeto tem sua própria cópia dos atributos.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Valores padrão dos atributos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6" name="Table 6"/>
          <p:cNvGraphicFramePr/>
          <p:nvPr/>
        </p:nvGraphicFramePr>
        <p:xfrm>
          <a:off x="640080" y="1463040"/>
          <a:ext cx="10881000" cy="2759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760720"/>
              </a:tblGrid>
              <a:tr h="38376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do atributo</a:t>
                      </a:r>
                      <a:endParaRPr b="0" lang="pt-BR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Valor inicial</a:t>
                      </a:r>
                      <a:endParaRPr b="0" lang="pt-BR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  <a:endParaRPr b="0" lang="pt-BR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4ed8"/>
                    </a:solidFill>
                  </a:tcPr>
                </a:tc>
              </a:tr>
              <a:tr h="475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zero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double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zero decimal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75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boolean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false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falso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char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'\u0000'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caractere vazio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7520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String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null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ainda não aponta para nenhum texto</a:t>
                      </a:r>
                      <a:endParaRPr b="0" lang="pt-BR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Atributos: o estado do objeto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6"/>
          <p:cNvSpPr/>
          <p:nvPr/>
        </p:nvSpPr>
        <p:spPr>
          <a:xfrm>
            <a:off x="640080" y="1371600"/>
            <a:ext cx="10911240" cy="26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Atributo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variável que pertence ao objeto (a característica).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Declarados dentro da classe, fora dos métodos.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Cada objeto tem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sua própria cópia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dos atributos.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Tipos podem ser primitivos (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double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boolean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) ou classes (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Podemos ter quantos quisermos: nome, cor, preço, estoque, fabricante...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 de classe com vários atributos: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class Produto { String nome; double preco; int quantidadeEmEstoque; }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Regra de nome: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camelCase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quantidadeEmEstoque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precoUnitario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Métodos: o comportamento do objeto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Box 6"/>
          <p:cNvSpPr/>
          <p:nvPr/>
        </p:nvSpPr>
        <p:spPr>
          <a:xfrm>
            <a:off x="640080" y="1371600"/>
            <a:ext cx="10911240" cy="30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Método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bloco de código com um nome, que executa uma ação.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São as 'habilidades' do objeto: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acelerar()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calcularMedia()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exibir()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Estrutura básica: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tipoDeRetorno nomeDoMetodo(parâmetros) { ... }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Retorno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o que o método devolve (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void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nada).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Parâmetros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informações que o método recebe para trabalhar.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Método simples (sem retorno e sem parâmetros):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void exibir() { System.out.println("Olá!"); }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Para chamar: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joao.exibir();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sempre com o ponto.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Anatomia de um método, parte por parte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49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Rectangle 6"/>
          <p:cNvSpPr/>
          <p:nvPr/>
        </p:nvSpPr>
        <p:spPr>
          <a:xfrm>
            <a:off x="640080" y="1371600"/>
            <a:ext cx="10911240" cy="2752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Box 12"/>
          <p:cNvSpPr/>
          <p:nvPr/>
        </p:nvSpPr>
        <p:spPr>
          <a:xfrm>
            <a:off x="859680" y="1755720"/>
            <a:ext cx="10472400" cy="22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 modificador   retorno   nome      parâmetros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cumprimentar()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"Olá, eu sou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nome);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calcularIdadeEmMeses() {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retorna int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 * 12;        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return devolve o valor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13"/>
          <p:cNvSpPr/>
          <p:nvPr/>
        </p:nvSpPr>
        <p:spPr>
          <a:xfrm>
            <a:off x="640080" y="430704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void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= método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não devolve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nada.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int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= método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devolve um int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usa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return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Dentro do método,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idade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se referem ao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próprio objeto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método que devolve um valor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8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A classe Pessoa ganha o método calcularIdadeEmMeses: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Rectangle 8"/>
          <p:cNvSpPr/>
          <p:nvPr/>
        </p:nvSpPr>
        <p:spPr>
          <a:xfrm>
            <a:off x="640080" y="1993320"/>
            <a:ext cx="10911240" cy="23850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0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1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2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3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4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Box 14"/>
          <p:cNvSpPr/>
          <p:nvPr/>
        </p:nvSpPr>
        <p:spPr>
          <a:xfrm>
            <a:off x="859680" y="2377440"/>
            <a:ext cx="104724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TestePessoa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Pessoa maria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Pessoa();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maria.nome =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"Maria"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maria.idade = 30;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meses = maria.calcularIdadeEmMeses();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System.out.println(maria.nome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tem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meses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meses de vida."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Rectangle 15"/>
          <p:cNvSpPr/>
          <p:nvPr/>
        </p:nvSpPr>
        <p:spPr>
          <a:xfrm>
            <a:off x="640080" y="448848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7" name="Rectangle 16"/>
          <p:cNvSpPr/>
          <p:nvPr/>
        </p:nvSpPr>
        <p:spPr>
          <a:xfrm>
            <a:off x="640080" y="44884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8" name="TextBox 17"/>
          <p:cNvSpPr/>
          <p:nvPr/>
        </p:nvSpPr>
        <p:spPr>
          <a:xfrm>
            <a:off x="804600" y="45360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Box 18"/>
          <p:cNvSpPr/>
          <p:nvPr/>
        </p:nvSpPr>
        <p:spPr>
          <a:xfrm>
            <a:off x="804600" y="483588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Maria tem 360 meses de vida.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Box 19"/>
          <p:cNvSpPr/>
          <p:nvPr/>
        </p:nvSpPr>
        <p:spPr>
          <a:xfrm>
            <a:off x="640080" y="52977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valor devolvido por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return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capturado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na variável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meses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(ou usado direto).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métodos com parâmetros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7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Agora o objeto recebe informações para trabalhar: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Rectangle 8"/>
          <p:cNvSpPr/>
          <p:nvPr/>
        </p:nvSpPr>
        <p:spPr>
          <a:xfrm>
            <a:off x="640080" y="1993320"/>
            <a:ext cx="10911240" cy="257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9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0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1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2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3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Box 14"/>
          <p:cNvSpPr/>
          <p:nvPr/>
        </p:nvSpPr>
        <p:spPr>
          <a:xfrm>
            <a:off x="859680" y="2377440"/>
            <a:ext cx="10472400" cy="21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fazerAniversario()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idade = idade + 1;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mudarNome(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novoNome) {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parâmetro novoNome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nome = novoNome;        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aplica o valor recebido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Rectangle 15"/>
          <p:cNvSpPr/>
          <p:nvPr/>
        </p:nvSpPr>
        <p:spPr>
          <a:xfrm>
            <a:off x="640080" y="468324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6" name="Rectangle 16"/>
          <p:cNvSpPr/>
          <p:nvPr/>
        </p:nvSpPr>
        <p:spPr>
          <a:xfrm>
            <a:off x="640080" y="46832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TextBox 17"/>
          <p:cNvSpPr/>
          <p:nvPr/>
        </p:nvSpPr>
        <p:spPr>
          <a:xfrm>
            <a:off x="804600" y="47307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Box 18"/>
          <p:cNvSpPr/>
          <p:nvPr/>
        </p:nvSpPr>
        <p:spPr>
          <a:xfrm>
            <a:off x="804600" y="503064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Antes: 25 anos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Depois do aniversário: 26 anos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Box 19"/>
          <p:cNvSpPr/>
          <p:nvPr/>
        </p:nvSpPr>
        <p:spPr>
          <a:xfrm>
            <a:off x="640080" y="56620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Exercício mental: o que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fazerAniversario()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muda no estado do objeto?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this: o objeto falando de si mesmo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Rectangle 6"/>
          <p:cNvSpPr/>
          <p:nvPr/>
        </p:nvSpPr>
        <p:spPr>
          <a:xfrm>
            <a:off x="640080" y="1371600"/>
            <a:ext cx="10911240" cy="30967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6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7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8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9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0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Box 12"/>
          <p:cNvSpPr/>
          <p:nvPr/>
        </p:nvSpPr>
        <p:spPr>
          <a:xfrm>
            <a:off x="859680" y="1755720"/>
            <a:ext cx="10472400" cy="26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cadastrar(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this.nome = ATRIBUTO do objeto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nome     = parâmetro recebido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.idade = idade;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",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idade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 anos"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Box 13"/>
          <p:cNvSpPr/>
          <p:nvPr/>
        </p:nvSpPr>
        <p:spPr>
          <a:xfrm>
            <a:off x="640080" y="465156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Quando o nome do parâmetro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é igual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ao do atributo, usamos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this.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para diferenciar.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this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aponta para 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próprio objeto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que está executando o método.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Regra prática: se houver conflito de nomes, use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this.atributo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 completo: classe Carro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9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Vamos modelar um carro: marca, modelo, velocidade e as ações acelerar/frear/exibir: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Rectangle 8"/>
          <p:cNvSpPr/>
          <p:nvPr/>
        </p:nvSpPr>
        <p:spPr>
          <a:xfrm>
            <a:off x="640080" y="1993320"/>
            <a:ext cx="10911240" cy="38088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1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2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3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4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5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Carro.java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Box 14"/>
          <p:cNvSpPr/>
          <p:nvPr/>
        </p:nvSpPr>
        <p:spPr>
          <a:xfrm>
            <a:off x="859680" y="2377440"/>
            <a:ext cx="10472400" cy="33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Carro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marca;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modelo;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velocidade;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acelerar(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quantidade)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velocidade = velocidade + quantidade;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frear(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quantidade)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velocidade = velocidade - quantidade;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(velocidade &lt; 0)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velocidade = 0;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nunca fica negativa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System.out.println(modelo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está a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velocidade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km/h"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Box 15"/>
          <p:cNvSpPr/>
          <p:nvPr/>
        </p:nvSpPr>
        <p:spPr>
          <a:xfrm>
            <a:off x="640080" y="59853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Atributos: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marca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modelo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velocidade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 Métodos: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acelerar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frear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exibir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usando o Carro no programa principal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4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Criamos o objeto, chamamos seus métodos e observamos o estado mudar: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Rectangle 8"/>
          <p:cNvSpPr/>
          <p:nvPr/>
        </p:nvSpPr>
        <p:spPr>
          <a:xfrm>
            <a:off x="640080" y="1993320"/>
            <a:ext cx="10911240" cy="28195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6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7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8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9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0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TesteCarro.java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Box 14"/>
          <p:cNvSpPr/>
          <p:nvPr/>
        </p:nvSpPr>
        <p:spPr>
          <a:xfrm>
            <a:off x="859680" y="2377440"/>
            <a:ext cx="1047240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TesteCarro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Carro fusca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Carro();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fusca.marca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"Volkswagen"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fusca.modelo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"Fusca"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fusca.acelerar(40);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fusca.exibir();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fusca.frear(10);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fusca.exibir();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fusca.frear(100);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vai tentar ficar negativa...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fusca.exibir();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Rectangle 15"/>
          <p:cNvSpPr/>
          <p:nvPr/>
        </p:nvSpPr>
        <p:spPr>
          <a:xfrm>
            <a:off x="640080" y="492300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3" name="Rectangle 16"/>
          <p:cNvSpPr/>
          <p:nvPr/>
        </p:nvSpPr>
        <p:spPr>
          <a:xfrm>
            <a:off x="640080" y="492300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4" name="TextBox 17"/>
          <p:cNvSpPr/>
          <p:nvPr/>
        </p:nvSpPr>
        <p:spPr>
          <a:xfrm>
            <a:off x="804600" y="49705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18"/>
          <p:cNvSpPr/>
          <p:nvPr/>
        </p:nvSpPr>
        <p:spPr>
          <a:xfrm>
            <a:off x="804600" y="527040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Fusca está a 40 km/h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Fusca está a 30 km/h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Fusca está a 0 km/h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Box 19"/>
          <p:cNvSpPr/>
          <p:nvPr/>
        </p:nvSpPr>
        <p:spPr>
          <a:xfrm>
            <a:off x="640080" y="60714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proteção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if (velocidade &lt; 0)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evita estado inválido — esse cuidado será tema do Módulo 2 (encapsulamento).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1 — Classe Livro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Box 6"/>
          <p:cNvSpPr/>
          <p:nvPr/>
        </p:nvSpPr>
        <p:spPr>
          <a:xfrm>
            <a:off x="640080" y="1371600"/>
            <a:ext cx="1091124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Crie a 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`Livro`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atributos: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titulo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autor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paginas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Adicione o 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exibir()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que mostra: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"Título: ... · Autor: ... · X páginas"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main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crie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2 livros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preencha os dados e chame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exibir()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dos dois.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Teste: troque o título de um deles e veja que o outro não muda.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Rectangle 7"/>
          <p:cNvSpPr/>
          <p:nvPr/>
        </p:nvSpPr>
        <p:spPr>
          <a:xfrm>
            <a:off x="640080" y="301464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4" name="Rectangle 8"/>
          <p:cNvSpPr/>
          <p:nvPr/>
        </p:nvSpPr>
        <p:spPr>
          <a:xfrm>
            <a:off x="640080" y="3014640"/>
            <a:ext cx="82080" cy="7768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5" name="TextBox 9"/>
          <p:cNvSpPr/>
          <p:nvPr/>
        </p:nvSpPr>
        <p:spPr>
          <a:xfrm>
            <a:off x="877680" y="309672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Lembre: atributos dentro da classe, preenchimento com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objeto.atributo = valor;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no main.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(Classe Livro)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Rectangle 6"/>
          <p:cNvSpPr/>
          <p:nvPr/>
        </p:nvSpPr>
        <p:spPr>
          <a:xfrm>
            <a:off x="640080" y="1371600"/>
            <a:ext cx="10911240" cy="23850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Livro.java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Box 12"/>
          <p:cNvSpPr/>
          <p:nvPr/>
        </p:nvSpPr>
        <p:spPr>
          <a:xfrm>
            <a:off x="859680" y="1755720"/>
            <a:ext cx="104724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Livro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titulo;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autor;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paginas;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"Título: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titulo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· Autor: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autor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·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paginas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páginas"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(Classe Livro — programa principal)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Rectangle 6"/>
          <p:cNvSpPr/>
          <p:nvPr/>
        </p:nvSpPr>
        <p:spPr>
          <a:xfrm>
            <a:off x="640080" y="1371600"/>
            <a:ext cx="10911240" cy="31492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4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5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6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7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8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TesteLivro.java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Box 12"/>
          <p:cNvSpPr/>
          <p:nvPr/>
        </p:nvSpPr>
        <p:spPr>
          <a:xfrm>
            <a:off x="859680" y="1755720"/>
            <a:ext cx="10472400" cy="268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TesteLivro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 livro1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Livro();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livro1.titulo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"Dom Casmurro"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livro1.autor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"Machado de Assis"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livro1.paginas = 256;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 livro2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Livro();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livro2.titulo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"O Pequeno Príncipe"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livro2.autor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"Antoine de Saint-Exupéry"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livro2.paginas = 96;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livro1.exibir();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livro2.exibir();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Rectangle 13"/>
          <p:cNvSpPr/>
          <p:nvPr/>
        </p:nvSpPr>
        <p:spPr>
          <a:xfrm>
            <a:off x="640080" y="463104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1" name="Rectangle 14"/>
          <p:cNvSpPr/>
          <p:nvPr/>
        </p:nvSpPr>
        <p:spPr>
          <a:xfrm>
            <a:off x="640080" y="46310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2" name="TextBox 15"/>
          <p:cNvSpPr/>
          <p:nvPr/>
        </p:nvSpPr>
        <p:spPr>
          <a:xfrm>
            <a:off x="804600" y="46782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Box 16"/>
          <p:cNvSpPr/>
          <p:nvPr/>
        </p:nvSpPr>
        <p:spPr>
          <a:xfrm>
            <a:off x="804600" y="497844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Título: Dom Casmurro · Autor: Machado de Assis · 256 páginas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Título: O Pequeno Príncipe · Autor: Antoine de Saint-Exupéry · 96 páginas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2 — Classe Cachorro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Box 6"/>
          <p:cNvSpPr/>
          <p:nvPr/>
        </p:nvSpPr>
        <p:spPr>
          <a:xfrm>
            <a:off x="640080" y="1371600"/>
            <a:ext cx="1091124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Crie a 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`Cachorro`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atributos: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idade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raca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latir()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imprime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"Au au!"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correr(int metros)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imprime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"[nome] correu X metros"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main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crie um cachorro, preencha e faça-o latir e correr 30 metros.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Rectangle 7"/>
          <p:cNvSpPr/>
          <p:nvPr/>
        </p:nvSpPr>
        <p:spPr>
          <a:xfrm>
            <a:off x="640080" y="301464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1" name="Rectangle 8"/>
          <p:cNvSpPr/>
          <p:nvPr/>
        </p:nvSpPr>
        <p:spPr>
          <a:xfrm>
            <a:off x="640080" y="3014640"/>
            <a:ext cx="82080" cy="7768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2" name="TextBox 9"/>
          <p:cNvSpPr/>
          <p:nvPr/>
        </p:nvSpPr>
        <p:spPr>
          <a:xfrm>
            <a:off x="877680" y="309672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Dentro de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correr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, use o atributo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para personalizar a mensagem.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2 (Classe Cachorro)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59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Rectangle 6"/>
          <p:cNvSpPr/>
          <p:nvPr/>
        </p:nvSpPr>
        <p:spPr>
          <a:xfrm>
            <a:off x="640080" y="1371600"/>
            <a:ext cx="10911240" cy="29469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Cachorro.java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TextBox 12"/>
          <p:cNvSpPr/>
          <p:nvPr/>
        </p:nvSpPr>
        <p:spPr>
          <a:xfrm>
            <a:off x="859680" y="1755720"/>
            <a:ext cx="104724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Cachorro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raca;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latir()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"Au au!"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correr(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metros)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correu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metros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 metros."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2 (Classe Cachorro — programa principal)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Rectangle 6"/>
          <p:cNvSpPr/>
          <p:nvPr/>
        </p:nvSpPr>
        <p:spPr>
          <a:xfrm>
            <a:off x="640080" y="1371600"/>
            <a:ext cx="10911240" cy="2572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TesteCachorro.java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Box 12"/>
          <p:cNvSpPr/>
          <p:nvPr/>
        </p:nvSpPr>
        <p:spPr>
          <a:xfrm>
            <a:off x="859680" y="1755720"/>
            <a:ext cx="10472400" cy="20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TesteCachorro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Cachorro rex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Cachorro();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rex.nome =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"Rex"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rex.idade = 3;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rex.raca =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"Labrador"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rex.latir();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rex.correr(30);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Rectangle 13"/>
          <p:cNvSpPr/>
          <p:nvPr/>
        </p:nvSpPr>
        <p:spPr>
          <a:xfrm>
            <a:off x="640080" y="405396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8" name="Rectangle 14"/>
          <p:cNvSpPr/>
          <p:nvPr/>
        </p:nvSpPr>
        <p:spPr>
          <a:xfrm>
            <a:off x="640080" y="40539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9" name="TextBox 15"/>
          <p:cNvSpPr/>
          <p:nvPr/>
        </p:nvSpPr>
        <p:spPr>
          <a:xfrm>
            <a:off x="804600" y="41014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TextBox 16"/>
          <p:cNvSpPr/>
          <p:nvPr/>
        </p:nvSpPr>
        <p:spPr>
          <a:xfrm>
            <a:off x="804600" y="440136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Au au!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Rex correu 30 metros.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3 — Classe Retângulo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Box 6"/>
          <p:cNvSpPr/>
          <p:nvPr/>
        </p:nvSpPr>
        <p:spPr>
          <a:xfrm>
            <a:off x="640080" y="1371600"/>
            <a:ext cx="1091124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Crie a 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`Retangulo`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atributos: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largura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altura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(double).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double calcularArea()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retorna largura × altura.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double calcularPerimetro()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retorna 2 × (largura + altura).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main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crie um retângulo 5 × 3 e exiba área e perímetro.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Desafio: crie um 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redimensionar(double fator)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que multiplica os dois lados.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Rectangle 7"/>
          <p:cNvSpPr/>
          <p:nvPr/>
        </p:nvSpPr>
        <p:spPr>
          <a:xfrm>
            <a:off x="640080" y="3368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8" name="Rectangle 8"/>
          <p:cNvSpPr/>
          <p:nvPr/>
        </p:nvSpPr>
        <p:spPr>
          <a:xfrm>
            <a:off x="640080" y="3368160"/>
            <a:ext cx="82080" cy="7768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9" name="TextBox 9"/>
          <p:cNvSpPr/>
          <p:nvPr/>
        </p:nvSpPr>
        <p:spPr>
          <a:xfrm>
            <a:off x="877680" y="3450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Método com retorno usa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return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; capture o valor em uma variável no main.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(Classe Retângulo)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Rectangle 6"/>
          <p:cNvSpPr/>
          <p:nvPr/>
        </p:nvSpPr>
        <p:spPr>
          <a:xfrm>
            <a:off x="640080" y="1371600"/>
            <a:ext cx="10911240" cy="36961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6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7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8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9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0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Retangulo.java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Box 12"/>
          <p:cNvSpPr/>
          <p:nvPr/>
        </p:nvSpPr>
        <p:spPr>
          <a:xfrm>
            <a:off x="859680" y="1755720"/>
            <a:ext cx="10472400" cy="32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Retangulo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largura;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altura;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calcularArea()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largura * altura;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calcularPerimetro()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2 * (largura + altura);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redimensionar(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fator)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largura = largura * fator;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altura = altura * fator;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(Classe Retângulo — programa principal)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Rectangle 6"/>
          <p:cNvSpPr/>
          <p:nvPr/>
        </p:nvSpPr>
        <p:spPr>
          <a:xfrm>
            <a:off x="640080" y="1371600"/>
            <a:ext cx="10911240" cy="29469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TesteRetangulo.java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Box 12"/>
          <p:cNvSpPr/>
          <p:nvPr/>
        </p:nvSpPr>
        <p:spPr>
          <a:xfrm>
            <a:off x="859680" y="1755720"/>
            <a:ext cx="104724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TesteRetangulo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Retangulo r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Retangulo();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r.largura = 5;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r.altura = 3;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"Área: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r.calcularArea());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"Perímetro: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r.calcularPerimetro());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r.redimensionar(2);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"Nova área: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r.calcularArea());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Rectangle 13"/>
          <p:cNvSpPr/>
          <p:nvPr/>
        </p:nvSpPr>
        <p:spPr>
          <a:xfrm>
            <a:off x="640080" y="442872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5" name="Rectangle 14"/>
          <p:cNvSpPr/>
          <p:nvPr/>
        </p:nvSpPr>
        <p:spPr>
          <a:xfrm>
            <a:off x="640080" y="44287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6" name="TextBox 15"/>
          <p:cNvSpPr/>
          <p:nvPr/>
        </p:nvSpPr>
        <p:spPr>
          <a:xfrm>
            <a:off x="804600" y="44762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Box 16"/>
          <p:cNvSpPr/>
          <p:nvPr/>
        </p:nvSpPr>
        <p:spPr>
          <a:xfrm>
            <a:off x="804600" y="477612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Área: 15.0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Perímetro: 16.0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Nova área: 60.0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Erros comuns de quem está começando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Rectangle 6"/>
          <p:cNvSpPr/>
          <p:nvPr/>
        </p:nvSpPr>
        <p:spPr>
          <a:xfrm>
            <a:off x="640080" y="1371600"/>
            <a:ext cx="10911240" cy="26546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4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5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6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7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8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Erros.java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TextBox 12"/>
          <p:cNvSpPr/>
          <p:nvPr/>
        </p:nvSpPr>
        <p:spPr>
          <a:xfrm>
            <a:off x="859680" y="1755720"/>
            <a:ext cx="10472400" cy="21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ERRO 1: esquecer o new — 'null' ainda não aponta para objeto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Pessoa joao;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joao.nome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"João"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NullPointerException!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ERRO 2: esquecer o return em método que devolve valor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calcular()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x = 10;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falta 'return x;' -&gt; erro de compilação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ERRO 3: nome da classe diferente do arquivo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arquivo: Teste.java  -&gt;  public class Teste  (ok)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arquivo: Teste.java  -&gt;  public class Tst    (erro!)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TextBox 13"/>
          <p:cNvSpPr/>
          <p:nvPr/>
        </p:nvSpPr>
        <p:spPr>
          <a:xfrm>
            <a:off x="640080" y="42094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NullPointerException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você usou um objeto que ainda não foi criado com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Método deve retornar um valor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todo caminho precisa de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return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Arquivo × classe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o nome público deve bater com o nome do arquivo.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Regras de nomenclatura (convenções Java)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Box 6"/>
          <p:cNvSpPr/>
          <p:nvPr/>
        </p:nvSpPr>
        <p:spPr>
          <a:xfrm>
            <a:off x="640080" y="1371600"/>
            <a:ext cx="10911240" cy="19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Classes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PascalCase —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ContaBancaria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CadastroProdutos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Atributos e métodos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camelCase —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saldo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calcularMedia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quantidadeEmEstoque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Constantes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letras maiúsculas com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_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TAXA_JUROS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(veremos no Módulo 2).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Nomes devem ser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significativos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preco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em vez de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p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calcularMedia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em vez de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cm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Ações geralmente são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verbos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acelerar()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exibir()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cadastrar()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Seguir convenções torna o código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legível para outras pessoas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(e para você no futuro).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Resumo do Módulo 1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Rectangle 6"/>
          <p:cNvSpPr/>
          <p:nvPr/>
        </p:nvSpPr>
        <p:spPr>
          <a:xfrm>
            <a:off x="640080" y="1261800"/>
            <a:ext cx="10911240" cy="4536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3" name="TextBox 7"/>
          <p:cNvSpPr/>
          <p:nvPr/>
        </p:nvSpPr>
        <p:spPr>
          <a:xfrm>
            <a:off x="640080" y="1536120"/>
            <a:ext cx="10911240" cy="23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Objeto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coisa concreta com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estado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(atributos) 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comportamento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(métodos).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Classe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o molde que define atributos e métodos dos objetos.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Instanciar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= criar objeto com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new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Pessoa p = new Pessoa();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Atributos são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variáveis do objeto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; métodos são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ações do objeto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= sem retorno; com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return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 método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devolve um valor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Parâmetros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alimentam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os métodos;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this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resolve conflito de nomes.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Cada objeto é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independente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alterar um não altera os outros.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1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Checkpoint rápido — Módulo 1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d4ed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extBox 6"/>
          <p:cNvSpPr/>
          <p:nvPr/>
        </p:nvSpPr>
        <p:spPr>
          <a:xfrm>
            <a:off x="640080" y="1371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1.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 que é uma classe?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extBox 7"/>
          <p:cNvSpPr/>
          <p:nvPr/>
        </p:nvSpPr>
        <p:spPr>
          <a:xfrm>
            <a:off x="1005840" y="1755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Um objeto criado na memória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O molde que define atributos e métodos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Um tipo primitivo do Java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Box 8"/>
          <p:cNvSpPr/>
          <p:nvPr/>
        </p:nvSpPr>
        <p:spPr>
          <a:xfrm>
            <a:off x="640080" y="279792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2.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Qual comando cria um objeto de verdade?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TextBox 9"/>
          <p:cNvSpPr/>
          <p:nvPr/>
        </p:nvSpPr>
        <p:spPr>
          <a:xfrm>
            <a:off x="1005840" y="318204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Pessoa joao;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new Pessoa()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Pessoa()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Box 10"/>
          <p:cNvSpPr/>
          <p:nvPr/>
        </p:nvSpPr>
        <p:spPr>
          <a:xfrm>
            <a:off x="640080" y="4224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3.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Um método declarado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deve: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Box 11"/>
          <p:cNvSpPr/>
          <p:nvPr/>
        </p:nvSpPr>
        <p:spPr>
          <a:xfrm>
            <a:off x="1005840" y="4608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Devolver um int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Não devolver nada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Ter parâmetros obrigatórios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Rectangle 12"/>
          <p:cNvSpPr/>
          <p:nvPr/>
        </p:nvSpPr>
        <p:spPr>
          <a:xfrm>
            <a:off x="640080" y="5961960"/>
            <a:ext cx="10911240" cy="36540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6" name="TextBox 13"/>
          <p:cNvSpPr/>
          <p:nvPr/>
        </p:nvSpPr>
        <p:spPr>
          <a:xfrm>
            <a:off x="804600" y="6054120"/>
            <a:ext cx="10581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6672"/>
                </a:solidFill>
                <a:latin typeface="Calibri"/>
              </a:rPr>
              <a:t>Gabarito:</a:t>
            </a:r>
            <a:r>
              <a:rPr b="0" lang="en-US" sz="1300" spc="-1" strike="noStrike">
                <a:solidFill>
                  <a:srgbClr val="0b6672"/>
                </a:solidFill>
                <a:latin typeface="Calibri"/>
              </a:rPr>
              <a:t> 1→B, 2→B, 3→B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8" name="Oval 2"/>
          <p:cNvSpPr/>
          <p:nvPr/>
        </p:nvSpPr>
        <p:spPr>
          <a:xfrm>
            <a:off x="8778240" y="-2377440"/>
            <a:ext cx="5943240" cy="594324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9" name="Oval 3"/>
          <p:cNvSpPr/>
          <p:nvPr/>
        </p:nvSpPr>
        <p:spPr>
          <a:xfrm>
            <a:off x="10149840" y="-1737360"/>
            <a:ext cx="4663080" cy="4663080"/>
          </a:xfrm>
          <a:prstGeom prst="ellipse">
            <a:avLst/>
          </a:prstGeom>
          <a:noFill/>
          <a:ln w="31680">
            <a:solidFill>
              <a:srgbClr val="ffff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0" name="TextBox 4"/>
          <p:cNvSpPr/>
          <p:nvPr/>
        </p:nvSpPr>
        <p:spPr>
          <a:xfrm>
            <a:off x="10058400" y="320040"/>
            <a:ext cx="22856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pt-B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Box 5"/>
          <p:cNvSpPr/>
          <p:nvPr/>
        </p:nvSpPr>
        <p:spPr>
          <a:xfrm>
            <a:off x="914400" y="2148840"/>
            <a:ext cx="9600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Módulo 2 · 8 horas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Box 6"/>
          <p:cNvSpPr/>
          <p:nvPr/>
        </p:nvSpPr>
        <p:spPr>
          <a:xfrm>
            <a:off x="914400" y="2606040"/>
            <a:ext cx="100580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Encapsulamento, Construtores e Sobrecarga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TextBox 7"/>
          <p:cNvSpPr/>
          <p:nvPr/>
        </p:nvSpPr>
        <p:spPr>
          <a:xfrm>
            <a:off x="914400" y="3703320"/>
            <a:ext cx="8960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0f4f8"/>
                </a:solidFill>
                <a:latin typeface="Calibri"/>
              </a:rPr>
              <a:t>Deixe suas classes seguras, flexíveis e profissionais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Rectangle 8"/>
          <p:cNvSpPr/>
          <p:nvPr/>
        </p:nvSpPr>
        <p:spPr>
          <a:xfrm>
            <a:off x="914400" y="4343400"/>
            <a:ext cx="2377080" cy="5436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5" name="TextBox 9"/>
          <p:cNvSpPr/>
          <p:nvPr/>
        </p:nvSpPr>
        <p:spPr>
          <a:xfrm>
            <a:off x="914400" y="4617720"/>
            <a:ext cx="7863480" cy="15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Proteger atributos com private (encapsulamento)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Criar getters e setters com validação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Construir objetos com construtores (e sobrecarga)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Sobrecarregar métodos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Usar atributos e métodos estáticos (static)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Entender toString, equals e objetos como parâmetros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Box 10"/>
          <p:cNvSpPr/>
          <p:nvPr/>
        </p:nvSpPr>
        <p:spPr>
          <a:xfrm>
            <a:off x="914400" y="6355080"/>
            <a:ext cx="7314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Curso 40h · Programação Orientada a Objetos com Java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Agenda do módulo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69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Box 6"/>
          <p:cNvSpPr/>
          <p:nvPr/>
        </p:nvSpPr>
        <p:spPr>
          <a:xfrm>
            <a:off x="64008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1.  Encapsulamento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TextBox 7"/>
          <p:cNvSpPr/>
          <p:nvPr/>
        </p:nvSpPr>
        <p:spPr>
          <a:xfrm>
            <a:off x="93276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O problema do atributo público, private, getters/setters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Box 8"/>
          <p:cNvSpPr/>
          <p:nvPr/>
        </p:nvSpPr>
        <p:spPr>
          <a:xfrm>
            <a:off x="64008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2.  Exemplo ContaBancaria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Box 9"/>
          <p:cNvSpPr/>
          <p:nvPr/>
        </p:nvSpPr>
        <p:spPr>
          <a:xfrm>
            <a:off x="93276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Regras de negócio protegidas por métodos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TextBox 10"/>
          <p:cNvSpPr/>
          <p:nvPr/>
        </p:nvSpPr>
        <p:spPr>
          <a:xfrm>
            <a:off x="64008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3.  Construtores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TextBox 11"/>
          <p:cNvSpPr/>
          <p:nvPr/>
        </p:nvSpPr>
        <p:spPr>
          <a:xfrm>
            <a:off x="93276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Construtor padrão, com parâmetros, sobrecarga, this()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TextBox 12"/>
          <p:cNvSpPr/>
          <p:nvPr/>
        </p:nvSpPr>
        <p:spPr>
          <a:xfrm>
            <a:off x="640080" y="317448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4.  Sobrecarga de métodos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TextBox 13"/>
          <p:cNvSpPr/>
          <p:nvPr/>
        </p:nvSpPr>
        <p:spPr>
          <a:xfrm>
            <a:off x="932760" y="350352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Mesmo nome, assinaturas diferentes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TextBox 14"/>
          <p:cNvSpPr/>
          <p:nvPr/>
        </p:nvSpPr>
        <p:spPr>
          <a:xfrm>
            <a:off x="641592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5.  Static e final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Box 15"/>
          <p:cNvSpPr/>
          <p:nvPr/>
        </p:nvSpPr>
        <p:spPr>
          <a:xfrm>
            <a:off x="670860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Atributos de classe, constantes, métodos estáticos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Box 16"/>
          <p:cNvSpPr/>
          <p:nvPr/>
        </p:nvSpPr>
        <p:spPr>
          <a:xfrm>
            <a:off x="641592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6.  Objetos conversando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Box 17"/>
          <p:cNvSpPr/>
          <p:nvPr/>
        </p:nvSpPr>
        <p:spPr>
          <a:xfrm>
            <a:off x="670860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Objetos como parâmetros, == vs equals, toString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TextBox 18"/>
          <p:cNvSpPr/>
          <p:nvPr/>
        </p:nvSpPr>
        <p:spPr>
          <a:xfrm>
            <a:off x="641592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7.  Exercícios +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TextBox 19"/>
          <p:cNvSpPr/>
          <p:nvPr/>
        </p:nvSpPr>
        <p:spPr>
          <a:xfrm>
            <a:off x="670860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Produto, Funcionário, ContaCorrente + quiz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problema: atributo público desprotegido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TextBox 6"/>
          <p:cNvSpPr/>
          <p:nvPr/>
        </p:nvSpPr>
        <p:spPr>
          <a:xfrm>
            <a:off x="640080" y="1371600"/>
            <a:ext cx="109112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50" spc="-1" strike="noStrike">
                <a:solidFill>
                  <a:srgbClr val="5b6b80"/>
                </a:solidFill>
                <a:latin typeface="Calibri"/>
              </a:rPr>
              <a:t>Imagine que qualquer código possa alterar o saldo diretamente...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Rectangle 7"/>
          <p:cNvSpPr/>
          <p:nvPr/>
        </p:nvSpPr>
        <p:spPr>
          <a:xfrm>
            <a:off x="640080" y="1792080"/>
            <a:ext cx="10911240" cy="10735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3" name="Rectangle 8"/>
          <p:cNvSpPr/>
          <p:nvPr/>
        </p:nvSpPr>
        <p:spPr>
          <a:xfrm>
            <a:off x="640080" y="179208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4" name="Oval 9"/>
          <p:cNvSpPr/>
          <p:nvPr/>
        </p:nvSpPr>
        <p:spPr>
          <a:xfrm>
            <a:off x="804600" y="189756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5" name="Oval 10"/>
          <p:cNvSpPr/>
          <p:nvPr/>
        </p:nvSpPr>
        <p:spPr>
          <a:xfrm>
            <a:off x="987480" y="189756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6" name="Oval 11"/>
          <p:cNvSpPr/>
          <p:nvPr/>
        </p:nvSpPr>
        <p:spPr>
          <a:xfrm>
            <a:off x="1170360" y="189756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7" name="TextBox 12"/>
          <p:cNvSpPr/>
          <p:nvPr/>
        </p:nvSpPr>
        <p:spPr>
          <a:xfrm>
            <a:off x="1353240" y="184464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ContaBancaria.java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TextBox 13"/>
          <p:cNvSpPr/>
          <p:nvPr/>
        </p:nvSpPr>
        <p:spPr>
          <a:xfrm>
            <a:off x="859680" y="2176200"/>
            <a:ext cx="104724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ContaBancaria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saldo;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público? (na verdade: acesso padrão)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Rectangle 14"/>
          <p:cNvSpPr/>
          <p:nvPr/>
        </p:nvSpPr>
        <p:spPr>
          <a:xfrm>
            <a:off x="640080" y="297612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0" name="Rectangle 15"/>
          <p:cNvSpPr/>
          <p:nvPr/>
        </p:nvSpPr>
        <p:spPr>
          <a:xfrm>
            <a:off x="640080" y="29761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1" name="TextBox 16"/>
          <p:cNvSpPr/>
          <p:nvPr/>
        </p:nvSpPr>
        <p:spPr>
          <a:xfrm>
            <a:off x="804600" y="30232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TextBox 17"/>
          <p:cNvSpPr/>
          <p:nvPr/>
        </p:nvSpPr>
        <p:spPr>
          <a:xfrm>
            <a:off x="804600" y="332352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Saldo virou -500.0  ← ESTADO INVÁLIDO!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TextBox 18"/>
          <p:cNvSpPr/>
          <p:nvPr/>
        </p:nvSpPr>
        <p:spPr>
          <a:xfrm>
            <a:off x="640080" y="3785400"/>
            <a:ext cx="109112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Qualquer parte do programa pode fazer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conta.saldo = -500;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Uma conta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nunca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deveria ficar negativa assim.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objeto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perdeu o controle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sobre o próprio estado.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solução: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encapsulamento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esconder e controlar o acesso.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Encapsulamento: o princípio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TextBox 6"/>
          <p:cNvSpPr/>
          <p:nvPr/>
        </p:nvSpPr>
        <p:spPr>
          <a:xfrm>
            <a:off x="640080" y="1371600"/>
            <a:ext cx="10911240" cy="29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Encapsulamento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esconder os detalhes internos 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controlar o acesso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aos dados.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Três objetivos principais: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Proteger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o estado (evitar valores inválidos).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Ocultar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como as coisas funcionam (simplificar o uso).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Permitir mudanças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internas sem quebrar quem usa a classe.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Na prática, em Java: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atributos ficam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`private`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(ninguém de fora acessa direto).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métodos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`get`/`set`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(ou outros métodos) fazem o acesso com regras.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como um caixa eletrônico: você usa as funções, não abre a máquina.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Modificadores de acesso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05" name="Table 6"/>
          <p:cNvGraphicFramePr/>
          <p:nvPr/>
        </p:nvGraphicFramePr>
        <p:xfrm>
          <a:off x="640080" y="1463040"/>
          <a:ext cx="10789560" cy="197388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2103120"/>
                <a:gridCol w="1920240"/>
                <a:gridCol w="2377440"/>
              </a:tblGrid>
              <a:tr h="36576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Modificador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Mesma classe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Mesmo pacote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Subclasse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Qualquer lugar</a:t>
                      </a:r>
                      <a:endParaRPr b="0" lang="pt-B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</a:tr>
              <a:tr h="40212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private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(padrão)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0212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protected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public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✓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Aplicando private + getters e setters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Rectangle 6"/>
          <p:cNvSpPr/>
          <p:nvPr/>
        </p:nvSpPr>
        <p:spPr>
          <a:xfrm>
            <a:off x="640080" y="1371600"/>
            <a:ext cx="10911240" cy="29242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Box 12"/>
          <p:cNvSpPr/>
          <p:nvPr/>
        </p:nvSpPr>
        <p:spPr>
          <a:xfrm>
            <a:off x="859680" y="1755720"/>
            <a:ext cx="10472400" cy="24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só a própria classe enxerga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GETTER: devolve o valor (leitura segura)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getNome()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SETTER: altera com regras (escrita controlada)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setNome(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Box 13"/>
          <p:cNvSpPr/>
          <p:nvPr/>
        </p:nvSpPr>
        <p:spPr>
          <a:xfrm>
            <a:off x="640080" y="447912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Convenção: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getNome()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para ler,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setNome(...)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para alterar.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De fora, usa-se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métodos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nunca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pessoa.nome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(nem compila).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IDE gera getters/setters automaticamente (Alt+Insert no IntelliJ).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validação dentro do setter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5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Setters podem rejeitar valores absurdos — é aqui que o encapsulamento brilha: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Rectangle 8"/>
          <p:cNvSpPr/>
          <p:nvPr/>
        </p:nvSpPr>
        <p:spPr>
          <a:xfrm>
            <a:off x="640080" y="1993320"/>
            <a:ext cx="10911240" cy="33141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7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8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9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0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1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Box 14"/>
          <p:cNvSpPr/>
          <p:nvPr/>
        </p:nvSpPr>
        <p:spPr>
          <a:xfrm>
            <a:off x="859680" y="2377440"/>
            <a:ext cx="10472400" cy="28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setIdade(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idade)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(idade &lt; 0)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"Idade inválida! Usando 0."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.idade = 0;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.idade = idade;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getIdade()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Box 15"/>
          <p:cNvSpPr/>
          <p:nvPr/>
        </p:nvSpPr>
        <p:spPr>
          <a:xfrm>
            <a:off x="640080" y="549072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Agora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pessoa.setIdade(-5)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corrigido pela própria classe — o estado fica sempre válido.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ContaBancaria encapsulada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0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Toda movimentação passa por métodos com regras de negócio: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Rectangle 8"/>
          <p:cNvSpPr/>
          <p:nvPr/>
        </p:nvSpPr>
        <p:spPr>
          <a:xfrm>
            <a:off x="640080" y="1993320"/>
            <a:ext cx="10911240" cy="39722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2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3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4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5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6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ContaBancaria.java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TextBox 14"/>
          <p:cNvSpPr/>
          <p:nvPr/>
        </p:nvSpPr>
        <p:spPr>
          <a:xfrm>
            <a:off x="859680" y="2377440"/>
            <a:ext cx="10472400" cy="35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ContaBancaria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saldo;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depositar(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(valor &gt; 0)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saldo = saldo + valor;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10" spc="-1" strike="noStrike">
                <a:solidFill>
                  <a:srgbClr val="ce9178"/>
                </a:solidFill>
                <a:latin typeface="Consolas"/>
              </a:rPr>
              <a:t>"Depósito inválido."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sacar(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(valor &gt; 0 &amp;&amp; valor &lt;= saldo)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saldo = saldo - valor;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;              </a:t>
            </a:r>
            <a:r>
              <a:rPr b="0" lang="en-US" sz="1010" spc="-1" strike="noStrike">
                <a:solidFill>
                  <a:srgbClr val="6a9955"/>
                </a:solidFill>
                <a:latin typeface="Consolas"/>
              </a:rPr>
              <a:t>// saque realizado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;                 </a:t>
            </a:r>
            <a:r>
              <a:rPr b="0" lang="en-US" sz="1010" spc="-1" strike="noStrike">
                <a:solidFill>
                  <a:srgbClr val="6a9955"/>
                </a:solidFill>
                <a:latin typeface="Consolas"/>
              </a:rPr>
              <a:t>// saque recusado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getSaldo()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saldo;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extBox 15"/>
          <p:cNvSpPr/>
          <p:nvPr/>
        </p:nvSpPr>
        <p:spPr>
          <a:xfrm>
            <a:off x="640080" y="61488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Quem usa a classe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não toca no saldo diretamente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só via depositar/sacar/getSaldo.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usando a ContaBancaria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5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O programa principal só conhece os métodos públicos — simples e seguro: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Rectangle 8"/>
          <p:cNvSpPr/>
          <p:nvPr/>
        </p:nvSpPr>
        <p:spPr>
          <a:xfrm>
            <a:off x="640080" y="199332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7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8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9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0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1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TesteConta.java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TextBox 14"/>
          <p:cNvSpPr/>
          <p:nvPr/>
        </p:nvSpPr>
        <p:spPr>
          <a:xfrm>
            <a:off x="859680" y="237744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TesteConta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ContaBancaria conta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ContaBancaria();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conta.depositar(1000);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ok = conta.sacar(300);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"Saque de 300: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ok);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"Saldo: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conta.getSaldo());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ok = conta.sacar(9999);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"Saque de 9999: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ok);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"Saldo: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conta.getSaldo());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Rectangle 15"/>
          <p:cNvSpPr/>
          <p:nvPr/>
        </p:nvSpPr>
        <p:spPr>
          <a:xfrm>
            <a:off x="640080" y="4593240"/>
            <a:ext cx="10911240" cy="11343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4" name="Rectangle 16"/>
          <p:cNvSpPr/>
          <p:nvPr/>
        </p:nvSpPr>
        <p:spPr>
          <a:xfrm>
            <a:off x="640080" y="45932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5" name="TextBox 17"/>
          <p:cNvSpPr/>
          <p:nvPr/>
        </p:nvSpPr>
        <p:spPr>
          <a:xfrm>
            <a:off x="804600" y="46407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Box 18"/>
          <p:cNvSpPr/>
          <p:nvPr/>
        </p:nvSpPr>
        <p:spPr>
          <a:xfrm>
            <a:off x="804600" y="4940640"/>
            <a:ext cx="1058184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Saque de 300: 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Saldo: 700.0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Saque de 9999: false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Saldo: 700.0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TextBox 19"/>
          <p:cNvSpPr/>
          <p:nvPr/>
        </p:nvSpPr>
        <p:spPr>
          <a:xfrm>
            <a:off x="640080" y="59112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saque maior que o saldo é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recusado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a regra vive dentro da classe.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1 — Classe Produto encapsulada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TextBox 6"/>
          <p:cNvSpPr/>
          <p:nvPr/>
        </p:nvSpPr>
        <p:spPr>
          <a:xfrm>
            <a:off x="640080" y="1371600"/>
            <a:ext cx="1091124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Crie a 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`Produto`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atributos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privados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preco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quantidade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Getters e setters para os três.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setter de preço,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rejeite valores negativos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(imprima aviso e mantenha o atual).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adicionarEstoque(int qtd)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boolean vender(int qtd)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(retorna false se faltar estoque).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Teste no main: vender mais do que existe deve ser recusado.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Rectangle 7"/>
          <p:cNvSpPr/>
          <p:nvPr/>
        </p:nvSpPr>
        <p:spPr>
          <a:xfrm>
            <a:off x="640080" y="3368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5" name="Rectangle 8"/>
          <p:cNvSpPr/>
          <p:nvPr/>
        </p:nvSpPr>
        <p:spPr>
          <a:xfrm>
            <a:off x="640080" y="3368160"/>
            <a:ext cx="82080" cy="7768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6" name="TextBox 9"/>
          <p:cNvSpPr/>
          <p:nvPr/>
        </p:nvSpPr>
        <p:spPr>
          <a:xfrm>
            <a:off x="877680" y="3450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Comece pelos setters simples; depois adicione a validação no setPreco.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(Classe Produto)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Rectangle 6"/>
          <p:cNvSpPr/>
          <p:nvPr/>
        </p:nvSpPr>
        <p:spPr>
          <a:xfrm>
            <a:off x="640080" y="1371600"/>
            <a:ext cx="10911240" cy="46929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3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4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5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6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7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Produto.java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TextBox 12"/>
          <p:cNvSpPr/>
          <p:nvPr/>
        </p:nvSpPr>
        <p:spPr>
          <a:xfrm>
            <a:off x="859680" y="1755720"/>
            <a:ext cx="10472400" cy="42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Produto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preco;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quantidade;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setNome(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nome) {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.nome = nome; 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getPreco() {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preco; 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setPreco(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preco)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(preco &lt; 0)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"Preço inválido! Valor mantido."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.preco = preco;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getQuantidade() {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quantidade; 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adicionarEstoque(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qtd)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quantidade = quantidade + qtd;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vender(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qtd)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(qtd &gt; 0 &amp;&amp; qtd &lt;= quantidade)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quantidade = quantidade - qtd;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TextBox 13"/>
          <p:cNvSpPr/>
          <p:nvPr/>
        </p:nvSpPr>
        <p:spPr>
          <a:xfrm>
            <a:off x="640080" y="62478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Versão compacta dos getters/setters em 1 linha — comum em código profissional.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Construtores: por que eles existem?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79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TextBox 6"/>
          <p:cNvSpPr/>
          <p:nvPr/>
        </p:nvSpPr>
        <p:spPr>
          <a:xfrm>
            <a:off x="640080" y="1371600"/>
            <a:ext cx="10911240" cy="26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Hoje criamos objeto e preenchemos 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3 passos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Produto p = new Produto();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p.setNome(...)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p.setPreco(...)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trabalhoso... e dá para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esquecer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de preencher algo.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Construtor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método especial que roda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na hora do `new`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Ele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inicializa o objeto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valores — em um único passo: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Produto p = new Produto("Caneta", 2.50, 100);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nome do construtor é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sempre o nome da classe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Construtores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não têm retorno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(nem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void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Construtor simples e construtor com parâmetros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Rectangle 6"/>
          <p:cNvSpPr/>
          <p:nvPr/>
        </p:nvSpPr>
        <p:spPr>
          <a:xfrm>
            <a:off x="640080" y="1371600"/>
            <a:ext cx="10911240" cy="31096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Box 12"/>
          <p:cNvSpPr/>
          <p:nvPr/>
        </p:nvSpPr>
        <p:spPr>
          <a:xfrm>
            <a:off x="859680" y="1755720"/>
            <a:ext cx="10472400" cy="266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9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9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6a9955"/>
                </a:solidFill>
                <a:latin typeface="Consolas"/>
              </a:rPr>
              <a:t>// Construtor SEM parâmetros (padrão)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Pessoa() {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nome = </a:t>
            </a:r>
            <a:r>
              <a:rPr b="0" lang="en-US" sz="1090" spc="-1" strike="noStrike">
                <a:solidFill>
                  <a:srgbClr val="ce9178"/>
                </a:solidFill>
                <a:latin typeface="Consolas"/>
              </a:rPr>
              <a:t>"Sem nome"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idade = 0;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6a9955"/>
                </a:solidFill>
                <a:latin typeface="Consolas"/>
              </a:rPr>
              <a:t>// Construtor COM parâmetros — mais útil!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Pessoa(</a:t>
            </a:r>
            <a:r>
              <a:rPr b="0" lang="en-US" sz="109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09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idade) {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9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.idade = idade;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9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Rectangle 13"/>
          <p:cNvSpPr/>
          <p:nvPr/>
        </p:nvSpPr>
        <p:spPr>
          <a:xfrm>
            <a:off x="640080" y="459144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9" name="Rectangle 14"/>
          <p:cNvSpPr/>
          <p:nvPr/>
        </p:nvSpPr>
        <p:spPr>
          <a:xfrm>
            <a:off x="640080" y="45914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0" name="TextBox 15"/>
          <p:cNvSpPr/>
          <p:nvPr/>
        </p:nvSpPr>
        <p:spPr>
          <a:xfrm>
            <a:off x="804600" y="46386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Box 16"/>
          <p:cNvSpPr/>
          <p:nvPr/>
        </p:nvSpPr>
        <p:spPr>
          <a:xfrm>
            <a:off x="804600" y="493884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p1: Sem nome / 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p2: Ana / 22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Box 17"/>
          <p:cNvSpPr/>
          <p:nvPr/>
        </p:nvSpPr>
        <p:spPr>
          <a:xfrm>
            <a:off x="640080" y="55702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Pessoa()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usa o 1º construtor;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Pessoa("Ana", 22)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usa o 2º.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Se você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não criar nenhum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o Java cria um construtor padrão vazio.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Se criar um com parâmetros e quiser o vazio,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precisa escrevê-lo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Sobrecarga de construtores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Rectangle 6"/>
          <p:cNvSpPr/>
          <p:nvPr/>
        </p:nvSpPr>
        <p:spPr>
          <a:xfrm>
            <a:off x="640080" y="1371600"/>
            <a:ext cx="10911240" cy="32230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Livro.java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Box 12"/>
          <p:cNvSpPr/>
          <p:nvPr/>
        </p:nvSpPr>
        <p:spPr>
          <a:xfrm>
            <a:off x="859680" y="1755720"/>
            <a:ext cx="10472400" cy="27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Livro {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7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titulo;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7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paginas;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Livro() {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(</a:t>
            </a:r>
            <a:r>
              <a:rPr b="0" lang="en-US" sz="1070" spc="-1" strike="noStrike">
                <a:solidFill>
                  <a:srgbClr val="ce9178"/>
                </a:solidFill>
                <a:latin typeface="Consolas"/>
              </a:rPr>
              <a:t>"Sem título"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, 0);   </a:t>
            </a:r>
            <a:r>
              <a:rPr b="0" lang="en-US" sz="1070" spc="-1" strike="noStrike">
                <a:solidFill>
                  <a:srgbClr val="6a9955"/>
                </a:solidFill>
                <a:latin typeface="Consolas"/>
              </a:rPr>
              <a:t>// delega ao construtor abaixo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Livro(</a:t>
            </a:r>
            <a:r>
              <a:rPr b="0" lang="en-US" sz="107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titulo) {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(titulo, 0);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Livro(</a:t>
            </a:r>
            <a:r>
              <a:rPr b="0" lang="en-US" sz="107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titulo, </a:t>
            </a:r>
            <a:r>
              <a:rPr b="0" lang="en-US" sz="107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paginas) {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.titulo = titulo;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7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.paginas = paginas;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7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Rectangle 13"/>
          <p:cNvSpPr/>
          <p:nvPr/>
        </p:nvSpPr>
        <p:spPr>
          <a:xfrm>
            <a:off x="640080" y="470484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6" name="Rectangle 14"/>
          <p:cNvSpPr/>
          <p:nvPr/>
        </p:nvSpPr>
        <p:spPr>
          <a:xfrm>
            <a:off x="640080" y="47048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7" name="TextBox 15"/>
          <p:cNvSpPr/>
          <p:nvPr/>
        </p:nvSpPr>
        <p:spPr>
          <a:xfrm>
            <a:off x="804600" y="47523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TextBox 16"/>
          <p:cNvSpPr/>
          <p:nvPr/>
        </p:nvSpPr>
        <p:spPr>
          <a:xfrm>
            <a:off x="804600" y="505224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1) Sem título / 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2) Dom Casmurro / 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3) Dom Casmurro / 256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TextBox 17"/>
          <p:cNvSpPr/>
          <p:nvPr/>
        </p:nvSpPr>
        <p:spPr>
          <a:xfrm>
            <a:off x="640080" y="585324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Sobrecarga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= vários construtores com 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mesmo 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mas assinaturas diferentes.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this(...)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chama outro construtor da mesma classe — evita repetição.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Regras da sobrecarga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TextBox 6"/>
          <p:cNvSpPr/>
          <p:nvPr/>
        </p:nvSpPr>
        <p:spPr>
          <a:xfrm>
            <a:off x="640080" y="1371600"/>
            <a:ext cx="10911240" cy="262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O que pode variar: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o número de parâmetros e/ou os tipos deles.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Exemplos válidos: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Livro()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·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Livro(String titulo)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·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Livro(String titulo, int paginas)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somar(int a, int b)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e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somar(double a, double b)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(tipos diferentes)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O que NÃO vale: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mudar apenas o tipo de retorno.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int somar(...)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e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double somar(...)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com mesmos parâmetros → erro.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Java escolhe o método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pelo que você passa na chamada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Sobrecarga deixa a classe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flexível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várias formas de usar.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Sobrecarga de métodos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Rectangle 6"/>
          <p:cNvSpPr/>
          <p:nvPr/>
        </p:nvSpPr>
        <p:spPr>
          <a:xfrm>
            <a:off x="640080" y="1371600"/>
            <a:ext cx="10911240" cy="2752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Calculadora.java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TextBox 12"/>
          <p:cNvSpPr/>
          <p:nvPr/>
        </p:nvSpPr>
        <p:spPr>
          <a:xfrm>
            <a:off x="859680" y="1755720"/>
            <a:ext cx="10472400" cy="22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Calculadora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somar(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b)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 + b;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somar(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b,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c)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 + b + c;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somar(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b)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a + b;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Rectangle 13"/>
          <p:cNvSpPr/>
          <p:nvPr/>
        </p:nvSpPr>
        <p:spPr>
          <a:xfrm>
            <a:off x="640080" y="423396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9" name="Rectangle 14"/>
          <p:cNvSpPr/>
          <p:nvPr/>
        </p:nvSpPr>
        <p:spPr>
          <a:xfrm>
            <a:off x="640080" y="42339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0" name="TextBox 15"/>
          <p:cNvSpPr/>
          <p:nvPr/>
        </p:nvSpPr>
        <p:spPr>
          <a:xfrm>
            <a:off x="804600" y="42811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TextBox 16"/>
          <p:cNvSpPr/>
          <p:nvPr/>
        </p:nvSpPr>
        <p:spPr>
          <a:xfrm>
            <a:off x="804600" y="458136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somar(2, 3)        = 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somar(2, 3, 4)     = 9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somar(1.5, 2.5)    = 4.0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TextBox 17"/>
          <p:cNvSpPr/>
          <p:nvPr/>
        </p:nvSpPr>
        <p:spPr>
          <a:xfrm>
            <a:off x="640080" y="538200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Três métodos com o mesmo nome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somar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assinaturas diferentes.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compilador decide qual usar pelo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tipo/quantidade de argumentos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classe Aluno completa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9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Construtores, encapsulamento, sobrecarga e lógica de negócio juntos: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Rectangle 8"/>
          <p:cNvSpPr/>
          <p:nvPr/>
        </p:nvSpPr>
        <p:spPr>
          <a:xfrm>
            <a:off x="640080" y="1993320"/>
            <a:ext cx="10911240" cy="39722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1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2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3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4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5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Aluno.java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TextBox 14"/>
          <p:cNvSpPr/>
          <p:nvPr/>
        </p:nvSpPr>
        <p:spPr>
          <a:xfrm>
            <a:off x="859680" y="2377440"/>
            <a:ext cx="10472400" cy="35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Aluno {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2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2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nota1, nota2;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Aluno() { }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Aluno(</a:t>
            </a:r>
            <a:r>
              <a:rPr b="0" lang="en-US" sz="92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92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nota1, </a:t>
            </a:r>
            <a:r>
              <a:rPr b="0" lang="en-US" sz="92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nota2) {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.nota1 = nota1;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.nota2 = nota2;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2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calcularMedia() {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(nota1 + nota2) / 2;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2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foiAprovado() {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calcularMedia() &gt;= 6;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2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920" spc="-1" strike="noStrike">
                <a:solidFill>
                  <a:srgbClr val="ce9178"/>
                </a:solidFill>
                <a:latin typeface="Consolas"/>
              </a:rPr>
              <a:t>" — média "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+ calcularMedia()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+ (foiAprovado() ? </a:t>
            </a:r>
            <a:r>
              <a:rPr b="0" lang="en-US" sz="920" spc="-1" strike="noStrike">
                <a:solidFill>
                  <a:srgbClr val="ce9178"/>
                </a:solidFill>
                <a:latin typeface="Consolas"/>
              </a:rPr>
              <a:t>" (aprovado)"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: </a:t>
            </a:r>
            <a:r>
              <a:rPr b="0" lang="en-US" sz="920" spc="-1" strike="noStrike">
                <a:solidFill>
                  <a:srgbClr val="ce9178"/>
                </a:solidFill>
                <a:latin typeface="Consolas"/>
              </a:rPr>
              <a:t>" (reprovado)"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));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TextBox 15"/>
          <p:cNvSpPr/>
          <p:nvPr/>
        </p:nvSpPr>
        <p:spPr>
          <a:xfrm>
            <a:off x="640080" y="61488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Um método pode chamar outro método da própria classe (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calcularMedia()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2 — Classe Funcionário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TextBox 6"/>
          <p:cNvSpPr/>
          <p:nvPr/>
        </p:nvSpPr>
        <p:spPr>
          <a:xfrm>
            <a:off x="640080" y="1371600"/>
            <a:ext cx="1091124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Crie a 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`Funcionario`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private String nome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private double salario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Dois construtores: vazio e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(String nome, double salario)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aumentarSalario(double porcentagem)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(ex.: 10 = 10%).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double calcularSalarioAnual()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(salário × 13 — inclui 13º).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main, crie 2 funcionários de formas diferentes e exiba os salários anuais.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Rectangle 7"/>
          <p:cNvSpPr/>
          <p:nvPr/>
        </p:nvSpPr>
        <p:spPr>
          <a:xfrm>
            <a:off x="640080" y="3368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5" name="Rectangle 8"/>
          <p:cNvSpPr/>
          <p:nvPr/>
        </p:nvSpPr>
        <p:spPr>
          <a:xfrm>
            <a:off x="640080" y="3368160"/>
            <a:ext cx="82080" cy="7768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6" name="TextBox 9"/>
          <p:cNvSpPr/>
          <p:nvPr/>
        </p:nvSpPr>
        <p:spPr>
          <a:xfrm>
            <a:off x="877680" y="3450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Porcentagem: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salario = salario + salario * (porcentagem / 100);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2 (Classe Funcionário)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Rectangle 6"/>
          <p:cNvSpPr/>
          <p:nvPr/>
        </p:nvSpPr>
        <p:spPr>
          <a:xfrm>
            <a:off x="640080" y="1371600"/>
            <a:ext cx="10911240" cy="46328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3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4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5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6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7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Funcionario.java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TextBox 12"/>
          <p:cNvSpPr/>
          <p:nvPr/>
        </p:nvSpPr>
        <p:spPr>
          <a:xfrm>
            <a:off x="859680" y="1755720"/>
            <a:ext cx="10472400" cy="41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Funcionario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salario;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Funcionario() { 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Funcionario(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salario)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.salario = salario;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setNome(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nome) {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.nome = nome; 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aumentarSalario(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porcentagem)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salario = salario + salario * (porcentagem / 100);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calcularSalarioAnual()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salario * 13;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0" name="TextBox 2"/>
          <p:cNvSpPr/>
          <p:nvPr/>
        </p:nvSpPr>
        <p:spPr>
          <a:xfrm>
            <a:off x="640080" y="713160"/>
            <a:ext cx="1091124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2 (Classe Funcionário — programa principal)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Rectangle 6"/>
          <p:cNvSpPr/>
          <p:nvPr/>
        </p:nvSpPr>
        <p:spPr>
          <a:xfrm>
            <a:off x="640080" y="1371600"/>
            <a:ext cx="10911240" cy="23248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TesteFuncionario.java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TextBox 12"/>
          <p:cNvSpPr/>
          <p:nvPr/>
        </p:nvSpPr>
        <p:spPr>
          <a:xfrm>
            <a:off x="859680" y="1755720"/>
            <a:ext cx="10472400" cy="18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TesteFuncionario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Funcionario ana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Funcionario(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, 3000);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Funcionario beto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Funcionario();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beto.setNome(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"Beto"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se houver setter...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ana.aumentarSalario(10);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System.out.println(ana.getNome()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": anual R$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ana.calcularSalarioAnual());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"Beto: anual R$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beto.calcularSalarioAnual());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Rectangle 13"/>
          <p:cNvSpPr/>
          <p:nvPr/>
        </p:nvSpPr>
        <p:spPr>
          <a:xfrm>
            <a:off x="640080" y="380664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2" name="Rectangle 14"/>
          <p:cNvSpPr/>
          <p:nvPr/>
        </p:nvSpPr>
        <p:spPr>
          <a:xfrm>
            <a:off x="640080" y="38066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3" name="TextBox 15"/>
          <p:cNvSpPr/>
          <p:nvPr/>
        </p:nvSpPr>
        <p:spPr>
          <a:xfrm>
            <a:off x="804600" y="38541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Box 16"/>
          <p:cNvSpPr/>
          <p:nvPr/>
        </p:nvSpPr>
        <p:spPr>
          <a:xfrm>
            <a:off x="804600" y="415404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Ana: anual R$ 42900.0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Beto: anual R$ 0.0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TextBox 17"/>
          <p:cNvSpPr/>
          <p:nvPr/>
        </p:nvSpPr>
        <p:spPr>
          <a:xfrm>
            <a:off x="640080" y="47854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Funcionario agora tem getNome/setNome (veja a resolução).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Atributo de classe: o modificador static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TextBox 6"/>
          <p:cNvSpPr/>
          <p:nvPr/>
        </p:nvSpPr>
        <p:spPr>
          <a:xfrm>
            <a:off x="640080" y="1371600"/>
            <a:ext cx="10911240" cy="23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Até agora,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cada objeto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tem sua própria cópia dos atributos.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Às vezes o valor deve ser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compartilhado por toda a classe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contador de quantos objetos foram criados,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configuração global (taxa, versão do sistema).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static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o atributo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pertence à classe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não ao objeto.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Acessamos: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Classe.atributo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sem precisar de objeto.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Existe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uma única cópia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na memória, compartilhada.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contando objetos criados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89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8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Cada vez que um Usuario é criado, o contador estático aumenta: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Rectangle 8"/>
          <p:cNvSpPr/>
          <p:nvPr/>
        </p:nvSpPr>
        <p:spPr>
          <a:xfrm>
            <a:off x="640080" y="1993320"/>
            <a:ext cx="10911240" cy="2752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0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1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2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3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4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Usuario.java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TextBox 14"/>
          <p:cNvSpPr/>
          <p:nvPr/>
        </p:nvSpPr>
        <p:spPr>
          <a:xfrm>
            <a:off x="859680" y="2377440"/>
            <a:ext cx="10472400" cy="22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Usuario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totalUsuarios = 0;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da CLASSE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Usuario(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totalUsuarios++;             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incrementa o compartilhado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getTotalUsuarios()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totalUsuarios;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Rectangle 15"/>
          <p:cNvSpPr/>
          <p:nvPr/>
        </p:nvSpPr>
        <p:spPr>
          <a:xfrm>
            <a:off x="640080" y="485568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7" name="Rectangle 16"/>
          <p:cNvSpPr/>
          <p:nvPr/>
        </p:nvSpPr>
        <p:spPr>
          <a:xfrm>
            <a:off x="640080" y="48556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8" name="TextBox 17"/>
          <p:cNvSpPr/>
          <p:nvPr/>
        </p:nvSpPr>
        <p:spPr>
          <a:xfrm>
            <a:off x="804600" y="49032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TextBox 18"/>
          <p:cNvSpPr/>
          <p:nvPr/>
        </p:nvSpPr>
        <p:spPr>
          <a:xfrm>
            <a:off x="804600" y="520308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Criado: Ana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Criado: Beto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Total de usuários: 2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TextBox 19"/>
          <p:cNvSpPr/>
          <p:nvPr/>
        </p:nvSpPr>
        <p:spPr>
          <a:xfrm>
            <a:off x="640080" y="60040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main: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Usuario u1 = new Usuario("Ana"); ... System.out.println(Usuario.getTotalUsuarios());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Constantes: final + static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Rectangle 6"/>
          <p:cNvSpPr/>
          <p:nvPr/>
        </p:nvSpPr>
        <p:spPr>
          <a:xfrm>
            <a:off x="640080" y="1371600"/>
            <a:ext cx="10911240" cy="15458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7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8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9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0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1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Configuracoes.java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TextBox 12"/>
          <p:cNvSpPr/>
          <p:nvPr/>
        </p:nvSpPr>
        <p:spPr>
          <a:xfrm>
            <a:off x="859680" y="1755720"/>
            <a:ext cx="10472400" cy="10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Configuracoes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constante de classe: valor fixo, maiúsculo, acessível sem objeto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final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TAXA_JUROS = 0.02;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final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MAX_TENTATIVAS = 3;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final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NOME_SISTEMA =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"Sistema Escolar"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Rectangle 13"/>
          <p:cNvSpPr/>
          <p:nvPr/>
        </p:nvSpPr>
        <p:spPr>
          <a:xfrm>
            <a:off x="640080" y="302760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4" name="Rectangle 14"/>
          <p:cNvSpPr/>
          <p:nvPr/>
        </p:nvSpPr>
        <p:spPr>
          <a:xfrm>
            <a:off x="640080" y="302760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5" name="TextBox 15"/>
          <p:cNvSpPr/>
          <p:nvPr/>
        </p:nvSpPr>
        <p:spPr>
          <a:xfrm>
            <a:off x="804600" y="30747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TextBox 16"/>
          <p:cNvSpPr/>
          <p:nvPr/>
        </p:nvSpPr>
        <p:spPr>
          <a:xfrm>
            <a:off x="804600" y="337500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Bem-vindo ao Sistema Escolar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Tentativas permitidas: 3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TextBox 17"/>
          <p:cNvSpPr/>
          <p:nvPr/>
        </p:nvSpPr>
        <p:spPr>
          <a:xfrm>
            <a:off x="640080" y="400644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final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o valor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não pode mudar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depois de atribuído.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static final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constante da classe (padrão: UPPER_SNAKE_CASE).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Uso: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Configuracoes.TAXA_JUROS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direto, sem objeto.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Métodos estáticos: chamados sem objeto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Rectangle 6"/>
          <p:cNvSpPr/>
          <p:nvPr/>
        </p:nvSpPr>
        <p:spPr>
          <a:xfrm>
            <a:off x="640080" y="1371600"/>
            <a:ext cx="10911240" cy="22352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4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5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6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7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8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Util.java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TextBox 12"/>
          <p:cNvSpPr/>
          <p:nvPr/>
        </p:nvSpPr>
        <p:spPr>
          <a:xfrm>
            <a:off x="859680" y="1755720"/>
            <a:ext cx="1047240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Util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método estático: não precisa de objeto para chamar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converterKmParaMilhas(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km)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km * 0.621371;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ehPar(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numero)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numero % 2 == 0;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Rectangle 13"/>
          <p:cNvSpPr/>
          <p:nvPr/>
        </p:nvSpPr>
        <p:spPr>
          <a:xfrm>
            <a:off x="640080" y="371664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1" name="Rectangle 14"/>
          <p:cNvSpPr/>
          <p:nvPr/>
        </p:nvSpPr>
        <p:spPr>
          <a:xfrm>
            <a:off x="640080" y="37166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2" name="TextBox 15"/>
          <p:cNvSpPr/>
          <p:nvPr/>
        </p:nvSpPr>
        <p:spPr>
          <a:xfrm>
            <a:off x="804600" y="37641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TextBox 16"/>
          <p:cNvSpPr/>
          <p:nvPr/>
        </p:nvSpPr>
        <p:spPr>
          <a:xfrm>
            <a:off x="804600" y="406440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10 km = 6.21371 milhas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42 é par? 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TextBox 17"/>
          <p:cNvSpPr/>
          <p:nvPr/>
        </p:nvSpPr>
        <p:spPr>
          <a:xfrm>
            <a:off x="640080" y="469584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Chamada: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Util.ehPar(42)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sem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Math.PI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Math.sqrt(...)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são estáticos — você já usava!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main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estático: roda sem precisar criar a própria classe.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Objetos como parâmetros (e retornos)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Rectangle 6"/>
          <p:cNvSpPr/>
          <p:nvPr/>
        </p:nvSpPr>
        <p:spPr>
          <a:xfrm>
            <a:off x="640080" y="1371600"/>
            <a:ext cx="10911240" cy="36586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ContaBancaria.java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TextBox 12"/>
          <p:cNvSpPr/>
          <p:nvPr/>
        </p:nvSpPr>
        <p:spPr>
          <a:xfrm>
            <a:off x="859680" y="1755720"/>
            <a:ext cx="10472400" cy="31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ContaBancaria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titular;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saldo;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recebe OUTRO OBJETO como parâmetro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transferir(ContaBancaria destino,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(sacar(valor)) {         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saca da própria conta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destino.depositar(valor);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deposita na outra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depositar(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valor) { saldo += valor;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sacar(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(valor &gt; 0 &amp;&amp; valor &lt;= saldo) { saldo -= valor;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getSaldo() {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saldo;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Rectangle 13"/>
          <p:cNvSpPr/>
          <p:nvPr/>
        </p:nvSpPr>
        <p:spPr>
          <a:xfrm>
            <a:off x="640080" y="514044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8" name="Rectangle 14"/>
          <p:cNvSpPr/>
          <p:nvPr/>
        </p:nvSpPr>
        <p:spPr>
          <a:xfrm>
            <a:off x="640080" y="51404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9" name="TextBox 15"/>
          <p:cNvSpPr/>
          <p:nvPr/>
        </p:nvSpPr>
        <p:spPr>
          <a:xfrm>
            <a:off x="804600" y="51879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TextBox 16"/>
          <p:cNvSpPr/>
          <p:nvPr/>
        </p:nvSpPr>
        <p:spPr>
          <a:xfrm>
            <a:off x="804600" y="548784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Ana: R$ 700.0 | Beto: R$ 1300.0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TextBox 17"/>
          <p:cNvSpPr/>
          <p:nvPr/>
        </p:nvSpPr>
        <p:spPr>
          <a:xfrm>
            <a:off x="640080" y="59500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main: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ana.transferir(beto, 300);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objetos interagem entre si.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== versus equals: cuidado com objetos!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Rectangle 6"/>
          <p:cNvSpPr/>
          <p:nvPr/>
        </p:nvSpPr>
        <p:spPr>
          <a:xfrm>
            <a:off x="640080" y="137160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Comparacao.java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TextBox 12"/>
          <p:cNvSpPr/>
          <p:nvPr/>
        </p:nvSpPr>
        <p:spPr>
          <a:xfrm>
            <a:off x="859680" y="175572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Comparacao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System.out.println(a == b);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false! compara referências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System.out.println(a.equals(b));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true! compara conteúdo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x = 5, y = 5;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System.out.println(x == y);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true (primitivos: valor)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Rectangle 13"/>
          <p:cNvSpPr/>
          <p:nvPr/>
        </p:nvSpPr>
        <p:spPr>
          <a:xfrm>
            <a:off x="640080" y="397152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5" name="Rectangle 14"/>
          <p:cNvSpPr/>
          <p:nvPr/>
        </p:nvSpPr>
        <p:spPr>
          <a:xfrm>
            <a:off x="640080" y="39715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6" name="TextBox 15"/>
          <p:cNvSpPr/>
          <p:nvPr/>
        </p:nvSpPr>
        <p:spPr>
          <a:xfrm>
            <a:off x="804600" y="40190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TextBox 16"/>
          <p:cNvSpPr/>
          <p:nvPr/>
        </p:nvSpPr>
        <p:spPr>
          <a:xfrm>
            <a:off x="804600" y="431892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false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TextBox 17"/>
          <p:cNvSpPr/>
          <p:nvPr/>
        </p:nvSpPr>
        <p:spPr>
          <a:xfrm>
            <a:off x="640080" y="511992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==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compara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endereço de memória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em objetos.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.equals(...)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compara 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conteúdo/valor lógico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Para primitivos (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int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...)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==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compara valores — ok.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toString: como o objeto 'se descreve'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Rectangle 6"/>
          <p:cNvSpPr/>
          <p:nvPr/>
        </p:nvSpPr>
        <p:spPr>
          <a:xfrm>
            <a:off x="640080" y="1371600"/>
            <a:ext cx="10911240" cy="29242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TextBox 12"/>
          <p:cNvSpPr/>
          <p:nvPr/>
        </p:nvSpPr>
        <p:spPr>
          <a:xfrm>
            <a:off x="859680" y="1755720"/>
            <a:ext cx="10472400" cy="24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Pessoa(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idade)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.idade = idade;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toString()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"Pessoa{nome='"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nome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"', idade="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idade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"}"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Rectangle 13"/>
          <p:cNvSpPr/>
          <p:nvPr/>
        </p:nvSpPr>
        <p:spPr>
          <a:xfrm>
            <a:off x="640080" y="440604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2" name="Rectangle 14"/>
          <p:cNvSpPr/>
          <p:nvPr/>
        </p:nvSpPr>
        <p:spPr>
          <a:xfrm>
            <a:off x="640080" y="44060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3" name="TextBox 15"/>
          <p:cNvSpPr/>
          <p:nvPr/>
        </p:nvSpPr>
        <p:spPr>
          <a:xfrm>
            <a:off x="804600" y="44535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TextBox 16"/>
          <p:cNvSpPr/>
          <p:nvPr/>
        </p:nvSpPr>
        <p:spPr>
          <a:xfrm>
            <a:off x="804600" y="475344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Pessoa{nome='Ana', idade=22}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TextBox 17"/>
          <p:cNvSpPr/>
          <p:nvPr/>
        </p:nvSpPr>
        <p:spPr>
          <a:xfrm>
            <a:off x="640080" y="52156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toString()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define 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texto padrão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do objeto.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Basta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System.out.println(pessoa);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o Java chama o toString.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Sem ele, você vê algo como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Pessoa@3f200a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 completo: estoque com encapsulamento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2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Cadastro de produtos com preço, estoque e impressão formatada: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Rectangle 8"/>
          <p:cNvSpPr/>
          <p:nvPr/>
        </p:nvSpPr>
        <p:spPr>
          <a:xfrm>
            <a:off x="640080" y="199332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4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5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6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7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8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TesteEstoque.java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TextBox 14"/>
          <p:cNvSpPr/>
          <p:nvPr/>
        </p:nvSpPr>
        <p:spPr>
          <a:xfrm>
            <a:off x="859680" y="237744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TesteEstoque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Produto caneta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Produto();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caneta.setNome(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"Caneta azul"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caneta.setPreco(2.50);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caneta.adicionarEstoque(100);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System.out.println(caneta.getNome()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custa R$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caneta.getPreco());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vendeu = caneta.vender(50);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"Vendeu 50?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vendeu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— sobraram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caneta.getQuantidade()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"?"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Rectangle 15"/>
          <p:cNvSpPr/>
          <p:nvPr/>
        </p:nvSpPr>
        <p:spPr>
          <a:xfrm>
            <a:off x="640080" y="459324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1" name="Rectangle 16"/>
          <p:cNvSpPr/>
          <p:nvPr/>
        </p:nvSpPr>
        <p:spPr>
          <a:xfrm>
            <a:off x="640080" y="45932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2" name="TextBox 17"/>
          <p:cNvSpPr/>
          <p:nvPr/>
        </p:nvSpPr>
        <p:spPr>
          <a:xfrm>
            <a:off x="804600" y="46407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TextBox 18"/>
          <p:cNvSpPr/>
          <p:nvPr/>
        </p:nvSpPr>
        <p:spPr>
          <a:xfrm>
            <a:off x="804600" y="494064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Caneta azul custa R$ 2.5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Vendeu 50? true — sobraram 50?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TextBox 19"/>
          <p:cNvSpPr/>
          <p:nvPr/>
        </p:nvSpPr>
        <p:spPr>
          <a:xfrm>
            <a:off x="640080" y="55720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Usa a classe Produto resolvida no Exercício 1 (com getters).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3 — Integrador: ContaCorrente com transferência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TextBox 6"/>
          <p:cNvSpPr/>
          <p:nvPr/>
        </p:nvSpPr>
        <p:spPr>
          <a:xfrm>
            <a:off x="640080" y="1371600"/>
            <a:ext cx="1091124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Crie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`ContaCorrente`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private String titular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private double saldo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Construtor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ContaCorrente(String titular, double saldoInicial)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Métodos: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depositar(double)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sacar(double)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(sem deixar negativo),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getSaldo()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boolean transferir(ContaCorrente destino, double valor)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main, crie 2 contas, transfira e mostre os saldos finais.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Rectangle 7"/>
          <p:cNvSpPr/>
          <p:nvPr/>
        </p:nvSpPr>
        <p:spPr>
          <a:xfrm>
            <a:off x="640080" y="3368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2" name="Rectangle 8"/>
          <p:cNvSpPr/>
          <p:nvPr/>
        </p:nvSpPr>
        <p:spPr>
          <a:xfrm>
            <a:off x="640080" y="3368160"/>
            <a:ext cx="82080" cy="7768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3" name="TextBox 9"/>
          <p:cNvSpPr/>
          <p:nvPr/>
        </p:nvSpPr>
        <p:spPr>
          <a:xfrm>
            <a:off x="877680" y="3450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transferir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deve usar os métodos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sacar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depositar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do próprio objeto e do destino.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(ContaCorrente)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Rectangle 6"/>
          <p:cNvSpPr/>
          <p:nvPr/>
        </p:nvSpPr>
        <p:spPr>
          <a:xfrm>
            <a:off x="640080" y="1371600"/>
            <a:ext cx="10911240" cy="47602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0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1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2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3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4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ContaCorrente.java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TextBox 12"/>
          <p:cNvSpPr/>
          <p:nvPr/>
        </p:nvSpPr>
        <p:spPr>
          <a:xfrm>
            <a:off x="859680" y="1755720"/>
            <a:ext cx="10472400" cy="43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ContaCorrente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titular;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saldo;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ContaCorrente(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titular,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saldoInicial)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.titular = titular;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.saldo = saldoInicial;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depositar(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(valor &gt; 0) saldo += valor;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sacar(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(valor &gt; 0 &amp;&amp; valor &lt;= saldo)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saldo -= valor;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transferir(ContaCorrente destino,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(sacar(valor))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destino.depositar(valor);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getSaldo() {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saldo;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getTitular() {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titular;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(ContaCorrente — teste)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Rectangle 6"/>
          <p:cNvSpPr/>
          <p:nvPr/>
        </p:nvSpPr>
        <p:spPr>
          <a:xfrm>
            <a:off x="640080" y="1371600"/>
            <a:ext cx="10911240" cy="2572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TesteTransferencia.java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TextBox 12"/>
          <p:cNvSpPr/>
          <p:nvPr/>
        </p:nvSpPr>
        <p:spPr>
          <a:xfrm>
            <a:off x="859680" y="1755720"/>
            <a:ext cx="10472400" cy="20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TesteTransferencia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ContaCorrente ana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ContaCorrente(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, 1000);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ContaCorrente beto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ContaCorrente(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"Beto"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, 500);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ok = ana.transferir(beto, 350);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"Transferência: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ok);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System.out.println(ana.getTitular()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": R$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ana.getSaldo());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System.out.println(beto.getTitular() + 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": R$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beto.getSaldo());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Rectangle 13"/>
          <p:cNvSpPr/>
          <p:nvPr/>
        </p:nvSpPr>
        <p:spPr>
          <a:xfrm>
            <a:off x="640080" y="405396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9" name="Rectangle 14"/>
          <p:cNvSpPr/>
          <p:nvPr/>
        </p:nvSpPr>
        <p:spPr>
          <a:xfrm>
            <a:off x="640080" y="40539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0" name="TextBox 15"/>
          <p:cNvSpPr/>
          <p:nvPr/>
        </p:nvSpPr>
        <p:spPr>
          <a:xfrm>
            <a:off x="804600" y="41014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TextBox 16"/>
          <p:cNvSpPr/>
          <p:nvPr/>
        </p:nvSpPr>
        <p:spPr>
          <a:xfrm>
            <a:off x="804600" y="440136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Transferência: 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Ana: R$ 650.0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Beto: R$ 850.0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Erros comuns do Módulo 2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99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Rectangle 6"/>
          <p:cNvSpPr/>
          <p:nvPr/>
        </p:nvSpPr>
        <p:spPr>
          <a:xfrm>
            <a:off x="640080" y="137160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Erros.java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TextBox 12"/>
          <p:cNvSpPr/>
          <p:nvPr/>
        </p:nvSpPr>
        <p:spPr>
          <a:xfrm>
            <a:off x="859680" y="175572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ERRO 1: atributo private acessado de fora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Pessoa p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Pessoa();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p.nome =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  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não compila! (nome é private)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p.setNome(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certo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ERRO 2: esquecer return em método que devolve valor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calcular()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0; }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todo caminho precisa de return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ERRO 3: variável local com mesmo nome escondendo o atributo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testar(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nome = nome;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não faz nada! faltou this.nome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TextBox 13"/>
          <p:cNvSpPr/>
          <p:nvPr/>
        </p:nvSpPr>
        <p:spPr>
          <a:xfrm>
            <a:off x="640080" y="404460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Private é do objeto: só métodos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da própria classe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acessam.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Se o método 'devolve' valor e não tem return em algum caminho → erro.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nome = 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é inútil — use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this.nome = 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Boas práticas de classes e métodos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TextBox 6"/>
          <p:cNvSpPr/>
          <p:nvPr/>
        </p:nvSpPr>
        <p:spPr>
          <a:xfrm>
            <a:off x="640080" y="1371600"/>
            <a:ext cx="109112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Atributos privados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por padrão; expor apenas o necessário.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Validar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nos setters e nos métodos que mudam o estado.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Construtores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para garantir objetos sempre válidos.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Métodos pequenos e com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uma responsabilidade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só.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Nomes de métodos =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verbos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calcularMedia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vender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exibir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Use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this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para deixar claro que se refere ao atributo.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toString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para facilitar a impressão e o debug.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Resumo do Módulo 2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Rectangle 6"/>
          <p:cNvSpPr/>
          <p:nvPr/>
        </p:nvSpPr>
        <p:spPr>
          <a:xfrm>
            <a:off x="640080" y="1261800"/>
            <a:ext cx="10911240" cy="45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7" name="TextBox 7"/>
          <p:cNvSpPr/>
          <p:nvPr/>
        </p:nvSpPr>
        <p:spPr>
          <a:xfrm>
            <a:off x="640080" y="1536120"/>
            <a:ext cx="10911240" cy="23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Encapsulamento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private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nos atributos + métodos públicos controlam o acesso.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Getters/setters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leem e alteram com validação.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Construtor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inicializa o objeto no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new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;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sobrecarga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= várias assinaturas.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this()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chama outro construtor;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this.atributo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desambigua.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`static`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pertence à classe (contador, constantes, métodos utilitários).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Objetos podem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receber outros objetos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 devolvê-los (transferência).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Compare conteúdo com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`equals`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não com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==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; use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`toString`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2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Checkpoint rápido — Módulo 2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TextBox 6"/>
          <p:cNvSpPr/>
          <p:nvPr/>
        </p:nvSpPr>
        <p:spPr>
          <a:xfrm>
            <a:off x="640080" y="1371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1.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Qual modificador protege um atributo de acesso externo?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TextBox 7"/>
          <p:cNvSpPr/>
          <p:nvPr/>
        </p:nvSpPr>
        <p:spPr>
          <a:xfrm>
            <a:off x="1005840" y="1755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public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private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final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TextBox 8"/>
          <p:cNvSpPr/>
          <p:nvPr/>
        </p:nvSpPr>
        <p:spPr>
          <a:xfrm>
            <a:off x="640080" y="279792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2.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Construtor é: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TextBox 9"/>
          <p:cNvSpPr/>
          <p:nvPr/>
        </p:nvSpPr>
        <p:spPr>
          <a:xfrm>
            <a:off x="1005840" y="318204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Um método sem retorno com o nome da classe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Um tipo de variável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Um loop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TextBox 10"/>
          <p:cNvSpPr/>
          <p:nvPr/>
        </p:nvSpPr>
        <p:spPr>
          <a:xfrm>
            <a:off x="640080" y="4224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3.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 que significa sobrecarga?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TextBox 11"/>
          <p:cNvSpPr/>
          <p:nvPr/>
        </p:nvSpPr>
        <p:spPr>
          <a:xfrm>
            <a:off x="1005840" y="4608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Herdar de outra classe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Vários métodos com o mesmo nome e assinaturas diferentes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Métodos com retorno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Rectangle 12"/>
          <p:cNvSpPr/>
          <p:nvPr/>
        </p:nvSpPr>
        <p:spPr>
          <a:xfrm>
            <a:off x="640080" y="5961960"/>
            <a:ext cx="10911240" cy="36540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0" name="TextBox 13"/>
          <p:cNvSpPr/>
          <p:nvPr/>
        </p:nvSpPr>
        <p:spPr>
          <a:xfrm>
            <a:off x="804600" y="6054120"/>
            <a:ext cx="10581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6672"/>
                </a:solidFill>
                <a:latin typeface="Calibri"/>
              </a:rPr>
              <a:t>Gabarito:</a:t>
            </a:r>
            <a:r>
              <a:rPr b="0" lang="en-US" sz="1300" spc="-1" strike="noStrike">
                <a:solidFill>
                  <a:srgbClr val="0b6672"/>
                </a:solidFill>
                <a:latin typeface="Calibri"/>
              </a:rPr>
              <a:t> 1→B, 2→A, 3→B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2" name="Oval 2"/>
          <p:cNvSpPr/>
          <p:nvPr/>
        </p:nvSpPr>
        <p:spPr>
          <a:xfrm>
            <a:off x="8778240" y="-2377440"/>
            <a:ext cx="5943240" cy="594324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3" name="Oval 3"/>
          <p:cNvSpPr/>
          <p:nvPr/>
        </p:nvSpPr>
        <p:spPr>
          <a:xfrm>
            <a:off x="10149840" y="-1737360"/>
            <a:ext cx="4663080" cy="4663080"/>
          </a:xfrm>
          <a:prstGeom prst="ellipse">
            <a:avLst/>
          </a:prstGeom>
          <a:noFill/>
          <a:ln w="31680">
            <a:solidFill>
              <a:srgbClr val="ffff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4" name="TextBox 4"/>
          <p:cNvSpPr/>
          <p:nvPr/>
        </p:nvSpPr>
        <p:spPr>
          <a:xfrm>
            <a:off x="10058400" y="320040"/>
            <a:ext cx="22856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pt-B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TextBox 5"/>
          <p:cNvSpPr/>
          <p:nvPr/>
        </p:nvSpPr>
        <p:spPr>
          <a:xfrm>
            <a:off x="914400" y="2148840"/>
            <a:ext cx="9600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Módulo 3 · 6 horas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TextBox 6"/>
          <p:cNvSpPr/>
          <p:nvPr/>
        </p:nvSpPr>
        <p:spPr>
          <a:xfrm>
            <a:off x="914400" y="2606040"/>
            <a:ext cx="100580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Relacionamentos entre classes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TextBox 7"/>
          <p:cNvSpPr/>
          <p:nvPr/>
        </p:nvSpPr>
        <p:spPr>
          <a:xfrm>
            <a:off x="914400" y="3703320"/>
            <a:ext cx="8960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0f4f8"/>
                </a:solidFill>
                <a:latin typeface="Calibri"/>
              </a:rPr>
              <a:t>Objetos que trabalham juntos: composição, listas e coleções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Rectangle 8"/>
          <p:cNvSpPr/>
          <p:nvPr/>
        </p:nvSpPr>
        <p:spPr>
          <a:xfrm>
            <a:off x="914400" y="4343400"/>
            <a:ext cx="2377080" cy="5436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9" name="TextBox 9"/>
          <p:cNvSpPr/>
          <p:nvPr/>
        </p:nvSpPr>
        <p:spPr>
          <a:xfrm>
            <a:off x="914400" y="4617720"/>
            <a:ext cx="7863480" cy="15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Entender associação, agregação e composição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Armazenar objetos em arrays e ArrayList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Percorrer listas com for-each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Dominar a classe String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Usar enum para valores fixos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Construir um mini-sistema escolar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TextBox 10"/>
          <p:cNvSpPr/>
          <p:nvPr/>
        </p:nvSpPr>
        <p:spPr>
          <a:xfrm>
            <a:off x="914400" y="6355080"/>
            <a:ext cx="7314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Curso 40h · Programação Orientada a Objetos com Java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Agenda do módulo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TextBox 6"/>
          <p:cNvSpPr/>
          <p:nvPr/>
        </p:nvSpPr>
        <p:spPr>
          <a:xfrm>
            <a:off x="64008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1.  Por que objetos se relacionam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TextBox 7"/>
          <p:cNvSpPr/>
          <p:nvPr/>
        </p:nvSpPr>
        <p:spPr>
          <a:xfrm>
            <a:off x="93276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Sistemas = rede de objetos trabalhando juntos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TextBox 8"/>
          <p:cNvSpPr/>
          <p:nvPr/>
        </p:nvSpPr>
        <p:spPr>
          <a:xfrm>
            <a:off x="64008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2.  Tipos de relacionamento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TextBox 9"/>
          <p:cNvSpPr/>
          <p:nvPr/>
        </p:nvSpPr>
        <p:spPr>
          <a:xfrm>
            <a:off x="93276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Associação, agregação, composição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TextBox 10"/>
          <p:cNvSpPr/>
          <p:nvPr/>
        </p:nvSpPr>
        <p:spPr>
          <a:xfrm>
            <a:off x="64008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3.  Guardando objetos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TextBox 11"/>
          <p:cNvSpPr/>
          <p:nvPr/>
        </p:nvSpPr>
        <p:spPr>
          <a:xfrm>
            <a:off x="93276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Array de objetos, ArrayList, for-each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TextBox 12"/>
          <p:cNvSpPr/>
          <p:nvPr/>
        </p:nvSpPr>
        <p:spPr>
          <a:xfrm>
            <a:off x="641592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4.  String e enum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TextBox 13"/>
          <p:cNvSpPr/>
          <p:nvPr/>
        </p:nvSpPr>
        <p:spPr>
          <a:xfrm>
            <a:off x="670860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Métodos essenciais de String, enums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TextBox 14"/>
          <p:cNvSpPr/>
          <p:nvPr/>
        </p:nvSpPr>
        <p:spPr>
          <a:xfrm>
            <a:off x="641592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5.  Exercícios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TextBox 15"/>
          <p:cNvSpPr/>
          <p:nvPr/>
        </p:nvSpPr>
        <p:spPr>
          <a:xfrm>
            <a:off x="670860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Turma de alunos, agenda de contatos, pedidos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TextBox 16"/>
          <p:cNvSpPr/>
          <p:nvPr/>
        </p:nvSpPr>
        <p:spPr>
          <a:xfrm>
            <a:off x="641592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6.  Resumo + quiz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TextBox 17"/>
          <p:cNvSpPr/>
          <p:nvPr/>
        </p:nvSpPr>
        <p:spPr>
          <a:xfrm>
            <a:off x="670860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Pontos-chave e verificação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Sistemas reais são redes de objetos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TextBox 6"/>
          <p:cNvSpPr/>
          <p:nvPr/>
        </p:nvSpPr>
        <p:spPr>
          <a:xfrm>
            <a:off x="640080" y="1371600"/>
            <a:ext cx="10911240" cy="26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Um sistema escolar tem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Professor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Turma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Disciplina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...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Esses conceitos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se relacionam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uma Turma tem alunos, um Professor ministra Disciplinas.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Na POO, modelamos isso fazendo classes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se referenciarem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umas às outras.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Um atributo pode ser de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outra classe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private Professor professor;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dentro da classe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Turma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Um atributo pode ser uma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lista de objetos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private ArrayList&lt;Aluno&gt; alunos;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dentro da classe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Turma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assim que pequenos blocos viram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sistemas grandes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Associação, agregação e composição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49" name="Table 6"/>
          <p:cNvGraphicFramePr/>
          <p:nvPr/>
        </p:nvGraphicFramePr>
        <p:xfrm>
          <a:off x="640080" y="1463040"/>
          <a:ext cx="10881000" cy="208332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  <a:gridCol w="2651760"/>
              </a:tblGrid>
              <a:tr h="38376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  <a:endParaRPr b="0" lang="pt-B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Ideia</a:t>
                      </a:r>
                      <a:endParaRPr b="0" lang="pt-B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Exemplo</a:t>
                      </a:r>
                      <a:endParaRPr b="0" lang="pt-B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Vida independente?</a:t>
                      </a:r>
                      <a:endParaRPr b="0" lang="pt-B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2777"/>
                    </a:solidFill>
                  </a:tcPr>
                </a:tc>
              </a:tr>
              <a:tr h="56664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Associação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objetos se conhecem e se usam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Aluno usa Caderno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Sim, total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Agregação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tem-um fraco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Carro tem Motor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Sim — o motor existe sem o carro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566640"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Composição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tem-um forte, parte-todo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Casa tem Comodos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Não — sem casa, sem comodos</a:t>
                      </a:r>
                      <a:endParaRPr b="0" lang="pt-B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associação — objetos que se usam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6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Um Aluno conhece sua Cidade; a Cidade não depende do Aluno: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Rectangle 8"/>
          <p:cNvSpPr/>
          <p:nvPr/>
        </p:nvSpPr>
        <p:spPr>
          <a:xfrm>
            <a:off x="640080" y="1993320"/>
            <a:ext cx="10911240" cy="26546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8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9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0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1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2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Aluno.java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TextBox 14"/>
          <p:cNvSpPr/>
          <p:nvPr/>
        </p:nvSpPr>
        <p:spPr>
          <a:xfrm>
            <a:off x="859680" y="2377440"/>
            <a:ext cx="10472400" cy="21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Cidade cidade;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atributo de OUTRA classe!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nome, Cidade cidade)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.cidade = cidade;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mora em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cidade.getNome());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TextBox 15"/>
          <p:cNvSpPr/>
          <p:nvPr/>
        </p:nvSpPr>
        <p:spPr>
          <a:xfrm>
            <a:off x="640080" y="48312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Para criar: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Aluno("Ana", new Cidade("Londrina"))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Agregação: Carro tem Motor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Rectangle 6"/>
          <p:cNvSpPr/>
          <p:nvPr/>
        </p:nvSpPr>
        <p:spPr>
          <a:xfrm>
            <a:off x="640080" y="1371600"/>
            <a:ext cx="10911240" cy="36586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Carro.java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TextBox 12"/>
          <p:cNvSpPr/>
          <p:nvPr/>
        </p:nvSpPr>
        <p:spPr>
          <a:xfrm>
            <a:off x="859680" y="1755720"/>
            <a:ext cx="10472400" cy="31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Motor {            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auxiliar no mesmo arquivo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potencia;  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em cavalos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Motor(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potencia) {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.potencia = potencia;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getPotencia() {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potencia;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Carro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modelo;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Motor motor;   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agregação: Carro TEM Motor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Carro(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modelo, Motor motor)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.modelo = modelo;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.motor = motor; 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motor veio pronto de fora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System.out.println(modelo +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 com motor de "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+ motor.getPotencia() +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 cv"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Rectangle 13"/>
          <p:cNvSpPr/>
          <p:nvPr/>
        </p:nvSpPr>
        <p:spPr>
          <a:xfrm>
            <a:off x="640080" y="514044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8" name="Rectangle 14"/>
          <p:cNvSpPr/>
          <p:nvPr/>
        </p:nvSpPr>
        <p:spPr>
          <a:xfrm>
            <a:off x="640080" y="51404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9" name="TextBox 15"/>
          <p:cNvSpPr/>
          <p:nvPr/>
        </p:nvSpPr>
        <p:spPr>
          <a:xfrm>
            <a:off x="804600" y="51879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TextBox 16"/>
          <p:cNvSpPr/>
          <p:nvPr/>
        </p:nvSpPr>
        <p:spPr>
          <a:xfrm>
            <a:off x="804600" y="548784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Fusca com motor de 65 cv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TextBox 17"/>
          <p:cNvSpPr/>
          <p:nvPr/>
        </p:nvSpPr>
        <p:spPr>
          <a:xfrm>
            <a:off x="640080" y="59500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Motor pode ser criado antes e passado: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Carro("Fusca", new Motor(65))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Composição: Casa tem Comodos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109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Rectangle 6"/>
          <p:cNvSpPr/>
          <p:nvPr/>
        </p:nvSpPr>
        <p:spPr>
          <a:xfrm>
            <a:off x="640080" y="1371600"/>
            <a:ext cx="10911240" cy="35060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Casa.java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TextBox 12"/>
          <p:cNvSpPr/>
          <p:nvPr/>
        </p:nvSpPr>
        <p:spPr>
          <a:xfrm>
            <a:off x="859680" y="1755720"/>
            <a:ext cx="10472400" cy="30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Comodo {                   </a:t>
            </a:r>
            <a:r>
              <a:rPr b="0" lang="en-US" sz="910" spc="-1" strike="noStrike">
                <a:solidFill>
                  <a:srgbClr val="6a9955"/>
                </a:solidFill>
                <a:latin typeface="Consolas"/>
              </a:rPr>
              <a:t>// auxiliar no mesmo arquivo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1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Comodo(</a:t>
            </a:r>
            <a:r>
              <a:rPr b="0" lang="en-US" sz="91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nome) {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.nome = nome; 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1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Casa {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Comodo[] comodos;      </a:t>
            </a:r>
            <a:r>
              <a:rPr b="0" lang="en-US" sz="910" spc="-1" strike="noStrike">
                <a:solidFill>
                  <a:srgbClr val="6a9955"/>
                </a:solidFill>
                <a:latin typeface="Consolas"/>
              </a:rPr>
              <a:t>// composição forte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Casa(</a:t>
            </a:r>
            <a:r>
              <a:rPr b="0" lang="en-US" sz="91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[] nomesDosComodos) {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comodos =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Comodo[nomesDosComodos.length];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(</a:t>
            </a:r>
            <a:r>
              <a:rPr b="0" lang="en-US" sz="91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i = 0; i &lt; nomesDosComodos.length; i++) {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comodos[i] =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Comodo(nomesDosComodos[i]);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listar() {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1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(Comodo c : comodos) {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10" spc="-1" strike="noStrike">
                <a:solidFill>
                  <a:srgbClr val="ce9178"/>
                </a:solidFill>
                <a:latin typeface="Consolas"/>
              </a:rPr>
              <a:t>"Comodo: "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+ c.getNome());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Rectangle 13"/>
          <p:cNvSpPr/>
          <p:nvPr/>
        </p:nvSpPr>
        <p:spPr>
          <a:xfrm>
            <a:off x="640080" y="498780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5" name="Rectangle 14"/>
          <p:cNvSpPr/>
          <p:nvPr/>
        </p:nvSpPr>
        <p:spPr>
          <a:xfrm>
            <a:off x="640080" y="498780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6" name="TextBox 15"/>
          <p:cNvSpPr/>
          <p:nvPr/>
        </p:nvSpPr>
        <p:spPr>
          <a:xfrm>
            <a:off x="804600" y="50353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TextBox 16"/>
          <p:cNvSpPr/>
          <p:nvPr/>
        </p:nvSpPr>
        <p:spPr>
          <a:xfrm>
            <a:off x="804600" y="533520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Comodo: Sala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Comodo: Quarto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Comodo: Cozinha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TextBox 17"/>
          <p:cNvSpPr/>
          <p:nvPr/>
        </p:nvSpPr>
        <p:spPr>
          <a:xfrm>
            <a:off x="640080" y="61362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Os comodos nascem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dentro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da Casa — sem casa, eles não existem.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Array de objetos: guardando vários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Rectangle 6"/>
          <p:cNvSpPr/>
          <p:nvPr/>
        </p:nvSpPr>
        <p:spPr>
          <a:xfrm>
            <a:off x="640080" y="1371600"/>
            <a:ext cx="10911240" cy="29401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TesteBiblioteca.java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TextBox 12"/>
          <p:cNvSpPr/>
          <p:nvPr/>
        </p:nvSpPr>
        <p:spPr>
          <a:xfrm>
            <a:off x="859680" y="1755720"/>
            <a:ext cx="10472400" cy="249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Livro {                    </a:t>
            </a:r>
            <a:r>
              <a:rPr b="0" lang="en-US" sz="960" spc="-1" strike="noStrike">
                <a:solidFill>
                  <a:srgbClr val="6a9955"/>
                </a:solidFill>
                <a:latin typeface="Consolas"/>
              </a:rPr>
              <a:t>// auxiliar no mesmo arquivo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titulo;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Livro(</a:t>
            </a:r>
            <a:r>
              <a:rPr b="0" lang="en-US" sz="96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titulo) {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.titulo = titulo; 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getTitulo() {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titulo; 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TesteBiblioteca {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96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Livro[] acervo =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Livro[3];      </a:t>
            </a:r>
            <a:r>
              <a:rPr b="0" lang="en-US" sz="960" spc="-1" strike="noStrike">
                <a:solidFill>
                  <a:srgbClr val="6a9955"/>
                </a:solidFill>
                <a:latin typeface="Consolas"/>
              </a:rPr>
              <a:t>// vetor de 3 referências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acervo[0] =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Livro(</a:t>
            </a:r>
            <a:r>
              <a:rPr b="0" lang="en-US" sz="960" spc="-1" strike="noStrike">
                <a:solidFill>
                  <a:srgbClr val="ce9178"/>
                </a:solidFill>
                <a:latin typeface="Consolas"/>
              </a:rPr>
              <a:t>"Dom Casmurro"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acervo[1] =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Livro(</a:t>
            </a:r>
            <a:r>
              <a:rPr b="0" lang="en-US" sz="960" spc="-1" strike="noStrike">
                <a:solidFill>
                  <a:srgbClr val="ce9178"/>
                </a:solidFill>
                <a:latin typeface="Consolas"/>
              </a:rPr>
              <a:t>"Memórias Póstumas"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acervo[2] =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Livro(</a:t>
            </a:r>
            <a:r>
              <a:rPr b="0" lang="en-US" sz="960" spc="-1" strike="noStrike">
                <a:solidFill>
                  <a:srgbClr val="ce9178"/>
                </a:solidFill>
                <a:latin typeface="Consolas"/>
              </a:rPr>
              <a:t>"Quincas Borba"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(</a:t>
            </a:r>
            <a:r>
              <a:rPr b="0" lang="en-US" sz="96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i = 0; i &lt; acervo.length; i++) {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System.out.println(acervo[i].getTitulo());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Rectangle 13"/>
          <p:cNvSpPr/>
          <p:nvPr/>
        </p:nvSpPr>
        <p:spPr>
          <a:xfrm>
            <a:off x="640080" y="442188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2" name="Rectangle 14"/>
          <p:cNvSpPr/>
          <p:nvPr/>
        </p:nvSpPr>
        <p:spPr>
          <a:xfrm>
            <a:off x="640080" y="44218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3" name="TextBox 15"/>
          <p:cNvSpPr/>
          <p:nvPr/>
        </p:nvSpPr>
        <p:spPr>
          <a:xfrm>
            <a:off x="804600" y="44694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TextBox 16"/>
          <p:cNvSpPr/>
          <p:nvPr/>
        </p:nvSpPr>
        <p:spPr>
          <a:xfrm>
            <a:off x="804600" y="476928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Dom Casmurro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Memórias Póstumas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Quincas Borba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TextBox 17"/>
          <p:cNvSpPr/>
          <p:nvPr/>
        </p:nvSpPr>
        <p:spPr>
          <a:xfrm>
            <a:off x="640080" y="55702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Livro[3]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cria 3 'gavetas' para objetos — não os objetos ainda.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Depois preenchemos cada posição com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Livro(...)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Problema: tamanho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fixo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 Para crescer, vem o ArrayList!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ArrayList: a lista que cresce sozinha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Rectangle 6"/>
          <p:cNvSpPr/>
          <p:nvPr/>
        </p:nvSpPr>
        <p:spPr>
          <a:xfrm>
            <a:off x="640080" y="1371600"/>
            <a:ext cx="10911240" cy="28044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ListaDinamica.java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TextBox 12"/>
          <p:cNvSpPr/>
          <p:nvPr/>
        </p:nvSpPr>
        <p:spPr>
          <a:xfrm>
            <a:off x="859680" y="1755720"/>
            <a:ext cx="10472400" cy="23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ListaDinamica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ArrayList&lt;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&gt; nomes =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nomes.add(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nomes.add(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"Beto"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nomes.add(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"Carla"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"Tamanho: 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+ nomes.size());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"Primeiro: 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+ nomes.get(0));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nomes.remove(1);                        </a:t>
            </a:r>
            <a:r>
              <a:rPr b="0" lang="en-US" sz="900" spc="-1" strike="noStrike">
                <a:solidFill>
                  <a:srgbClr val="6a9955"/>
                </a:solidFill>
                <a:latin typeface="Consolas"/>
              </a:rPr>
              <a:t>// remove o Beto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"Contém Carla? 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+ nomes.contains(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"Carla"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));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"Lista: 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+ nomes);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Rectangle 13"/>
          <p:cNvSpPr/>
          <p:nvPr/>
        </p:nvSpPr>
        <p:spPr>
          <a:xfrm>
            <a:off x="640080" y="4286160"/>
            <a:ext cx="10911240" cy="11343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9" name="Rectangle 14"/>
          <p:cNvSpPr/>
          <p:nvPr/>
        </p:nvSpPr>
        <p:spPr>
          <a:xfrm>
            <a:off x="640080" y="42861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0" name="TextBox 15"/>
          <p:cNvSpPr/>
          <p:nvPr/>
        </p:nvSpPr>
        <p:spPr>
          <a:xfrm>
            <a:off x="804600" y="43336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TextBox 16"/>
          <p:cNvSpPr/>
          <p:nvPr/>
        </p:nvSpPr>
        <p:spPr>
          <a:xfrm>
            <a:off x="804600" y="4633560"/>
            <a:ext cx="1058184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Tamanho: 3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Primeiro: Ana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Contém Carla? 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Lista: [Ana, Carla]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TextBox 17"/>
          <p:cNvSpPr/>
          <p:nvPr/>
        </p:nvSpPr>
        <p:spPr>
          <a:xfrm>
            <a:off x="640080" y="560412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add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get(i)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size()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remove(i)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contains(...)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os principais.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&lt;String&gt;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diz o tipo: a lista só aceita String (é genérica).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Precisa de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import java.util.ArrayList;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no topo.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Percorrendo com for-each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Rectangle 6"/>
          <p:cNvSpPr/>
          <p:nvPr/>
        </p:nvSpPr>
        <p:spPr>
          <a:xfrm>
            <a:off x="640080" y="1371600"/>
            <a:ext cx="10911240" cy="29401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ForEach.java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TextBox 12"/>
          <p:cNvSpPr/>
          <p:nvPr/>
        </p:nvSpPr>
        <p:spPr>
          <a:xfrm>
            <a:off x="859680" y="1755720"/>
            <a:ext cx="1047240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ForEach {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8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ArrayList&lt;</a:t>
            </a:r>
            <a:r>
              <a:rPr b="0" lang="en-US" sz="108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&gt; frutas =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frutas.add(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"Maçã"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frutas.add(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"Banana"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frutas.add(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"Uva"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6a9955"/>
                </a:solidFill>
                <a:latin typeface="Consolas"/>
              </a:rPr>
              <a:t>// for-each: para cada fruta na lista...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(</a:t>
            </a:r>
            <a:r>
              <a:rPr b="0" lang="en-US" sz="108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fruta : frutas) {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80" spc="-1" strike="noStrike">
                <a:solidFill>
                  <a:srgbClr val="ce9178"/>
                </a:solidFill>
                <a:latin typeface="Consolas"/>
              </a:rPr>
              <a:t>"Gosto de "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+ fruta);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Rectangle 13"/>
          <p:cNvSpPr/>
          <p:nvPr/>
        </p:nvSpPr>
        <p:spPr>
          <a:xfrm>
            <a:off x="640080" y="442188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6" name="Rectangle 14"/>
          <p:cNvSpPr/>
          <p:nvPr/>
        </p:nvSpPr>
        <p:spPr>
          <a:xfrm>
            <a:off x="640080" y="44218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7" name="TextBox 15"/>
          <p:cNvSpPr/>
          <p:nvPr/>
        </p:nvSpPr>
        <p:spPr>
          <a:xfrm>
            <a:off x="804600" y="44694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TextBox 16"/>
          <p:cNvSpPr/>
          <p:nvPr/>
        </p:nvSpPr>
        <p:spPr>
          <a:xfrm>
            <a:off x="804600" y="476928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Gosto de Maçã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Gosto de Banana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Gosto de Uva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TextBox 17"/>
          <p:cNvSpPr/>
          <p:nvPr/>
        </p:nvSpPr>
        <p:spPr>
          <a:xfrm>
            <a:off x="640080" y="557028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Sintaxe: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for (Tipo variavel : colecao)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variável recebe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cada elemento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na ordem.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Mais simples que 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for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com índice quando não precisamos do índice.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Biblioteca com ArrayList de livros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6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A biblioteca guarda quantos livros quiser e lista todos: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Rectangle 8"/>
          <p:cNvSpPr/>
          <p:nvPr/>
        </p:nvSpPr>
        <p:spPr>
          <a:xfrm>
            <a:off x="640080" y="1993320"/>
            <a:ext cx="10911240" cy="28720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8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9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0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1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2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Biblioteca.java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TextBox 14"/>
          <p:cNvSpPr/>
          <p:nvPr/>
        </p:nvSpPr>
        <p:spPr>
          <a:xfrm>
            <a:off x="859680" y="2377440"/>
            <a:ext cx="10472400" cy="23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Biblioteca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ArrayList&lt;Livro&gt; acervo =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adicionar(Livro livro)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acervo.add(livro);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listar()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(Livro livro : acervo)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"-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livro.getTitulo());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Rectangle 15"/>
          <p:cNvSpPr/>
          <p:nvPr/>
        </p:nvSpPr>
        <p:spPr>
          <a:xfrm>
            <a:off x="640080" y="497556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5" name="Rectangle 16"/>
          <p:cNvSpPr/>
          <p:nvPr/>
        </p:nvSpPr>
        <p:spPr>
          <a:xfrm>
            <a:off x="640080" y="49755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6" name="TextBox 17"/>
          <p:cNvSpPr/>
          <p:nvPr/>
        </p:nvSpPr>
        <p:spPr>
          <a:xfrm>
            <a:off x="804600" y="50230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TextBox 18"/>
          <p:cNvSpPr/>
          <p:nvPr/>
        </p:nvSpPr>
        <p:spPr>
          <a:xfrm>
            <a:off x="804600" y="532296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- Dom Casmurro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- O Cortiço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- Iracema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TextBox 19"/>
          <p:cNvSpPr/>
          <p:nvPr/>
        </p:nvSpPr>
        <p:spPr>
          <a:xfrm>
            <a:off x="640080" y="61239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main: criar biblioteca,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biblioteca.adicionar(new Livro(...))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várias vezes, 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biblioteca.listar()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 classe String em detalhe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Rectangle 6"/>
          <p:cNvSpPr/>
          <p:nvPr/>
        </p:nvSpPr>
        <p:spPr>
          <a:xfrm>
            <a:off x="640080" y="1371600"/>
            <a:ext cx="10911240" cy="239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Strings.java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TextBox 12"/>
          <p:cNvSpPr/>
          <p:nvPr/>
        </p:nvSpPr>
        <p:spPr>
          <a:xfrm>
            <a:off x="859680" y="1755720"/>
            <a:ext cx="104724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Strings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nome =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"João da Silva"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"Tamanho: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nome.length());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"Maiúsculas: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nome.toUpperCase());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"Começa com Jo?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nome.startsWith(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"Jo"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"Contém Silva?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nome.contains(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"Silva"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sub = nome.substring(5, 9);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da posição 5 até a 8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"Pedacinho: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sub);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"Trocou: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nome.replace(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"João"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,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"José"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Rectangle 13"/>
          <p:cNvSpPr/>
          <p:nvPr/>
        </p:nvSpPr>
        <p:spPr>
          <a:xfrm>
            <a:off x="640080" y="3881520"/>
            <a:ext cx="10911240" cy="147348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2" name="Rectangle 14"/>
          <p:cNvSpPr/>
          <p:nvPr/>
        </p:nvSpPr>
        <p:spPr>
          <a:xfrm>
            <a:off x="640080" y="38815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3" name="TextBox 15"/>
          <p:cNvSpPr/>
          <p:nvPr/>
        </p:nvSpPr>
        <p:spPr>
          <a:xfrm>
            <a:off x="804600" y="39290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TextBox 16"/>
          <p:cNvSpPr/>
          <p:nvPr/>
        </p:nvSpPr>
        <p:spPr>
          <a:xfrm>
            <a:off x="804600" y="4229280"/>
            <a:ext cx="10581840" cy="10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Tamanho: 13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Maiúsculas: JOÃO DA SILVA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Começa com Jo? 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Contém Silva? true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Pedacinho: da 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Trocou: José da Silva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TextBox 17"/>
          <p:cNvSpPr/>
          <p:nvPr/>
        </p:nvSpPr>
        <p:spPr>
          <a:xfrm>
            <a:off x="640080" y="553824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String é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imutável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cada 'mudança' gera uma nova String.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Compare com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equals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(nunca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==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), e ignore maiúsculas com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equalsIgnoreCase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enum: valores fixos com significado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Rectangle 6"/>
          <p:cNvSpPr/>
          <p:nvPr/>
        </p:nvSpPr>
        <p:spPr>
          <a:xfrm>
            <a:off x="640080" y="1371600"/>
            <a:ext cx="10911240" cy="1006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2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3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4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5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6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DiaDaSemana.java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TextBox 12"/>
          <p:cNvSpPr/>
          <p:nvPr/>
        </p:nvSpPr>
        <p:spPr>
          <a:xfrm>
            <a:off x="859680" y="1755720"/>
            <a:ext cx="1047240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enum DiaDaSemana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SEGUNDA, TERCA, QUARTA, QUINTA, SEXTA, SABADO, DOMINGO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Rectangle 13"/>
          <p:cNvSpPr/>
          <p:nvPr/>
        </p:nvSpPr>
        <p:spPr>
          <a:xfrm>
            <a:off x="640080" y="248796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9" name="Rectangle 14"/>
          <p:cNvSpPr/>
          <p:nvPr/>
        </p:nvSpPr>
        <p:spPr>
          <a:xfrm>
            <a:off x="640080" y="24879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0" name="TextBox 15"/>
          <p:cNvSpPr/>
          <p:nvPr/>
        </p:nvSpPr>
        <p:spPr>
          <a:xfrm>
            <a:off x="804600" y="25354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TextBox 16"/>
          <p:cNvSpPr/>
          <p:nvPr/>
        </p:nvSpPr>
        <p:spPr>
          <a:xfrm>
            <a:off x="804600" y="283536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Hoje é: SEXTA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É fim de semana? false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TextBox 17"/>
          <p:cNvSpPr/>
          <p:nvPr/>
        </p:nvSpPr>
        <p:spPr>
          <a:xfrm>
            <a:off x="640080" y="3466800"/>
            <a:ext cx="109112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enum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define um conjunto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fechado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de valores.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Perfeito para dias, status de pedido, categorias, tamanhos.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Uso: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DiaDaSemana hoje = DiaDaSemana.SEXTA;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Código fica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mais seguro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: valores inválidos nem compilam.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enum na prática: status de pedido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Rectangle 6"/>
          <p:cNvSpPr/>
          <p:nvPr/>
        </p:nvSpPr>
        <p:spPr>
          <a:xfrm>
            <a:off x="640080" y="1371600"/>
            <a:ext cx="10911240" cy="36756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Pedido.java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TextBox 12"/>
          <p:cNvSpPr/>
          <p:nvPr/>
        </p:nvSpPr>
        <p:spPr>
          <a:xfrm>
            <a:off x="859680" y="1755720"/>
            <a:ext cx="10472400" cy="32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enum StatusPedido {               </a:t>
            </a:r>
            <a:r>
              <a:rPr b="0" lang="en-US" sz="960" spc="-1" strike="noStrike">
                <a:solidFill>
                  <a:srgbClr val="6a9955"/>
                </a:solidFill>
                <a:latin typeface="Consolas"/>
              </a:rPr>
              <a:t>// auxiliar no mesmo arquivo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PENDENTE, PAGO, ENVIADO, ENTREGUE, CANCELADO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Pedido {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numero;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StatusPedido status;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Pedido(</a:t>
            </a:r>
            <a:r>
              <a:rPr b="0" lang="en-US" sz="96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numero, StatusPedido status) {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.numero = numero;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.status = status;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avancar() {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switch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(status) {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case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PENDENTE: status = StatusPedido.PAGO;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break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case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PAGO:     status = StatusPedido.ENVIADO;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break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case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ENVIADO:  status = StatusPedido.ENTREGUE;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break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60" spc="-1" strike="noStrike">
                <a:solidFill>
                  <a:srgbClr val="569cd6"/>
                </a:solidFill>
                <a:latin typeface="Consolas"/>
              </a:rPr>
              <a:t>default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:       System.out.println(</a:t>
            </a:r>
            <a:r>
              <a:rPr b="0" lang="en-US" sz="960" spc="-1" strike="noStrike">
                <a:solidFill>
                  <a:srgbClr val="ce9178"/>
                </a:solidFill>
                <a:latin typeface="Consolas"/>
              </a:rPr>
              <a:t>"Não avança: "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+ status);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Rectangle 13"/>
          <p:cNvSpPr/>
          <p:nvPr/>
        </p:nvSpPr>
        <p:spPr>
          <a:xfrm>
            <a:off x="640080" y="515736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6" name="Rectangle 14"/>
          <p:cNvSpPr/>
          <p:nvPr/>
        </p:nvSpPr>
        <p:spPr>
          <a:xfrm>
            <a:off x="640080" y="51573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7" name="TextBox 15"/>
          <p:cNvSpPr/>
          <p:nvPr/>
        </p:nvSpPr>
        <p:spPr>
          <a:xfrm>
            <a:off x="804600" y="52045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" name="TextBox 16"/>
          <p:cNvSpPr/>
          <p:nvPr/>
        </p:nvSpPr>
        <p:spPr>
          <a:xfrm>
            <a:off x="804600" y="550476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Pedido 1: PENDENTE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Pedido 1: ENVIADO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TextBox 17"/>
          <p:cNvSpPr/>
          <p:nvPr/>
        </p:nvSpPr>
        <p:spPr>
          <a:xfrm>
            <a:off x="640080" y="61362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main: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Pedido(1, StatusPedido.PENDENTE)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chamar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avancar()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2x e exibir.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1 — Sistema: Turma de alunos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TextBox 6"/>
          <p:cNvSpPr/>
          <p:nvPr/>
        </p:nvSpPr>
        <p:spPr>
          <a:xfrm>
            <a:off x="640080" y="1371600"/>
            <a:ext cx="1091124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`Aluno`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(privados):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nota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; construtor + getters.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`Turma`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private ArrayList&lt;Aluno&gt; alunos;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Métodos: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adicionar(Aluno)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listar()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(mostra nome e nota),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calcularMediaDaTurma()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— some as notas e divida pelo tamanho.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main: crie 3 alunos, adicione à turma, liste e mostre a média.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Rectangle 7"/>
          <p:cNvSpPr/>
          <p:nvPr/>
        </p:nvSpPr>
        <p:spPr>
          <a:xfrm>
            <a:off x="640080" y="3368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7" name="Rectangle 8"/>
          <p:cNvSpPr/>
          <p:nvPr/>
        </p:nvSpPr>
        <p:spPr>
          <a:xfrm>
            <a:off x="640080" y="3368160"/>
            <a:ext cx="82080" cy="7768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8" name="TextBox 9"/>
          <p:cNvSpPr/>
          <p:nvPr/>
        </p:nvSpPr>
        <p:spPr>
          <a:xfrm>
            <a:off x="877680" y="3450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Comece com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ArrayList&lt;&gt;()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; para a média, percorra com for-each.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(Turma — classe Aluno)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Rectangle 6"/>
          <p:cNvSpPr/>
          <p:nvPr/>
        </p:nvSpPr>
        <p:spPr>
          <a:xfrm>
            <a:off x="640080" y="137160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Aluno.java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TextBox 12"/>
          <p:cNvSpPr/>
          <p:nvPr/>
        </p:nvSpPr>
        <p:spPr>
          <a:xfrm>
            <a:off x="859680" y="175572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nota;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nota)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.nota = nota;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getNota()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nota;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(Turma — classe Turma)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119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Rectangle 6"/>
          <p:cNvSpPr/>
          <p:nvPr/>
        </p:nvSpPr>
        <p:spPr>
          <a:xfrm>
            <a:off x="640080" y="1371600"/>
            <a:ext cx="10911240" cy="41310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7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8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9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0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1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Turma.java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TextBox 12"/>
          <p:cNvSpPr/>
          <p:nvPr/>
        </p:nvSpPr>
        <p:spPr>
          <a:xfrm>
            <a:off x="859680" y="1755720"/>
            <a:ext cx="10472400" cy="367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Turma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ArrayList&lt;Aluno&gt; alunos =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adicionar(Aluno aluno)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alunos.add(aluno);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listar()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(Aluno a : alunos)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System.out.println(a.getNome() +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 — nota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a.getNota());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calcularMediaDaTurma()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soma = 0;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(Aluno a : alunos)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soma += a.getNota();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alunos.isEmpty() ? 0 : soma / alunos.size();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(Turma — programa principal)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Rectangle 6"/>
          <p:cNvSpPr/>
          <p:nvPr/>
        </p:nvSpPr>
        <p:spPr>
          <a:xfrm>
            <a:off x="640080" y="1371600"/>
            <a:ext cx="10911240" cy="22424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TesteTurma.java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TextBox 12"/>
          <p:cNvSpPr/>
          <p:nvPr/>
        </p:nvSpPr>
        <p:spPr>
          <a:xfrm>
            <a:off x="859680" y="1755720"/>
            <a:ext cx="10472400" cy="17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TesteTurma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Turma turma =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Turma();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turma.adicionar(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Aluno(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, 8.5));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turma.adicionar(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Aluno(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"Beto"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, 7.0));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turma.adicionar(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Aluno(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"Carla"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, 9.5));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turma.listar();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"Média da turma: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turma.calcularMediaDaTurma());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" name="Rectangle 13"/>
          <p:cNvSpPr/>
          <p:nvPr/>
        </p:nvSpPr>
        <p:spPr>
          <a:xfrm>
            <a:off x="640080" y="3724200"/>
            <a:ext cx="10911240" cy="11343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6" name="Rectangle 14"/>
          <p:cNvSpPr/>
          <p:nvPr/>
        </p:nvSpPr>
        <p:spPr>
          <a:xfrm>
            <a:off x="640080" y="372420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7" name="TextBox 15"/>
          <p:cNvSpPr/>
          <p:nvPr/>
        </p:nvSpPr>
        <p:spPr>
          <a:xfrm>
            <a:off x="804600" y="37717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" name="TextBox 16"/>
          <p:cNvSpPr/>
          <p:nvPr/>
        </p:nvSpPr>
        <p:spPr>
          <a:xfrm>
            <a:off x="804600" y="4071600"/>
            <a:ext cx="1058184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 — nota 8.5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Beto — nota 7.0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Carla — nota 9.5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Média da turma: 8.333333333333334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9" name="TextBox 17"/>
          <p:cNvSpPr/>
          <p:nvPr/>
        </p:nvSpPr>
        <p:spPr>
          <a:xfrm>
            <a:off x="640080" y="50421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alunos.isEmpty()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evita dividir por zero quando a turma está vazia.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2 — Agenda de contatos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" name="TextBox 6"/>
          <p:cNvSpPr/>
          <p:nvPr/>
        </p:nvSpPr>
        <p:spPr>
          <a:xfrm>
            <a:off x="640080" y="1371600"/>
            <a:ext cx="1091124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`Contato`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(privados):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telefone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; construtor + getters.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`Agenda`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ArrayList&lt;Contato&gt;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com: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00" spc="-1" strike="noStrike">
                <a:solidFill>
                  <a:srgbClr val="0b6672"/>
                </a:solidFill>
                <a:latin typeface="Consolas"/>
              </a:rPr>
              <a:t>adicionar(Contato)</a:t>
            </a:r>
            <a:r>
              <a:rPr b="0" lang="en-US" sz="1400" spc="-1" strike="noStrike">
                <a:solidFill>
                  <a:srgbClr val="5b6b80"/>
                </a:solidFill>
                <a:latin typeface="Calibri"/>
              </a:rPr>
              <a:t>, </a:t>
            </a:r>
            <a:r>
              <a:rPr b="0" lang="en-US" sz="1300" spc="-1" strike="noStrike">
                <a:solidFill>
                  <a:srgbClr val="0b6672"/>
                </a:solidFill>
                <a:latin typeface="Consolas"/>
              </a:rPr>
              <a:t>listar()</a:t>
            </a:r>
            <a:r>
              <a:rPr b="0" lang="en-US" sz="1400" spc="-1" strike="noStrike">
                <a:solidFill>
                  <a:srgbClr val="5b6b80"/>
                </a:solidFill>
                <a:latin typeface="Calibri"/>
              </a:rPr>
              <a:t>, </a:t>
            </a:r>
            <a:r>
              <a:rPr b="0" lang="en-US" sz="1300" spc="-1" strike="noStrike">
                <a:solidFill>
                  <a:srgbClr val="0b6672"/>
                </a:solidFill>
                <a:latin typeface="Consolas"/>
              </a:rPr>
              <a:t>buscar(String nome)</a:t>
            </a:r>
            <a:r>
              <a:rPr b="0" lang="en-US" sz="1400" spc="-1" strike="noStrike">
                <a:solidFill>
                  <a:srgbClr val="5b6b80"/>
                </a:solidFill>
                <a:latin typeface="Calibri"/>
              </a:rPr>
              <a:t> (contém o trecho, ignore maiúsculas).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main: adicione 3 contatos, liste, busque por um nome.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Rectangle 7"/>
          <p:cNvSpPr/>
          <p:nvPr/>
        </p:nvSpPr>
        <p:spPr>
          <a:xfrm>
            <a:off x="640080" y="2990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7" name="Rectangle 8"/>
          <p:cNvSpPr/>
          <p:nvPr/>
        </p:nvSpPr>
        <p:spPr>
          <a:xfrm>
            <a:off x="640080" y="2990160"/>
            <a:ext cx="82080" cy="7768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8" name="TextBox 9"/>
          <p:cNvSpPr/>
          <p:nvPr/>
        </p:nvSpPr>
        <p:spPr>
          <a:xfrm>
            <a:off x="877680" y="3072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Busca: percorra com for-each e use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nome.contains(...)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ou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equalsIgnoreCase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2 (Agenda — classes Contato e Agenda)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Rectangle 6"/>
          <p:cNvSpPr/>
          <p:nvPr/>
        </p:nvSpPr>
        <p:spPr>
          <a:xfrm>
            <a:off x="640080" y="1371600"/>
            <a:ext cx="10911240" cy="4408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Agenda.java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" name="TextBox 12"/>
          <p:cNvSpPr/>
          <p:nvPr/>
        </p:nvSpPr>
        <p:spPr>
          <a:xfrm>
            <a:off x="859680" y="1755720"/>
            <a:ext cx="10472400" cy="39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Contato {             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sem public: usada no mesmo pacote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telefone;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Contato(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telefone)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.telefone = telefone;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getTelefone()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telefone;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Agenda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ArrayList&lt;Contato&gt; contatos =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adicionar(Contato c) { contatos.add(c);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listar()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(Contato c : contatos)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System.out.println(c.getNome() + 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 — 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+ c.getTelefone());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buscar(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trecho)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(Contato c : contatos)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(c.getNome().toLowerCase().contains(trecho.toLowerCase()))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"Achei: 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+ c.getNome() + 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 — 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+ c.getTelefone());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3 — Mini sistema de pedidos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6" name="TextBox 6"/>
          <p:cNvSpPr/>
          <p:nvPr/>
        </p:nvSpPr>
        <p:spPr>
          <a:xfrm>
            <a:off x="640080" y="1371600"/>
            <a:ext cx="1091124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`ItemPedido`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descricao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quantidade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precoUnitario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(construtor + getters).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double getTotal()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quantidade × precoUnitario.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`Pedido`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ArrayList&lt;ItemPedido&gt;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+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adicionarItem(ItemPedido)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double getValorTotal()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soma dos totais dos itens.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Desafio: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exibir()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mostra cada item e o total geral no final.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Rectangle 7"/>
          <p:cNvSpPr/>
          <p:nvPr/>
        </p:nvSpPr>
        <p:spPr>
          <a:xfrm>
            <a:off x="640080" y="3368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8" name="Rectangle 8"/>
          <p:cNvSpPr/>
          <p:nvPr/>
        </p:nvSpPr>
        <p:spPr>
          <a:xfrm>
            <a:off x="640080" y="3368160"/>
            <a:ext cx="82080" cy="7768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9" name="TextBox 9"/>
          <p:cNvSpPr/>
          <p:nvPr/>
        </p:nvSpPr>
        <p:spPr>
          <a:xfrm>
            <a:off x="877680" y="3450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Um método da classe ItemPedido calcula o total de UM item; o Pedido soma os itens.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(Pedidos — ItemPedido)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Rectangle 6"/>
          <p:cNvSpPr/>
          <p:nvPr/>
        </p:nvSpPr>
        <p:spPr>
          <a:xfrm>
            <a:off x="640080" y="1371600"/>
            <a:ext cx="10911240" cy="31867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6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7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8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9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0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ItemPedido.java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TextBox 12"/>
          <p:cNvSpPr/>
          <p:nvPr/>
        </p:nvSpPr>
        <p:spPr>
          <a:xfrm>
            <a:off x="859680" y="1755720"/>
            <a:ext cx="10472400" cy="271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ItemPedido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descricao;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quantidade;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precoUnitario;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ItemPedido(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descricao,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quantidade,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precoUnitario)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.descricao = descricao;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.quantidade = quantidade;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.precoUnitario = precoUnitario;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getTotal()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quantidade * precoUnitario;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getDescricao() {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descricao;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(Pedidos — Pedido e teste)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7" name="Rectangle 6"/>
          <p:cNvSpPr/>
          <p:nvPr/>
        </p:nvSpPr>
        <p:spPr>
          <a:xfrm>
            <a:off x="640080" y="1371600"/>
            <a:ext cx="10911240" cy="41083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TestePedido.java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3" name="TextBox 12"/>
          <p:cNvSpPr/>
          <p:nvPr/>
        </p:nvSpPr>
        <p:spPr>
          <a:xfrm>
            <a:off x="859680" y="1755720"/>
            <a:ext cx="10472400" cy="36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Pedido {                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auxiliar no mesmo arquivo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ArrayList&lt;ItemPedido&gt; itens =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adicionarItem(ItemPedido item) { itens.add(item);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getValorTotal()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total = 0;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(ItemPedido item : itens)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total += item.getTotal();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total;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TestePedido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Pedido pedido =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Pedido();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pedido.adicionarItem(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ItemPedido(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"Caneta"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, 10, 2.50));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pedido.adicionarItem(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ItemPedido(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"Caderno"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, 2, 18.00));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"Total do pedido: R$ 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+ pedido.getValorTotal());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Rectangle 13"/>
          <p:cNvSpPr/>
          <p:nvPr/>
        </p:nvSpPr>
        <p:spPr>
          <a:xfrm>
            <a:off x="640080" y="559008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5" name="Rectangle 14"/>
          <p:cNvSpPr/>
          <p:nvPr/>
        </p:nvSpPr>
        <p:spPr>
          <a:xfrm>
            <a:off x="640080" y="55900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6" name="TextBox 15"/>
          <p:cNvSpPr/>
          <p:nvPr/>
        </p:nvSpPr>
        <p:spPr>
          <a:xfrm>
            <a:off x="804600" y="56376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TextBox 16"/>
          <p:cNvSpPr/>
          <p:nvPr/>
        </p:nvSpPr>
        <p:spPr>
          <a:xfrm>
            <a:off x="804600" y="593748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Total do pedido: R$ 61.0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Diagramas de classes: o 'mapa' do sistema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3" name="TextBox 6"/>
          <p:cNvSpPr/>
          <p:nvPr/>
        </p:nvSpPr>
        <p:spPr>
          <a:xfrm>
            <a:off x="640080" y="1371600"/>
            <a:ext cx="10911240" cy="29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Antes de codar sistemas grandes, desenhamos 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diagrama de classes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(UML).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Cada classe é um retângulo com 3 partes: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nome da classe · atributos · métodos.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setas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mostram os relacionamentos: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linha simples → associação;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losango vazio (◇) → agregação;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losango cheio (◆) → composição.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 mental: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Turma ◆— 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(composição).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No Módulo 5 desenharemos o diagrama do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projeto final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Resumo do Módulo 3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Rectangle 6"/>
          <p:cNvSpPr/>
          <p:nvPr/>
        </p:nvSpPr>
        <p:spPr>
          <a:xfrm>
            <a:off x="640080" y="1261800"/>
            <a:ext cx="10911240" cy="4536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0" name="TextBox 7"/>
          <p:cNvSpPr/>
          <p:nvPr/>
        </p:nvSpPr>
        <p:spPr>
          <a:xfrm>
            <a:off x="640080" y="1536120"/>
            <a:ext cx="10911240" cy="20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Objetos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se relacionam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associação (usa), agregação (tem), composição (parte-todo).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Array de objetos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tamanho fixo;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ArrayList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cresce sozinho (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add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get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size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for-each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percorre coleções de forma simples e segura.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String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length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toUpperCase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contains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startsWith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substring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replace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enum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garante valores fixos e legíveis (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StatusPedido.PAGO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Sistemas = classes que se compõem: Turma com Alunos, Pedido com Itens.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3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Checkpoint rápido — Módulo 3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b277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128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TextBox 6"/>
          <p:cNvSpPr/>
          <p:nvPr/>
        </p:nvSpPr>
        <p:spPr>
          <a:xfrm>
            <a:off x="640080" y="1371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1.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Qual estrutura cresce dinamicamente?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" name="TextBox 7"/>
          <p:cNvSpPr/>
          <p:nvPr/>
        </p:nvSpPr>
        <p:spPr>
          <a:xfrm>
            <a:off x="1005840" y="1755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Array fixo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ArrayList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int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TextBox 8"/>
          <p:cNvSpPr/>
          <p:nvPr/>
        </p:nvSpPr>
        <p:spPr>
          <a:xfrm>
            <a:off x="640080" y="279792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2.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Em composição, as partes: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TextBox 9"/>
          <p:cNvSpPr/>
          <p:nvPr/>
        </p:nvSpPr>
        <p:spPr>
          <a:xfrm>
            <a:off x="1005840" y="318204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Vivem sem o todo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Nascem e morrem com o todo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Não se relacionam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" name="TextBox 10"/>
          <p:cNvSpPr/>
          <p:nvPr/>
        </p:nvSpPr>
        <p:spPr>
          <a:xfrm>
            <a:off x="640080" y="4224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3.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Para comparar conteúdo de duas Strings, usamos: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TextBox 11"/>
          <p:cNvSpPr/>
          <p:nvPr/>
        </p:nvSpPr>
        <p:spPr>
          <a:xfrm>
            <a:off x="1005840" y="4608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==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.equals()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.length()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Rectangle 12"/>
          <p:cNvSpPr/>
          <p:nvPr/>
        </p:nvSpPr>
        <p:spPr>
          <a:xfrm>
            <a:off x="640080" y="5961960"/>
            <a:ext cx="10911240" cy="36540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3" name="TextBox 13"/>
          <p:cNvSpPr/>
          <p:nvPr/>
        </p:nvSpPr>
        <p:spPr>
          <a:xfrm>
            <a:off x="804600" y="6054120"/>
            <a:ext cx="10581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6672"/>
                </a:solidFill>
                <a:latin typeface="Calibri"/>
              </a:rPr>
              <a:t>Gabarito:</a:t>
            </a:r>
            <a:r>
              <a:rPr b="0" lang="en-US" sz="1300" spc="-1" strike="noStrike">
                <a:solidFill>
                  <a:srgbClr val="0b6672"/>
                </a:solidFill>
                <a:latin typeface="Calibri"/>
              </a:rPr>
              <a:t> 1→B, 2→B, 3→B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5" name="Oval 2"/>
          <p:cNvSpPr/>
          <p:nvPr/>
        </p:nvSpPr>
        <p:spPr>
          <a:xfrm>
            <a:off x="8778240" y="-2377440"/>
            <a:ext cx="5943240" cy="594324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6" name="Oval 3"/>
          <p:cNvSpPr/>
          <p:nvPr/>
        </p:nvSpPr>
        <p:spPr>
          <a:xfrm>
            <a:off x="10149840" y="-1737360"/>
            <a:ext cx="4663080" cy="4663080"/>
          </a:xfrm>
          <a:prstGeom prst="ellipse">
            <a:avLst/>
          </a:prstGeom>
          <a:noFill/>
          <a:ln w="31680">
            <a:solidFill>
              <a:srgbClr val="ffff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7" name="TextBox 4"/>
          <p:cNvSpPr/>
          <p:nvPr/>
        </p:nvSpPr>
        <p:spPr>
          <a:xfrm>
            <a:off x="10058400" y="320040"/>
            <a:ext cx="22856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pt-B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" name="TextBox 5"/>
          <p:cNvSpPr/>
          <p:nvPr/>
        </p:nvSpPr>
        <p:spPr>
          <a:xfrm>
            <a:off x="914400" y="2148840"/>
            <a:ext cx="9600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Módulo 4 · 8 horas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TextBox 6"/>
          <p:cNvSpPr/>
          <p:nvPr/>
        </p:nvSpPr>
        <p:spPr>
          <a:xfrm>
            <a:off x="914400" y="2606040"/>
            <a:ext cx="100580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Herança e Polimorfismo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TextBox 7"/>
          <p:cNvSpPr/>
          <p:nvPr/>
        </p:nvSpPr>
        <p:spPr>
          <a:xfrm>
            <a:off x="914400" y="3703320"/>
            <a:ext cx="8960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0f4f8"/>
                </a:solidFill>
                <a:latin typeface="Calibri"/>
              </a:rPr>
              <a:t>Reutilize código e escreva sistemas flexíveis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Rectangle 8"/>
          <p:cNvSpPr/>
          <p:nvPr/>
        </p:nvSpPr>
        <p:spPr>
          <a:xfrm>
            <a:off x="914400" y="4343400"/>
            <a:ext cx="2377080" cy="5436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2" name="TextBox 9"/>
          <p:cNvSpPr/>
          <p:nvPr/>
        </p:nvSpPr>
        <p:spPr>
          <a:xfrm>
            <a:off x="914400" y="4617720"/>
            <a:ext cx="7863480" cy="15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Reutilizar código com herança (extends)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Reescrever métodos (override) com @Override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Tratar objetos de várias classes como um tipo só (polimorfismo)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Usar classes e métodos abstratos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Definir contratos com interfaces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Construir uma folha de pagamento polimórfica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TextBox 10"/>
          <p:cNvSpPr/>
          <p:nvPr/>
        </p:nvSpPr>
        <p:spPr>
          <a:xfrm>
            <a:off x="914400" y="6355080"/>
            <a:ext cx="7314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Curso 40h · Programação Orientada a Objetos com Java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Agenda do módulo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TextBox 6"/>
          <p:cNvSpPr/>
          <p:nvPr/>
        </p:nvSpPr>
        <p:spPr>
          <a:xfrm>
            <a:off x="64008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1.  Motivação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0" name="TextBox 7"/>
          <p:cNvSpPr/>
          <p:nvPr/>
        </p:nvSpPr>
        <p:spPr>
          <a:xfrm>
            <a:off x="93276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Código repetido entre Funcionario, Gerente, Diretor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" name="TextBox 8"/>
          <p:cNvSpPr/>
          <p:nvPr/>
        </p:nvSpPr>
        <p:spPr>
          <a:xfrm>
            <a:off x="64008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2.  Herança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TextBox 9"/>
          <p:cNvSpPr/>
          <p:nvPr/>
        </p:nvSpPr>
        <p:spPr>
          <a:xfrm>
            <a:off x="93276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extends, super, protected, override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3" name="TextBox 10"/>
          <p:cNvSpPr/>
          <p:nvPr/>
        </p:nvSpPr>
        <p:spPr>
          <a:xfrm>
            <a:off x="64008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3.  Polimorfismo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" name="TextBox 11"/>
          <p:cNvSpPr/>
          <p:nvPr/>
        </p:nvSpPr>
        <p:spPr>
          <a:xfrm>
            <a:off x="93276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upcasting, arrays polimórficos, instanceof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TextBox 12"/>
          <p:cNvSpPr/>
          <p:nvPr/>
        </p:nvSpPr>
        <p:spPr>
          <a:xfrm>
            <a:off x="641592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4.  Classes abstratas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TextBox 13"/>
          <p:cNvSpPr/>
          <p:nvPr/>
        </p:nvSpPr>
        <p:spPr>
          <a:xfrm>
            <a:off x="670860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Métodos abstratos, molde incompleto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TextBox 14"/>
          <p:cNvSpPr/>
          <p:nvPr/>
        </p:nvSpPr>
        <p:spPr>
          <a:xfrm>
            <a:off x="641592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5.  Interfaces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TextBox 15"/>
          <p:cNvSpPr/>
          <p:nvPr/>
        </p:nvSpPr>
        <p:spPr>
          <a:xfrm>
            <a:off x="670860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Contratos de comportamento, interface × abstrata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" name="TextBox 16"/>
          <p:cNvSpPr/>
          <p:nvPr/>
        </p:nvSpPr>
        <p:spPr>
          <a:xfrm>
            <a:off x="6415920" y="25736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6.  Exercícios +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TextBox 17"/>
          <p:cNvSpPr/>
          <p:nvPr/>
        </p:nvSpPr>
        <p:spPr>
          <a:xfrm>
            <a:off x="6708600" y="290268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Animais, veículos, folha de pagamento + quiz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problema: código repetido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" name="TextBox 6"/>
          <p:cNvSpPr/>
          <p:nvPr/>
        </p:nvSpPr>
        <p:spPr>
          <a:xfrm>
            <a:off x="640080" y="1371600"/>
            <a:ext cx="10911240" cy="26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Num sistema,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Funcionario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Gerente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Diretor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têm muito em comum: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todos têm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e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salario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; todos têm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exibir()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e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calcularPagamento()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Sem herança,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copiaríamos e colaríamos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o código 3 vezes.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Consequências ruins: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corrigir um bug → corrigir em 3 lugares;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adicionar campo (email) → editar 3 classes;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o código cresce e fica difícil de manter.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Herança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resolve: criamos a classe base e as outras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herdam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dela.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Herança: o que é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TextBox 6"/>
          <p:cNvSpPr/>
          <p:nvPr/>
        </p:nvSpPr>
        <p:spPr>
          <a:xfrm>
            <a:off x="640080" y="1371600"/>
            <a:ext cx="10911240" cy="32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Herança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uma classe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herda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atributos e métodos de outra.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Vocabulário: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superclasse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(classe mãe / base):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Funcionario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,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subclasse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(classe filha / derivada):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Gerente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Gerente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é um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Funcionario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(relação 'é-um').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Palavra-chave: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extends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 subclasse pode: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usar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o que herdou (atributos/métodos públicos e protected),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adicionar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atributos e métodos próprios,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reescrever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(override) métodos herdados.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Aplicando: Funcionario e Gerente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" name="Rectangle 6"/>
          <p:cNvSpPr/>
          <p:nvPr/>
        </p:nvSpPr>
        <p:spPr>
          <a:xfrm>
            <a:off x="640080" y="1371600"/>
            <a:ext cx="10911240" cy="27522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Funcionario.java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4" name="TextBox 12"/>
          <p:cNvSpPr/>
          <p:nvPr/>
        </p:nvSpPr>
        <p:spPr>
          <a:xfrm>
            <a:off x="859680" y="1755720"/>
            <a:ext cx="10472400" cy="22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Funcionario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protected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nome;        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</a:rPr>
              <a:t>// protected: subclasses enxergam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protected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salario;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Funcionario(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salario)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.salario = salario;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 recebe R$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salario);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Aplicando: Gerente herda de Funcionario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Rectangle 6"/>
          <p:cNvSpPr/>
          <p:nvPr/>
        </p:nvSpPr>
        <p:spPr>
          <a:xfrm>
            <a:off x="640080" y="1371600"/>
            <a:ext cx="10911240" cy="29844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Gerente.java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6" name="TextBox 12"/>
          <p:cNvSpPr/>
          <p:nvPr/>
        </p:nvSpPr>
        <p:spPr>
          <a:xfrm>
            <a:off x="859680" y="1755720"/>
            <a:ext cx="10472400" cy="251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Gerente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extends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Funcionario {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herda!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bonus;          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atributo NOVO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Gerente(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salario,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bonus)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super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(nome, salario);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chama o construtor da superclasse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.bonus = bonus;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getBonus()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bonus;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@Override           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reescrevendo o comportamento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"Gerente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nome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recebe R$ "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+ (salario + bonus));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TextBox 13"/>
          <p:cNvSpPr/>
          <p:nvPr/>
        </p:nvSpPr>
        <p:spPr>
          <a:xfrm>
            <a:off x="640080" y="453924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extends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→ Gerente ganha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salario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exibir()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da base.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super(...)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chama o construtor da superclasse (sempre na 1ª linha).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@Override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avisa: 'estou reescrevendo um método herdado'.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herança na prática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4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Gerente usa o que herdou e ainda adiciona o próprio comportamento: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5" name="Rectangle 8"/>
          <p:cNvSpPr/>
          <p:nvPr/>
        </p:nvSpPr>
        <p:spPr>
          <a:xfrm>
            <a:off x="640080" y="1993320"/>
            <a:ext cx="10911240" cy="19954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6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7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8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9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0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TesteEmpresa.java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" name="TextBox 14"/>
          <p:cNvSpPr/>
          <p:nvPr/>
        </p:nvSpPr>
        <p:spPr>
          <a:xfrm>
            <a:off x="859680" y="2377440"/>
            <a:ext cx="10472400" cy="15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TesteEmpresa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Funcionario ana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Funcionario(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, 3000);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Gerente carlos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Gerente(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"Carlos"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, 6000, 2000);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ana.exibir();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carlos.exibir();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usa a versão do Gerente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" name="Rectangle 15"/>
          <p:cNvSpPr/>
          <p:nvPr/>
        </p:nvSpPr>
        <p:spPr>
          <a:xfrm>
            <a:off x="640080" y="409896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3" name="Rectangle 16"/>
          <p:cNvSpPr/>
          <p:nvPr/>
        </p:nvSpPr>
        <p:spPr>
          <a:xfrm>
            <a:off x="640080" y="40989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4" name="TextBox 17"/>
          <p:cNvSpPr/>
          <p:nvPr/>
        </p:nvSpPr>
        <p:spPr>
          <a:xfrm>
            <a:off x="804600" y="41461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5" name="TextBox 18"/>
          <p:cNvSpPr/>
          <p:nvPr/>
        </p:nvSpPr>
        <p:spPr>
          <a:xfrm>
            <a:off x="804600" y="444636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 recebe R$ 3000.0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Gerente Carlos recebe R$ 8000.0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" name="TextBox 19"/>
          <p:cNvSpPr/>
          <p:nvPr/>
        </p:nvSpPr>
        <p:spPr>
          <a:xfrm>
            <a:off x="640080" y="50778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protected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permite a subclasse acessar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salario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diretamente.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Polimorfismo: 'muitas formas'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2" name="TextBox 6"/>
          <p:cNvSpPr/>
          <p:nvPr/>
        </p:nvSpPr>
        <p:spPr>
          <a:xfrm>
            <a:off x="640080" y="1371600"/>
            <a:ext cx="10911240" cy="19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Polimorfismo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tratar objetos de classes diferentes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como se fossem do mesmo tipo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Como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Gerente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É UM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Funcionario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podemos guardá-lo numa variável de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Funcionario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Funcionario f = new Gerente(...);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 →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upcasting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(sobe na hierarquia).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Ao chamar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f.exibir()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o Java executa o método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da classe real do objeto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Resultado: um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ArrayList&lt;Funcionario&gt;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pode conter funcionários E gerentes.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código de quem usa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não precisa saber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qual é o tipo exato.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 mais um cargo: Diretor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8" name="Rectangle 6"/>
          <p:cNvSpPr/>
          <p:nvPr/>
        </p:nvSpPr>
        <p:spPr>
          <a:xfrm>
            <a:off x="640080" y="1371600"/>
            <a:ext cx="10911240" cy="257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Diretor.java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" name="TextBox 12"/>
          <p:cNvSpPr/>
          <p:nvPr/>
        </p:nvSpPr>
        <p:spPr>
          <a:xfrm>
            <a:off x="859680" y="1755720"/>
            <a:ext cx="10472400" cy="21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Diretor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extends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Funcionario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bonusExtra;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Diretor(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salario, </a:t>
            </a:r>
            <a:r>
              <a:rPr b="0" lang="en-US" sz="11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bonusExtra)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super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(nome, salario);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.bonusExtra = bonusExtra;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exibir() {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"Diretor "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+ nome + 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</a:rPr>
              <a:t>" recebe R$ "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+ (salario + bonusExtra));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TextBox 13"/>
          <p:cNvSpPr/>
          <p:nvPr/>
        </p:nvSpPr>
        <p:spPr>
          <a:xfrm>
            <a:off x="640080" y="41346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Diretor também é Funcionario: herda nome/salario e reescreve exibir().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folha de pagamento polimórfica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2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Um único loop processa funcionários, gerentes e diretores: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Rectangle 8"/>
          <p:cNvSpPr/>
          <p:nvPr/>
        </p:nvSpPr>
        <p:spPr>
          <a:xfrm>
            <a:off x="640080" y="1993320"/>
            <a:ext cx="10911240" cy="25574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4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5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6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7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8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FolhaPagamento.java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TextBox 14"/>
          <p:cNvSpPr/>
          <p:nvPr/>
        </p:nvSpPr>
        <p:spPr>
          <a:xfrm>
            <a:off x="859680" y="2377440"/>
            <a:ext cx="10472400" cy="20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FolhaPagamento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ArrayList&lt;Funcionario&gt; equipe =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equipe.add(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Funcionario(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"Ana"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, 3000));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equipe.add(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Gerente(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"Carlos"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, 6000, 2000));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equipe.add(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Diretor(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"Sofia"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, 12000, 5000));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(Funcionario f : equipe)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f.exibir();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cada um mostra o SEU valor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0" name="Rectangle 15"/>
          <p:cNvSpPr/>
          <p:nvPr/>
        </p:nvSpPr>
        <p:spPr>
          <a:xfrm>
            <a:off x="640080" y="466092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1" name="Rectangle 16"/>
          <p:cNvSpPr/>
          <p:nvPr/>
        </p:nvSpPr>
        <p:spPr>
          <a:xfrm>
            <a:off x="640080" y="46609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2" name="TextBox 17"/>
          <p:cNvSpPr/>
          <p:nvPr/>
        </p:nvSpPr>
        <p:spPr>
          <a:xfrm>
            <a:off x="804600" y="47080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" name="TextBox 18"/>
          <p:cNvSpPr/>
          <p:nvPr/>
        </p:nvSpPr>
        <p:spPr>
          <a:xfrm>
            <a:off x="804600" y="500832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Ana recebe R$ 3000.0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Gerente Carlos recebe R$ 8000.0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Diretor Sofia recebe R$ 17000.0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4" name="TextBox 19"/>
          <p:cNvSpPr/>
          <p:nvPr/>
        </p:nvSpPr>
        <p:spPr>
          <a:xfrm>
            <a:off x="640080" y="58089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Diretor também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extends Funcionario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, reescrevendo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exibir()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 O loop não muda para novos cargos!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instanceof e downcasting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139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Rectangle 6"/>
          <p:cNvSpPr/>
          <p:nvPr/>
        </p:nvSpPr>
        <p:spPr>
          <a:xfrm>
            <a:off x="640080" y="137160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TesteEquipe.java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6" name="TextBox 12"/>
          <p:cNvSpPr/>
          <p:nvPr/>
        </p:nvSpPr>
        <p:spPr>
          <a:xfrm>
            <a:off x="859680" y="175572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TesteEquipe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Funcionario f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Gerente(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"Carlos"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, 6000, 2000);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(f instanceof Gerente) {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f é um Gerente?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Gerente g = (Gerente) f;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downcasting: desce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"Bônus: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g.getBonus());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"Não é gerente."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" name="Rectangle 13"/>
          <p:cNvSpPr/>
          <p:nvPr/>
        </p:nvSpPr>
        <p:spPr>
          <a:xfrm>
            <a:off x="640080" y="397152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8" name="Rectangle 14"/>
          <p:cNvSpPr/>
          <p:nvPr/>
        </p:nvSpPr>
        <p:spPr>
          <a:xfrm>
            <a:off x="640080" y="39715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9" name="TextBox 15"/>
          <p:cNvSpPr/>
          <p:nvPr/>
        </p:nvSpPr>
        <p:spPr>
          <a:xfrm>
            <a:off x="804600" y="40190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0" name="TextBox 16"/>
          <p:cNvSpPr/>
          <p:nvPr/>
        </p:nvSpPr>
        <p:spPr>
          <a:xfrm>
            <a:off x="804600" y="431892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Bônus: 2000.0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1" name="TextBox 17"/>
          <p:cNvSpPr/>
          <p:nvPr/>
        </p:nvSpPr>
        <p:spPr>
          <a:xfrm>
            <a:off x="640080" y="4781160"/>
            <a:ext cx="10911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instanceof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verifica o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tipo real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do objeto em tempo de execução.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Downcasting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só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funciona após verificar — senão: ClassCastException.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Uso comum: acessar métodos que só existem na subclasse.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1 — Hierarquia de animais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" name="TextBox 6"/>
          <p:cNvSpPr/>
          <p:nvPr/>
        </p:nvSpPr>
        <p:spPr>
          <a:xfrm>
            <a:off x="640080" y="1371600"/>
            <a:ext cx="1091124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Classe base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`Animal`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(protected), construtor, método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emitirSom()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`Cachorro` extends Animal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reescreva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emitirSom()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→ "Au au!"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`Gato` extends Animal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reescreva → "Miau!"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main, um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ArrayList&lt;Animal&gt;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os dois; loop chamando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emitirSom()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8" name="Rectangle 7"/>
          <p:cNvSpPr/>
          <p:nvPr/>
        </p:nvSpPr>
        <p:spPr>
          <a:xfrm>
            <a:off x="640080" y="301464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9" name="Rectangle 8"/>
          <p:cNvSpPr/>
          <p:nvPr/>
        </p:nvSpPr>
        <p:spPr>
          <a:xfrm>
            <a:off x="640080" y="3014640"/>
            <a:ext cx="82080" cy="7768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0" name="TextBox 9"/>
          <p:cNvSpPr/>
          <p:nvPr/>
        </p:nvSpPr>
        <p:spPr>
          <a:xfrm>
            <a:off x="877680" y="309672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Todos os animais têm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emitirSom()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, mas cada um faz diferente — polimorfismo puro.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(Animais — classes)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Rectangle 6"/>
          <p:cNvSpPr/>
          <p:nvPr/>
        </p:nvSpPr>
        <p:spPr>
          <a:xfrm>
            <a:off x="640080" y="1371600"/>
            <a:ext cx="10911240" cy="33591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7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8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9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0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1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Animais.java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2" name="TextBox 12"/>
          <p:cNvSpPr/>
          <p:nvPr/>
        </p:nvSpPr>
        <p:spPr>
          <a:xfrm>
            <a:off x="859680" y="1755720"/>
            <a:ext cx="10472400" cy="29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Animal {                 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arquivo: Animais.java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protected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Animal(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nome)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.nome = nome;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emitirSom()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System.out.println(nome + 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 faz um som genérico."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Cachorro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extends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Animal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Cachorro(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nome)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super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(nome);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emitirSom() { System.out.println(nome + 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": Au au!"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);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Gato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extends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Animal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Gato(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nome)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super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(nome);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emitirSom() { System.out.println(nome + 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": Miau!"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);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1 (Animais — teste polimórfico)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" name="Rectangle 6"/>
          <p:cNvSpPr/>
          <p:nvPr/>
        </p:nvSpPr>
        <p:spPr>
          <a:xfrm>
            <a:off x="640080" y="1371600"/>
            <a:ext cx="10911240" cy="29469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TesteAnimais.java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4" name="TextBox 12"/>
          <p:cNvSpPr/>
          <p:nvPr/>
        </p:nvSpPr>
        <p:spPr>
          <a:xfrm>
            <a:off x="859680" y="1755720"/>
            <a:ext cx="104724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TesteAnimais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ArrayList&lt;Animal&gt; animais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animais.add(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Cachorro(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"Rex"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animais.add(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Gato(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"Mimi"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(Animal a : animais)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a.emitirSom();      </a:t>
            </a:r>
            <a:r>
              <a:rPr b="0" lang="en-US" sz="1250" spc="-1" strike="noStrike">
                <a:solidFill>
                  <a:srgbClr val="6a9955"/>
                </a:solidFill>
                <a:latin typeface="Consolas"/>
              </a:rPr>
              <a:t>// polimorfismo: cada um do seu jeito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5" name="Rectangle 13"/>
          <p:cNvSpPr/>
          <p:nvPr/>
        </p:nvSpPr>
        <p:spPr>
          <a:xfrm>
            <a:off x="640080" y="442872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6" name="Rectangle 14"/>
          <p:cNvSpPr/>
          <p:nvPr/>
        </p:nvSpPr>
        <p:spPr>
          <a:xfrm>
            <a:off x="640080" y="44287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7" name="TextBox 15"/>
          <p:cNvSpPr/>
          <p:nvPr/>
        </p:nvSpPr>
        <p:spPr>
          <a:xfrm>
            <a:off x="804600" y="44762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8" name="TextBox 16"/>
          <p:cNvSpPr/>
          <p:nvPr/>
        </p:nvSpPr>
        <p:spPr>
          <a:xfrm>
            <a:off x="804600" y="477612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Rex: Au au!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Mimi: Miau!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Classes abstratas: o molde incompleto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4" name="TextBox 6"/>
          <p:cNvSpPr/>
          <p:nvPr/>
        </p:nvSpPr>
        <p:spPr>
          <a:xfrm>
            <a:off x="640080" y="1371600"/>
            <a:ext cx="10911240" cy="19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Às vezes a superclasse é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genérica demais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para ter implementação real.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Forma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qual é a área de uma 'forma' genérica? Não existe!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Classe abstrata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não pode ser instanciada (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new Forma()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é proibido).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Serve como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base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para subclasses completarem.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Método abstrato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só a assinatura, sem corpo; cada subclasse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obrigatoriamente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implementa.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Sintaxe: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public abstract class Forma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public abstract double area();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Forma abstrata + Circulo e Retangulo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" name="Rectangle 6"/>
          <p:cNvSpPr/>
          <p:nvPr/>
        </p:nvSpPr>
        <p:spPr>
          <a:xfrm>
            <a:off x="640080" y="1371600"/>
            <a:ext cx="10911240" cy="33591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Formas.java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6" name="TextBox 12"/>
          <p:cNvSpPr/>
          <p:nvPr/>
        </p:nvSpPr>
        <p:spPr>
          <a:xfrm>
            <a:off x="859680" y="1755720"/>
            <a:ext cx="10472400" cy="29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abstract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Forma {         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arquivo: Formas.java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abstract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area();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sem corpo: subclasse decide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Circulo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extends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Forma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raio;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Circulo(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raio)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.raio = raio;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area()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Math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.PI * raio * raio;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Retangulo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extends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Forma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base, altura;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Retangulo(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base,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altura)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.base = base;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.altura = altura;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area()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base * altura;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7" name="Rectangle 13"/>
          <p:cNvSpPr/>
          <p:nvPr/>
        </p:nvSpPr>
        <p:spPr>
          <a:xfrm>
            <a:off x="640080" y="484056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8" name="Rectangle 14"/>
          <p:cNvSpPr/>
          <p:nvPr/>
        </p:nvSpPr>
        <p:spPr>
          <a:xfrm>
            <a:off x="640080" y="48405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9" name="TextBox 15"/>
          <p:cNvSpPr/>
          <p:nvPr/>
        </p:nvSpPr>
        <p:spPr>
          <a:xfrm>
            <a:off x="804600" y="48880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" name="TextBox 16"/>
          <p:cNvSpPr/>
          <p:nvPr/>
        </p:nvSpPr>
        <p:spPr>
          <a:xfrm>
            <a:off x="804600" y="518832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Círculo: 78.53981633974483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Retângulo: 15.0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1" name="TextBox 17"/>
          <p:cNvSpPr/>
          <p:nvPr/>
        </p:nvSpPr>
        <p:spPr>
          <a:xfrm>
            <a:off x="640080" y="58197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new Forma()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não compila. Mas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Forma f = new Circulo(5);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compila — polimorfismo!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Interfaces: o contrato de comportamento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" name="TextBox 6"/>
          <p:cNvSpPr/>
          <p:nvPr/>
        </p:nvSpPr>
        <p:spPr>
          <a:xfrm>
            <a:off x="640080" y="1371600"/>
            <a:ext cx="10911240" cy="19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Interface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define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o que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uma classe faz, sem dizer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como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um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contrato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quem implementa, obriga-se a fornecer os métodos.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Palavra-chave: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implements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a classe pode implementar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várias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interfaces.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Imprimivel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exige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void imprimir()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Qualquer classe pode implementar: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Relatorio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ContaBancaria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...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Uso típico: mesma ação para tipos diferentes (imprimir, salvar, pagar).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Interface Imprimivel na prática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Rectangle 6"/>
          <p:cNvSpPr/>
          <p:nvPr/>
        </p:nvSpPr>
        <p:spPr>
          <a:xfrm>
            <a:off x="640080" y="1371600"/>
            <a:ext cx="10911240" cy="36586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4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5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6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7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8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Imprimivel.java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9" name="TextBox 12"/>
          <p:cNvSpPr/>
          <p:nvPr/>
        </p:nvSpPr>
        <p:spPr>
          <a:xfrm>
            <a:off x="859680" y="1755720"/>
            <a:ext cx="10472400" cy="32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interface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Imprimivel {         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arquivo: Imprimivel.java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imprimir();      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só a assinatura (é public abstract)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Relatorio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Imprimivel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titulo;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Relatorio(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titulo)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.titulo = titulo;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imprimir()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"=== 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+ titulo + 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 ==="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Recibo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Imprimivel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valor;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Recibo(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valor)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.valor = valor;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imprimir()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00" spc="-1" strike="noStrike">
                <a:solidFill>
                  <a:srgbClr val="ce9178"/>
                </a:solidFill>
                <a:latin typeface="Consolas"/>
              </a:rPr>
              <a:t>"Recibo no valor de R$ "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+ valor);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0" name="Rectangle 13"/>
          <p:cNvSpPr/>
          <p:nvPr/>
        </p:nvSpPr>
        <p:spPr>
          <a:xfrm>
            <a:off x="640080" y="514044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1" name="Rectangle 14"/>
          <p:cNvSpPr/>
          <p:nvPr/>
        </p:nvSpPr>
        <p:spPr>
          <a:xfrm>
            <a:off x="640080" y="51404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2" name="TextBox 15"/>
          <p:cNvSpPr/>
          <p:nvPr/>
        </p:nvSpPr>
        <p:spPr>
          <a:xfrm>
            <a:off x="804600" y="51879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3" name="TextBox 16"/>
          <p:cNvSpPr/>
          <p:nvPr/>
        </p:nvSpPr>
        <p:spPr>
          <a:xfrm>
            <a:off x="804600" y="548784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=== Relatório de Vendas ===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Recibo no valor de R$ 99.9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4" name="TextBox 17"/>
          <p:cNvSpPr/>
          <p:nvPr/>
        </p:nvSpPr>
        <p:spPr>
          <a:xfrm>
            <a:off x="640080" y="61192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main: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ArrayList&lt;Imprimivel&gt;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com os dois, loop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imprimir()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Classe abstrata × Interface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0" name="Rectangle 6"/>
          <p:cNvSpPr/>
          <p:nvPr/>
        </p:nvSpPr>
        <p:spPr>
          <a:xfrm>
            <a:off x="640080" y="1280160"/>
            <a:ext cx="5272560" cy="45684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1" name="TextBox 7"/>
          <p:cNvSpPr/>
          <p:nvPr/>
        </p:nvSpPr>
        <p:spPr>
          <a:xfrm>
            <a:off x="804600" y="1432080"/>
            <a:ext cx="4943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CLASSE ABSTRATA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" name="TextBox 8"/>
          <p:cNvSpPr/>
          <p:nvPr/>
        </p:nvSpPr>
        <p:spPr>
          <a:xfrm>
            <a:off x="731520" y="1938600"/>
            <a:ext cx="5089680" cy="14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Pode ter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atributos e métodos concretos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Pode ter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construtores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Representa um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é-um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 ('é uma forma').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Herança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única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 (1 só superclasse).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Ex.: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abstract class Forma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3" name="Rectangle 9"/>
          <p:cNvSpPr/>
          <p:nvPr/>
        </p:nvSpPr>
        <p:spPr>
          <a:xfrm>
            <a:off x="6278760" y="1280160"/>
            <a:ext cx="5272560" cy="456840"/>
          </a:xfrm>
          <a:prstGeom prst="rect">
            <a:avLst/>
          </a:prstGeom>
          <a:solidFill>
            <a:srgbClr val="94a3b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4" name="TextBox 10"/>
          <p:cNvSpPr/>
          <p:nvPr/>
        </p:nvSpPr>
        <p:spPr>
          <a:xfrm>
            <a:off x="6443280" y="1432080"/>
            <a:ext cx="4943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INTERFACE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5" name="TextBox 11"/>
          <p:cNvSpPr/>
          <p:nvPr/>
        </p:nvSpPr>
        <p:spPr>
          <a:xfrm>
            <a:off x="6370200" y="1938600"/>
            <a:ext cx="5089680" cy="14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Só assinaturas (até Java 8; depois, defaults).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Sem construtores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Representa um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faz/é capaz de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 ('é imprimível').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Uma classe pode implementar </a:t>
            </a:r>
            <a:r>
              <a:rPr b="1" lang="en-US" sz="1450" spc="-1" strike="noStrike">
                <a:solidFill>
                  <a:srgbClr val="1e293b"/>
                </a:solidFill>
                <a:latin typeface="Calibri"/>
              </a:rPr>
              <a:t>várias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50" spc="-1" strike="noStrike">
                <a:solidFill>
                  <a:srgbClr val="1e293b"/>
                </a:solidFill>
                <a:latin typeface="Calibri"/>
              </a:rPr>
              <a:t>Ex.: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interface Imprimivel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sistema de pagamento com interface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1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2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Meios de pagamento diferentes, uma única chamada: pagar():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3" name="Rectangle 8"/>
          <p:cNvSpPr/>
          <p:nvPr/>
        </p:nvSpPr>
        <p:spPr>
          <a:xfrm>
            <a:off x="640080" y="1993320"/>
            <a:ext cx="10911240" cy="37486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4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5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6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7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8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Pagamento.java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9" name="TextBox 14"/>
          <p:cNvSpPr/>
          <p:nvPr/>
        </p:nvSpPr>
        <p:spPr>
          <a:xfrm>
            <a:off x="859680" y="2377440"/>
            <a:ext cx="10472400" cy="33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interface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Pagamento {              </a:t>
            </a:r>
            <a:r>
              <a:rPr b="0" lang="en-US" sz="900" spc="-1" strike="noStrike">
                <a:solidFill>
                  <a:srgbClr val="6a9955"/>
                </a:solidFill>
                <a:latin typeface="Consolas"/>
              </a:rPr>
              <a:t>// arquivo: Pagamento.java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pagar(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valor);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Cartao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Pagamento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pagar(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"Cartão: aprovado R$ 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+ valor);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Pix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Pagamento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pagar(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"Pix: R$ 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+ valor + 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 enviado"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Boleto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Pagamento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pagar(</a:t>
            </a:r>
            <a:r>
              <a:rPr b="0" lang="en-US" sz="9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valor) {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"Boleto de R$ 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+ valor + </a:t>
            </a:r>
            <a:r>
              <a:rPr b="0" lang="en-US" sz="900" spc="-1" strike="noStrike">
                <a:solidFill>
                  <a:srgbClr val="ce9178"/>
                </a:solidFill>
                <a:latin typeface="Consolas"/>
              </a:rPr>
              <a:t>" gerado"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0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;   </a:t>
            </a:r>
            <a:r>
              <a:rPr b="0" lang="en-US" sz="900" spc="-1" strike="noStrike">
                <a:solidFill>
                  <a:srgbClr val="6a9955"/>
                </a:solidFill>
                <a:latin typeface="Consolas"/>
              </a:rPr>
              <a:t>// compensa em 1 dia útil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0" name="TextBox 15"/>
          <p:cNvSpPr/>
          <p:nvPr/>
        </p:nvSpPr>
        <p:spPr>
          <a:xfrm>
            <a:off x="640080" y="592524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loja só conhece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Pagamento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adicionar um novo meio não muda o resto do sistema.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2 — Veículos com interface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149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6" name="TextBox 6"/>
          <p:cNvSpPr/>
          <p:nvPr/>
        </p:nvSpPr>
        <p:spPr>
          <a:xfrm>
            <a:off x="640080" y="1371600"/>
            <a:ext cx="1091124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Interface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`Veiculo`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acelerar()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void frear()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`Carro` implements Veiculo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acelerar → "Carro acelerando...", frear → "Carro freando..."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`Moto` implements Veiculo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mensagens próprias.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main: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ArrayList&lt;Veiculo&gt;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um de cada; loop chamando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acelerar()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7" name="Rectangle 7"/>
          <p:cNvSpPr/>
          <p:nvPr/>
        </p:nvSpPr>
        <p:spPr>
          <a:xfrm>
            <a:off x="640080" y="301464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8" name="Rectangle 8"/>
          <p:cNvSpPr/>
          <p:nvPr/>
        </p:nvSpPr>
        <p:spPr>
          <a:xfrm>
            <a:off x="640080" y="3014640"/>
            <a:ext cx="82080" cy="7768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9" name="TextBox 9"/>
          <p:cNvSpPr/>
          <p:nvPr/>
        </p:nvSpPr>
        <p:spPr>
          <a:xfrm>
            <a:off x="877680" y="309672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A interface garante que TODO veículo sabe acelerar e frear.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1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2 (Veículos)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2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3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4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5" name="Rectangle 6"/>
          <p:cNvSpPr/>
          <p:nvPr/>
        </p:nvSpPr>
        <p:spPr>
          <a:xfrm>
            <a:off x="640080" y="1371600"/>
            <a:ext cx="10911240" cy="2714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6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7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8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9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0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Veiculos.java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1" name="TextBox 12"/>
          <p:cNvSpPr/>
          <p:nvPr/>
        </p:nvSpPr>
        <p:spPr>
          <a:xfrm>
            <a:off x="859680" y="1755720"/>
            <a:ext cx="10472400" cy="22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interface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Veiculo {                </a:t>
            </a:r>
            <a:r>
              <a:rPr b="0" lang="en-US" sz="1050" spc="-1" strike="noStrike">
                <a:solidFill>
                  <a:srgbClr val="6a9955"/>
                </a:solidFill>
                <a:latin typeface="Consolas"/>
              </a:rPr>
              <a:t>// arquivo: Veiculos.java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acelerar();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frear();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Carro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Veiculo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@Override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acelerar() { 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"Carro acelerando..."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@Override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frear()    { 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"Carro freando..."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Moto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Veiculo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@Override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acelerar() { 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"Moto acelerando..."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@Override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frear()    { 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"Moto freando..."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2" name="Rectangle 13"/>
          <p:cNvSpPr/>
          <p:nvPr/>
        </p:nvSpPr>
        <p:spPr>
          <a:xfrm>
            <a:off x="640080" y="419616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3" name="Rectangle 14"/>
          <p:cNvSpPr/>
          <p:nvPr/>
        </p:nvSpPr>
        <p:spPr>
          <a:xfrm>
            <a:off x="640080" y="419616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4" name="TextBox 15"/>
          <p:cNvSpPr/>
          <p:nvPr/>
        </p:nvSpPr>
        <p:spPr>
          <a:xfrm>
            <a:off x="804600" y="424368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5" name="TextBox 16"/>
          <p:cNvSpPr/>
          <p:nvPr/>
        </p:nvSpPr>
        <p:spPr>
          <a:xfrm>
            <a:off x="804600" y="454392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Carro acelerando...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Moto acelerando...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Object: a superclasse de tudo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1" name="TextBox 6"/>
          <p:cNvSpPr/>
          <p:nvPr/>
        </p:nvSpPr>
        <p:spPr>
          <a:xfrm>
            <a:off x="640080" y="1371600"/>
            <a:ext cx="10911240" cy="22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Toda classe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em Java herda de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Object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(direta ou indiretamente).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por isso que todo objeto tem: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toString()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texto representando o objeto,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equals(Object)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comparação lógica,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hashCode()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código numérico (usado em coleções).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Ao reescrever, use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@Override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para manter o contrato.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Hierarquia: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Gerente → Funcionario → Object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Exercício 3 — Integrador: folha de pagamento com interface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7" name="TextBox 6"/>
          <p:cNvSpPr/>
          <p:nvPr/>
        </p:nvSpPr>
        <p:spPr>
          <a:xfrm>
            <a:off x="640080" y="1371600"/>
            <a:ext cx="1091124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Interface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`Pagavel`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double calcularPagamento();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`Funcionario` implements Pagavel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pagamento = salário.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`Freelancer` implements Pagavel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pagamento = horas × valorHora.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No main,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ArrayList&lt;Pagavel&gt;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 ambos; some tudo num loop.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Desafio: crie uma terceira classe que implementa 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Pagavel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sem mudar o loop.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8" name="Rectangle 7"/>
          <p:cNvSpPr/>
          <p:nvPr/>
        </p:nvSpPr>
        <p:spPr>
          <a:xfrm>
            <a:off x="640080" y="3368160"/>
            <a:ext cx="10911240" cy="77688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9" name="Rectangle 8"/>
          <p:cNvSpPr/>
          <p:nvPr/>
        </p:nvSpPr>
        <p:spPr>
          <a:xfrm>
            <a:off x="640080" y="3368160"/>
            <a:ext cx="82080" cy="7768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0" name="TextBox 9"/>
          <p:cNvSpPr/>
          <p:nvPr/>
        </p:nvSpPr>
        <p:spPr>
          <a:xfrm>
            <a:off x="877680" y="3450240"/>
            <a:ext cx="10454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5b6b80"/>
                </a:solidFill>
                <a:latin typeface="Calibri"/>
              </a:rPr>
              <a:t>Dica: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O loop soma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calcularPagamento()</a:t>
            </a: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 de cada um — funciona para qualquer nova classe.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(Folha de pagamento com interface)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6" name="Rectangle 6"/>
          <p:cNvSpPr/>
          <p:nvPr/>
        </p:nvSpPr>
        <p:spPr>
          <a:xfrm>
            <a:off x="640080" y="1371600"/>
            <a:ext cx="10911240" cy="30592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7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8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9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0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1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Pagavel.java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2" name="TextBox 12"/>
          <p:cNvSpPr/>
          <p:nvPr/>
        </p:nvSpPr>
        <p:spPr>
          <a:xfrm>
            <a:off x="859680" y="1755720"/>
            <a:ext cx="10472400" cy="25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interface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Pagavel {            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</a:rPr>
              <a:t>// arquivo: Pagavel.java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calcularPagamento();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Funcionario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Pagavel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salario;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Funcionario(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salario)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.salario = salario;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calcularPagamento()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salario;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Freelancer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implements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Pagavel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horas, valorHora;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Freelancer(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horas,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valorHora)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.horas = horas;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.valorHora = valorHora;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@Override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calcularPagamento() { </a:t>
            </a:r>
            <a:r>
              <a:rPr b="0" lang="en-US" sz="1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 horas * valorHora; 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Resolução — Exercício 3 (Folha de pagamento — teste)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8" name="Rectangle 6"/>
          <p:cNvSpPr/>
          <p:nvPr/>
        </p:nvSpPr>
        <p:spPr>
          <a:xfrm>
            <a:off x="640080" y="1371600"/>
            <a:ext cx="10911240" cy="33217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TesteFolha.java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4" name="TextBox 12"/>
          <p:cNvSpPr/>
          <p:nvPr/>
        </p:nvSpPr>
        <p:spPr>
          <a:xfrm>
            <a:off x="859680" y="1755720"/>
            <a:ext cx="10472400" cy="28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TesteFolha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ArrayList&lt;Pagavel&gt; pagaveis =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pagaveis.add(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Funcionario(3500));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pagaveis.add(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Freelancer(40, 80));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total = 0;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(Pagavel p : pagaveis) {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total += p.calcularPagamento();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250" spc="-1" strike="noStrike">
                <a:solidFill>
                  <a:srgbClr val="ce9178"/>
                </a:solidFill>
                <a:latin typeface="Consolas"/>
              </a:rPr>
              <a:t>"Total a pagar: R$ "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+ total);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5" name="Rectangle 13"/>
          <p:cNvSpPr/>
          <p:nvPr/>
        </p:nvSpPr>
        <p:spPr>
          <a:xfrm>
            <a:off x="640080" y="480312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6" name="Rectangle 14"/>
          <p:cNvSpPr/>
          <p:nvPr/>
        </p:nvSpPr>
        <p:spPr>
          <a:xfrm>
            <a:off x="640080" y="48031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7" name="TextBox 15"/>
          <p:cNvSpPr/>
          <p:nvPr/>
        </p:nvSpPr>
        <p:spPr>
          <a:xfrm>
            <a:off x="804600" y="48506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8" name="TextBox 16"/>
          <p:cNvSpPr/>
          <p:nvPr/>
        </p:nvSpPr>
        <p:spPr>
          <a:xfrm>
            <a:off x="804600" y="515088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Total a pagar: R$ 6700.0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Resumo do Módulo 4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" name="Rectangle 6"/>
          <p:cNvSpPr/>
          <p:nvPr/>
        </p:nvSpPr>
        <p:spPr>
          <a:xfrm>
            <a:off x="640080" y="1261800"/>
            <a:ext cx="10911240" cy="4536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5" name="TextBox 7"/>
          <p:cNvSpPr/>
          <p:nvPr/>
        </p:nvSpPr>
        <p:spPr>
          <a:xfrm>
            <a:off x="640080" y="1536120"/>
            <a:ext cx="10911240" cy="23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Herança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extends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): subclasse ganha atributos/métodos da superclasse.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`super(...)`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chama o construtor da base;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`protected`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libera para subclasses.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Override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@Override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): reescreve o comportamento herdado.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Polimorfismo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tratar tipos diferentes como o tipo comum e chamar seus métodos.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Classe abstrata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não instancia;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método abstrato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obriga subclasses a implementar.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Interface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(</a:t>
            </a:r>
            <a:r>
              <a:rPr b="0" lang="en-US" sz="1450" spc="-1" strike="noStrike">
                <a:solidFill>
                  <a:srgbClr val="0b6672"/>
                </a:solidFill>
                <a:latin typeface="Consolas"/>
              </a:rPr>
              <a:t>implements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): contrato 'o que faz'; uma classe pode ter várias.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Object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é a superclasse universal (toString, equals).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4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7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Checkpoint rápido — Módulo 4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8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9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0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1" name="TextBox 6"/>
          <p:cNvSpPr/>
          <p:nvPr/>
        </p:nvSpPr>
        <p:spPr>
          <a:xfrm>
            <a:off x="640080" y="1371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1.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Palavra-chave da herança: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2" name="TextBox 7"/>
          <p:cNvSpPr/>
          <p:nvPr/>
        </p:nvSpPr>
        <p:spPr>
          <a:xfrm>
            <a:off x="1005840" y="1755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implements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extends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super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3" name="TextBox 8"/>
          <p:cNvSpPr/>
          <p:nvPr/>
        </p:nvSpPr>
        <p:spPr>
          <a:xfrm>
            <a:off x="640080" y="279792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2.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Upcasting é: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4" name="TextBox 9"/>
          <p:cNvSpPr/>
          <p:nvPr/>
        </p:nvSpPr>
        <p:spPr>
          <a:xfrm>
            <a:off x="1005840" y="318204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Guardar subclasse numa referência da superclasse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Excluir a superclasse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Criar um objeto abstrato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5" name="TextBox 10"/>
          <p:cNvSpPr/>
          <p:nvPr/>
        </p:nvSpPr>
        <p:spPr>
          <a:xfrm>
            <a:off x="640080" y="4224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3.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Interface pode ser instanciada com new?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6" name="TextBox 11"/>
          <p:cNvSpPr/>
          <p:nvPr/>
        </p:nvSpPr>
        <p:spPr>
          <a:xfrm>
            <a:off x="1005840" y="4608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Sim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Não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Só em Java 21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7" name="Rectangle 12"/>
          <p:cNvSpPr/>
          <p:nvPr/>
        </p:nvSpPr>
        <p:spPr>
          <a:xfrm>
            <a:off x="640080" y="5961960"/>
            <a:ext cx="10911240" cy="36540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8" name="TextBox 13"/>
          <p:cNvSpPr/>
          <p:nvPr/>
        </p:nvSpPr>
        <p:spPr>
          <a:xfrm>
            <a:off x="804600" y="6054120"/>
            <a:ext cx="10581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6672"/>
                </a:solidFill>
                <a:latin typeface="Calibri"/>
              </a:rPr>
              <a:t>Gabarito:</a:t>
            </a:r>
            <a:r>
              <a:rPr b="0" lang="en-US" sz="1300" spc="-1" strike="noStrike">
                <a:solidFill>
                  <a:srgbClr val="0b6672"/>
                </a:solidFill>
                <a:latin typeface="Calibri"/>
              </a:rPr>
              <a:t> 1→B, 2→A, 3→B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0" name="Oval 2"/>
          <p:cNvSpPr/>
          <p:nvPr/>
        </p:nvSpPr>
        <p:spPr>
          <a:xfrm>
            <a:off x="8778240" y="-2377440"/>
            <a:ext cx="5943240" cy="594324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1" name="Oval 3"/>
          <p:cNvSpPr/>
          <p:nvPr/>
        </p:nvSpPr>
        <p:spPr>
          <a:xfrm>
            <a:off x="10149840" y="-1737360"/>
            <a:ext cx="4663080" cy="4663080"/>
          </a:xfrm>
          <a:prstGeom prst="ellipse">
            <a:avLst/>
          </a:prstGeom>
          <a:noFill/>
          <a:ln w="31680">
            <a:solidFill>
              <a:srgbClr val="ffff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2" name="TextBox 4"/>
          <p:cNvSpPr/>
          <p:nvPr/>
        </p:nvSpPr>
        <p:spPr>
          <a:xfrm>
            <a:off x="10058400" y="320040"/>
            <a:ext cx="22856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pt-B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3" name="TextBox 5"/>
          <p:cNvSpPr/>
          <p:nvPr/>
        </p:nvSpPr>
        <p:spPr>
          <a:xfrm>
            <a:off x="914400" y="2148840"/>
            <a:ext cx="9600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Módulo 5 · 8 horas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4" name="TextBox 6"/>
          <p:cNvSpPr/>
          <p:nvPr/>
        </p:nvSpPr>
        <p:spPr>
          <a:xfrm>
            <a:off x="914400" y="2606040"/>
            <a:ext cx="100580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Tratamento de erros e Projeto Final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5" name="TextBox 7"/>
          <p:cNvSpPr/>
          <p:nvPr/>
        </p:nvSpPr>
        <p:spPr>
          <a:xfrm>
            <a:off x="914400" y="3703320"/>
            <a:ext cx="8960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0f4f8"/>
                </a:solidFill>
                <a:latin typeface="Calibri"/>
              </a:rPr>
              <a:t>Código que não quebra + um sistema completo do início ao fim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6" name="Rectangle 8"/>
          <p:cNvSpPr/>
          <p:nvPr/>
        </p:nvSpPr>
        <p:spPr>
          <a:xfrm>
            <a:off x="914400" y="4343400"/>
            <a:ext cx="2377080" cy="5436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7" name="TextBox 9"/>
          <p:cNvSpPr/>
          <p:nvPr/>
        </p:nvSpPr>
        <p:spPr>
          <a:xfrm>
            <a:off x="914400" y="4617720"/>
            <a:ext cx="7863480" cy="12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Entender e tratar exceções (try/catch)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Lançar exceções com throw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Organizar código em pacotes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Modelar e construir um sistema escolar completo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✓  </a:t>
            </a:r>
            <a:r>
              <a:rPr b="0" lang="en-US" sz="1350" spc="-1" strike="noStrike">
                <a:solidFill>
                  <a:srgbClr val="f5f7fa"/>
                </a:solidFill>
                <a:latin typeface="Calibri"/>
              </a:rPr>
              <a:t>Testar o sistema e planejar melhorias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8" name="TextBox 10"/>
          <p:cNvSpPr/>
          <p:nvPr/>
        </p:nvSpPr>
        <p:spPr>
          <a:xfrm>
            <a:off x="914400" y="6355080"/>
            <a:ext cx="7314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Curso 40h · Programação Orientada a Objetos com Java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Agenda do módulo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4" name="TextBox 6"/>
          <p:cNvSpPr/>
          <p:nvPr/>
        </p:nvSpPr>
        <p:spPr>
          <a:xfrm>
            <a:off x="64008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1.  Exceções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5" name="TextBox 7"/>
          <p:cNvSpPr/>
          <p:nvPr/>
        </p:nvSpPr>
        <p:spPr>
          <a:xfrm>
            <a:off x="93276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O que são, try/catch/finally, throw, verificadas × não verificadas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6" name="TextBox 8"/>
          <p:cNvSpPr/>
          <p:nvPr/>
        </p:nvSpPr>
        <p:spPr>
          <a:xfrm>
            <a:off x="640080" y="215136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2.  Pacotes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7" name="TextBox 9"/>
          <p:cNvSpPr/>
          <p:nvPr/>
        </p:nvSpPr>
        <p:spPr>
          <a:xfrm>
            <a:off x="932760" y="248040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package e import, organização de projetos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8" name="TextBox 10"/>
          <p:cNvSpPr/>
          <p:nvPr/>
        </p:nvSpPr>
        <p:spPr>
          <a:xfrm>
            <a:off x="6415920" y="137160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3.  Projeto final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9" name="TextBox 11"/>
          <p:cNvSpPr/>
          <p:nvPr/>
        </p:nvSpPr>
        <p:spPr>
          <a:xfrm>
            <a:off x="6708600" y="17006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Escopo, modelagem, classes, menu interativo, cadastro, busca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0" name="TextBox 12"/>
          <p:cNvSpPr/>
          <p:nvPr/>
        </p:nvSpPr>
        <p:spPr>
          <a:xfrm>
            <a:off x="6415920" y="1972440"/>
            <a:ext cx="51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Calibri"/>
              </a:rPr>
              <a:t>4.  Testes e encerramento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1" name="TextBox 13"/>
          <p:cNvSpPr/>
          <p:nvPr/>
        </p:nvSpPr>
        <p:spPr>
          <a:xfrm>
            <a:off x="6708600" y="2301840"/>
            <a:ext cx="48427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7000" indent="-219600" defTabSz="457200">
              <a:lnSpc>
                <a:spcPct val="102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100" spc="-1" strike="noStrike">
                <a:solidFill>
                  <a:srgbClr val="5b6b80"/>
                </a:solidFill>
                <a:latin typeface="Calibri"/>
              </a:rPr>
              <a:t>Executando, checklist, próximos passos, certificado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O que são exceções?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159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7" name="TextBox 6"/>
          <p:cNvSpPr/>
          <p:nvPr/>
        </p:nvSpPr>
        <p:spPr>
          <a:xfrm>
            <a:off x="640080" y="1371600"/>
            <a:ext cx="10911240" cy="26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Exceção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= erro que acontece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em tempo de execução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interrompe o programa.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Exemplos comuns: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ArithmeticException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— dividir por zero;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NullPointerException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— usar objeto não criado;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InputMismatchException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— digitar texto onde se espera número;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IndexOutOfBoundsException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— acessar posição inexistente da lista.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Sem tratamento, o programa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morre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imprime uma pilha de erros (stack trace).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Com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try/catch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capturamos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o erro e continuamos com elegância.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divisão por zero sem tratamento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3" name="Rectangle 6"/>
          <p:cNvSpPr/>
          <p:nvPr/>
        </p:nvSpPr>
        <p:spPr>
          <a:xfrm>
            <a:off x="640080" y="1371600"/>
            <a:ext cx="10911240" cy="19954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4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5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6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7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8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SemTratamento.java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9" name="TextBox 12"/>
          <p:cNvSpPr/>
          <p:nvPr/>
        </p:nvSpPr>
        <p:spPr>
          <a:xfrm>
            <a:off x="859680" y="1755720"/>
            <a:ext cx="10472400" cy="15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SemTratamento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 = 10;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 = 0;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resultado = a / b;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estoura aqui!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"Resultado: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resultado);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"Fim do programa."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0" name="Rectangle 13"/>
          <p:cNvSpPr/>
          <p:nvPr/>
        </p:nvSpPr>
        <p:spPr>
          <a:xfrm>
            <a:off x="640080" y="347688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1" name="Rectangle 14"/>
          <p:cNvSpPr/>
          <p:nvPr/>
        </p:nvSpPr>
        <p:spPr>
          <a:xfrm>
            <a:off x="640080" y="347688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2" name="TextBox 15"/>
          <p:cNvSpPr/>
          <p:nvPr/>
        </p:nvSpPr>
        <p:spPr>
          <a:xfrm>
            <a:off x="804600" y="352440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3" name="TextBox 16"/>
          <p:cNvSpPr/>
          <p:nvPr/>
        </p:nvSpPr>
        <p:spPr>
          <a:xfrm>
            <a:off x="804600" y="382464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Exception in thread "main" java.lang.ArithmeticException: / by zero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at SemTratamento.main(SemTratamento.java:5)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4" name="TextBox 17"/>
          <p:cNvSpPr/>
          <p:nvPr/>
        </p:nvSpPr>
        <p:spPr>
          <a:xfrm>
            <a:off x="640080" y="445608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última linha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nunca executa: o programa foi interrompido.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stack trace mostra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onde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o erro aconteceu (arquivo:linha).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Tratando com try/catch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0" name="Rectangle 6"/>
          <p:cNvSpPr/>
          <p:nvPr/>
        </p:nvSpPr>
        <p:spPr>
          <a:xfrm>
            <a:off x="640080" y="1371600"/>
            <a:ext cx="10911240" cy="32230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ComTratamento.java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6" name="TextBox 12"/>
          <p:cNvSpPr/>
          <p:nvPr/>
        </p:nvSpPr>
        <p:spPr>
          <a:xfrm>
            <a:off x="859680" y="1755720"/>
            <a:ext cx="10472400" cy="27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java.util.Scanner;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ComTratamento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Scanner teclado =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Scanner(System.in);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010" spc="-1" strike="noStrike">
                <a:solidFill>
                  <a:srgbClr val="ce9178"/>
                </a:solidFill>
                <a:latin typeface="Consolas"/>
              </a:rPr>
              <a:t>"Digite dois números: "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a = teclado.nextInt();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b = teclado.nextInt();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try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1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resultado = a / b;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10" spc="-1" strike="noStrike">
                <a:solidFill>
                  <a:srgbClr val="ce9178"/>
                </a:solidFill>
                <a:latin typeface="Consolas"/>
              </a:rPr>
              <a:t>"Resultado: "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+ resultado);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010" spc="-1" strike="noStrike">
                <a:solidFill>
                  <a:srgbClr val="569cd6"/>
                </a:solidFill>
                <a:latin typeface="Consolas"/>
              </a:rPr>
              <a:t>catch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(ArithmeticException e) {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10" spc="-1" strike="noStrike">
                <a:solidFill>
                  <a:srgbClr val="ce9178"/>
                </a:solidFill>
                <a:latin typeface="Consolas"/>
              </a:rPr>
              <a:t>"Ops! Não dá para dividir por zero."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10" spc="-1" strike="noStrike">
                <a:solidFill>
                  <a:srgbClr val="ce9178"/>
                </a:solidFill>
                <a:latin typeface="Consolas"/>
              </a:rPr>
              <a:t>"Fim do programa."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1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7" name="Rectangle 13"/>
          <p:cNvSpPr/>
          <p:nvPr/>
        </p:nvSpPr>
        <p:spPr>
          <a:xfrm>
            <a:off x="640080" y="4704840"/>
            <a:ext cx="10911240" cy="96516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8" name="Rectangle 14"/>
          <p:cNvSpPr/>
          <p:nvPr/>
        </p:nvSpPr>
        <p:spPr>
          <a:xfrm>
            <a:off x="640080" y="470484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9" name="TextBox 15"/>
          <p:cNvSpPr/>
          <p:nvPr/>
        </p:nvSpPr>
        <p:spPr>
          <a:xfrm>
            <a:off x="804600" y="475236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0" name="TextBox 16"/>
          <p:cNvSpPr/>
          <p:nvPr/>
        </p:nvSpPr>
        <p:spPr>
          <a:xfrm>
            <a:off x="804600" y="5052240"/>
            <a:ext cx="1058184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Digite dois números: 10 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Ops! Não dá para dividir por zero.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Fim do programa.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1" name="TextBox 17"/>
          <p:cNvSpPr/>
          <p:nvPr/>
        </p:nvSpPr>
        <p:spPr>
          <a:xfrm>
            <a:off x="640080" y="585324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que pode dar errado vai no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try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; a resposta ao erro, no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catch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programa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continua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após o tratamento — nada de 'morrer'.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try/catch/finally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7" name="Rectangle 6"/>
          <p:cNvSpPr/>
          <p:nvPr/>
        </p:nvSpPr>
        <p:spPr>
          <a:xfrm>
            <a:off x="640080" y="137160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Finally.java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3" name="TextBox 12"/>
          <p:cNvSpPr/>
          <p:nvPr/>
        </p:nvSpPr>
        <p:spPr>
          <a:xfrm>
            <a:off x="859680" y="175572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Finally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try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[] numeros = {1, 2, 3};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System.out.println(numeros[5]);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estoura!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catch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(ArrayIndexOutOfBoundsException e)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"Índice fora dos limites!"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finally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"Sempre executo (com erro ou não)."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4" name="Rectangle 13"/>
          <p:cNvSpPr/>
          <p:nvPr/>
        </p:nvSpPr>
        <p:spPr>
          <a:xfrm>
            <a:off x="640080" y="3971520"/>
            <a:ext cx="10911240" cy="7956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5" name="Rectangle 14"/>
          <p:cNvSpPr/>
          <p:nvPr/>
        </p:nvSpPr>
        <p:spPr>
          <a:xfrm>
            <a:off x="640080" y="397152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6" name="TextBox 15"/>
          <p:cNvSpPr/>
          <p:nvPr/>
        </p:nvSpPr>
        <p:spPr>
          <a:xfrm>
            <a:off x="804600" y="401904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7" name="TextBox 16"/>
          <p:cNvSpPr/>
          <p:nvPr/>
        </p:nvSpPr>
        <p:spPr>
          <a:xfrm>
            <a:off x="804600" y="4318920"/>
            <a:ext cx="1058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Índice fora dos limites!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Sempre executo (com erro ou não).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8" name="TextBox 17"/>
          <p:cNvSpPr/>
          <p:nvPr/>
        </p:nvSpPr>
        <p:spPr>
          <a:xfrm>
            <a:off x="640080" y="49503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finally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roda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sempre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— usado para fechar recursos (Scanner, arquivos).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Verificadas × não verificadas (e o throw)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4" name="TextBox 6"/>
          <p:cNvSpPr/>
          <p:nvPr/>
        </p:nvSpPr>
        <p:spPr>
          <a:xfrm>
            <a:off x="640080" y="1371600"/>
            <a:ext cx="10911240" cy="22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Não verificadas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(unchecked):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RuntimeException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filhas — o Java não obriga a tratar.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ArithmeticException, NullPointerException, InputMismatchException...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Verificadas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(checked): o compilador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exige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try/catch ou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throws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IOException, SQLException... (leitura de arquivos, banco).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`throw`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lança uma exceção de propósito: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throw new IllegalArgumentException("Idade inválida");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É a forma profissional de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recusar valores inválidos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melhor que imprimir aviso.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Lançando exceções: validando objetos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0" name="Rectangle 6"/>
          <p:cNvSpPr/>
          <p:nvPr/>
        </p:nvSpPr>
        <p:spPr>
          <a:xfrm>
            <a:off x="640080" y="1371600"/>
            <a:ext cx="10911240" cy="33440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Pessoa.java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6" name="TextBox 12"/>
          <p:cNvSpPr/>
          <p:nvPr/>
        </p:nvSpPr>
        <p:spPr>
          <a:xfrm>
            <a:off x="859680" y="1755720"/>
            <a:ext cx="10472400" cy="28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Pessoa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idade;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setIdade(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idade)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(idade &lt; 0)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throw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IllegalArgumentException(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"Idade não pode ser negativa: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idade);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.idade = idade;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setNome(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nome)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(nome ==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null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|| nome.trim().isEmpty())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throw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IllegalArgumentException(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"Nome não pode ser vazio."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7" name="Rectangle 13"/>
          <p:cNvSpPr/>
          <p:nvPr/>
        </p:nvSpPr>
        <p:spPr>
          <a:xfrm>
            <a:off x="640080" y="4825800"/>
            <a:ext cx="10911240" cy="626400"/>
          </a:xfrm>
          <a:prstGeom prst="rect">
            <a:avLst/>
          </a:prstGeom>
          <a:solidFill>
            <a:srgbClr val="eef2f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8" name="Rectangle 14"/>
          <p:cNvSpPr/>
          <p:nvPr/>
        </p:nvSpPr>
        <p:spPr>
          <a:xfrm>
            <a:off x="640080" y="4825800"/>
            <a:ext cx="10911240" cy="255600"/>
          </a:xfrm>
          <a:prstGeom prst="rect">
            <a:avLst/>
          </a:prstGeom>
          <a:solidFill>
            <a:srgbClr val="dce4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9" name="TextBox 15"/>
          <p:cNvSpPr/>
          <p:nvPr/>
        </p:nvSpPr>
        <p:spPr>
          <a:xfrm>
            <a:off x="804600" y="4873320"/>
            <a:ext cx="1828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b80"/>
                </a:solidFill>
                <a:latin typeface="Calibri"/>
              </a:rPr>
              <a:t>Saída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0" name="TextBox 16"/>
          <p:cNvSpPr/>
          <p:nvPr/>
        </p:nvSpPr>
        <p:spPr>
          <a:xfrm>
            <a:off x="804600" y="5173200"/>
            <a:ext cx="10581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334155"/>
                </a:solidFill>
                <a:latin typeface="Consolas"/>
              </a:rPr>
              <a:t>Erro: Idade não pode ser negativa: -5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1" name="TextBox 17"/>
          <p:cNvSpPr/>
          <p:nvPr/>
        </p:nvSpPr>
        <p:spPr>
          <a:xfrm>
            <a:off x="640080" y="563508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Quem chamar com valor inválido recebe a </a:t>
            </a:r>
            <a:r>
              <a:rPr b="1" lang="en-US" sz="1350" spc="-1" strike="noStrike">
                <a:solidFill>
                  <a:srgbClr val="1e293b"/>
                </a:solidFill>
                <a:latin typeface="Calibri"/>
              </a:rPr>
              <a:t>exceção com a mensagem clara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main, envolvemos a chamada em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try/catch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para responder ao usuário.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Pacotes: organizando o projeto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7" name="TextBox 6"/>
          <p:cNvSpPr/>
          <p:nvPr/>
        </p:nvSpPr>
        <p:spPr>
          <a:xfrm>
            <a:off x="640080" y="1371600"/>
            <a:ext cx="10911240" cy="26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Com muitos arquivos, organizamos 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pacotes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(pastas lógicas).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Convenção: domínio invertido —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br.com.escola.modelo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br.com.escola.servico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Declara-se no topo: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package br.com.escola.modelo;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Para usar uma classe de outro pacote: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import br.com.escola.modelo.Aluno;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Classes do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mesmo pacote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não precisam de import.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Estrutura típica do projeto final: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modelo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Aluno, Professor, Turma (as classes de dados),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aplicacao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→ o programa principal com o menu.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Exemplo: package e import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3" name="Rectangle 6"/>
          <p:cNvSpPr/>
          <p:nvPr/>
        </p:nvSpPr>
        <p:spPr>
          <a:xfrm>
            <a:off x="640080" y="1371600"/>
            <a:ext cx="10911240" cy="24897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4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5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6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7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8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Estrutura.java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9" name="TextBox 12"/>
          <p:cNvSpPr/>
          <p:nvPr/>
        </p:nvSpPr>
        <p:spPr>
          <a:xfrm>
            <a:off x="859680" y="1755720"/>
            <a:ext cx="10472400" cy="20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arquivo: modelo/Aluno.java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package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br.com.escola.modelo;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 { ...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arquivo: aplicacao/Principal.java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package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br.com.escola.aplicacao;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br.com.escola.modelo.Aluno;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java.util.Scanner;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Principal { ...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0" name="TextBox 13"/>
          <p:cNvSpPr/>
          <p:nvPr/>
        </p:nvSpPr>
        <p:spPr>
          <a:xfrm>
            <a:off x="640080" y="4044600"/>
            <a:ext cx="109112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No IntelliJ: botão direito → New → Package, depois New → Java Class.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Para projetos pequenos, podemos usar o pacote padrão (sem package).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 final: o que vamos construir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6" name="TextBox 6"/>
          <p:cNvSpPr/>
          <p:nvPr/>
        </p:nvSpPr>
        <p:spPr>
          <a:xfrm>
            <a:off x="640080" y="1371600"/>
            <a:ext cx="10911240" cy="29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Sistema Escolar de Gerenciamento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menu no terminal.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Funcionalidades: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cadastrar aluno (nome, matrícula, nota);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cadastrar professor (nome, disciplina);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criar turma e </a:t>
            </a:r>
            <a:r>
              <a:rPr b="1" lang="en-US" sz="1450" spc="-1" strike="noStrike">
                <a:solidFill>
                  <a:srgbClr val="5b6b80"/>
                </a:solidFill>
                <a:latin typeface="Calibri"/>
              </a:rPr>
              <a:t>matricular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 alunos;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listar alunos, professores e turmas;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buscar aluno por nome;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sair do sistema.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Reúne tudo: classes, atributos, métodos, encapsulamento, construtores, ArrayList, Scanner, loops.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 final: modelando as classes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2" name="TextBox 6"/>
          <p:cNvSpPr/>
          <p:nvPr/>
        </p:nvSpPr>
        <p:spPr>
          <a:xfrm>
            <a:off x="640080" y="1371600"/>
            <a:ext cx="10911240" cy="262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matricula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nota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métodos: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get/set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,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toString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Professor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disciplina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métodos: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get/set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,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toString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Turma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nome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disciplina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ArrayList&lt;Aluno&gt; matriculados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métodos: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matricular(Aluno)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,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listarMatriculados()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, </a:t>
            </a:r>
            <a:r>
              <a:rPr b="0" lang="en-US" sz="1350" spc="-1" strike="noStrike">
                <a:solidFill>
                  <a:srgbClr val="0b6672"/>
                </a:solidFill>
                <a:latin typeface="Consolas"/>
              </a:rPr>
              <a:t>getNome()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Principal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menu com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while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Scanner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ArrayList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globais.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Relacionamento: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Turma ◆— 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(composição com lista).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4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classe Aluno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5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6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7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169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8" name="Rectangle 6"/>
          <p:cNvSpPr/>
          <p:nvPr/>
        </p:nvSpPr>
        <p:spPr>
          <a:xfrm>
            <a:off x="640080" y="1371600"/>
            <a:ext cx="10911240" cy="38088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9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0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1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2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3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Aluno.java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4" name="TextBox 12"/>
          <p:cNvSpPr/>
          <p:nvPr/>
        </p:nvSpPr>
        <p:spPr>
          <a:xfrm>
            <a:off x="859680" y="1755720"/>
            <a:ext cx="10472400" cy="33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matricula;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nota;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matricula,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nota)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.matricula = matricula;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.nota = nota;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getMatricula()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matricula;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getNota()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nota;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toString()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(mat.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matricula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") — nota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nota;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classe Professor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0" name="Rectangle 6"/>
          <p:cNvSpPr/>
          <p:nvPr/>
        </p:nvSpPr>
        <p:spPr>
          <a:xfrm>
            <a:off x="640080" y="1371600"/>
            <a:ext cx="10911240" cy="331416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Professor.java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6" name="TextBox 12"/>
          <p:cNvSpPr/>
          <p:nvPr/>
        </p:nvSpPr>
        <p:spPr>
          <a:xfrm>
            <a:off x="859680" y="1755720"/>
            <a:ext cx="10472400" cy="28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Professor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disciplina;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Professor(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disciplina)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.disciplina = disciplina;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getDisciplina() {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disciplina; 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@Override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toString()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 +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— disciplina: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disciplina;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8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classe Turma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9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0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1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2" name="Rectangle 6"/>
          <p:cNvSpPr/>
          <p:nvPr/>
        </p:nvSpPr>
        <p:spPr>
          <a:xfrm>
            <a:off x="640080" y="1371600"/>
            <a:ext cx="10911240" cy="491760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3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4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5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6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7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Turma.java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8" name="TextBox 12"/>
          <p:cNvSpPr/>
          <p:nvPr/>
        </p:nvSpPr>
        <p:spPr>
          <a:xfrm>
            <a:off x="859680" y="1755720"/>
            <a:ext cx="10472400" cy="44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Turma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nome;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disciplina;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ArrayList&lt;Aluno&gt; matriculados =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Turma(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nome,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disciplina)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.nome = nome;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this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.disciplina = disciplina;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matricular(Aluno aluno)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matriculados.add(aluno);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listarMatriculados()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"Turma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nome +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 ("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disciplina +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"):"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(matriculados.isEmpty())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  (nenhum aluno matriculado)"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(Aluno a : matriculados) {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</a:rPr>
              <a:t>"  - "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+ a);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10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getNome() { </a:t>
            </a:r>
            <a:r>
              <a:rPr b="0" lang="en-US" sz="105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 nome; 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menu principal (parte 1)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4" name="Rectangle 6"/>
          <p:cNvSpPr/>
          <p:nvPr/>
        </p:nvSpPr>
        <p:spPr>
          <a:xfrm>
            <a:off x="640080" y="1371600"/>
            <a:ext cx="10911240" cy="421308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5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6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7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8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9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Principal.java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0" name="TextBox 12"/>
          <p:cNvSpPr/>
          <p:nvPr/>
        </p:nvSpPr>
        <p:spPr>
          <a:xfrm>
            <a:off x="859680" y="1755720"/>
            <a:ext cx="1047240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java.util.ArrayList;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import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java.util.Scanner;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class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Principal {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ArrayList&lt;Aluno&gt; alunos =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ArrayList&lt;Professor&gt; professores =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private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ArrayList&lt;Turma&gt; turmas =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ArrayList&lt;&gt;();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chemeClr val="dk1"/>
                </a:solidFill>
                <a:latin typeface="Consolas"/>
              </a:rPr>
              <a:t> 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public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static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void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main(</a:t>
            </a:r>
            <a:r>
              <a:rPr b="0" lang="en-US" sz="95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[] args) {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Scanner teclado =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Scanner(System.in);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5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opcao;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do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{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"\n=== SISTEMA ESCOLAR ==="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"1. Cadastrar aluno"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"2. Cadastrar professor"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"3. Criar turma"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"4. Matricular aluno em turma"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"5. Listar tudo"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"0. Sair"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950" spc="-1" strike="noStrike">
                <a:solidFill>
                  <a:srgbClr val="ce9178"/>
                </a:solidFill>
                <a:latin typeface="Consolas"/>
              </a:rPr>
              <a:t>"Opção: "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opcao = teclado.nextInt();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teclado.nextLine();   </a:t>
            </a:r>
            <a:r>
              <a:rPr b="0" lang="en-US" sz="950" spc="-1" strike="noStrike">
                <a:solidFill>
                  <a:srgbClr val="6a9955"/>
                </a:solidFill>
                <a:latin typeface="Consolas"/>
              </a:rPr>
              <a:t>// consome a quebra de linha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} </a:t>
            </a:r>
            <a:r>
              <a:rPr b="0" lang="en-US" sz="950" spc="-1" strike="noStrike">
                <a:solidFill>
                  <a:srgbClr val="569cd6"/>
                </a:solidFill>
                <a:latin typeface="Consolas"/>
              </a:rPr>
              <a:t>while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(opcao != 0);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teclado.close();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1" name="TextBox 13"/>
          <p:cNvSpPr/>
          <p:nvPr/>
        </p:nvSpPr>
        <p:spPr>
          <a:xfrm>
            <a:off x="640080" y="576792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Estrutura do menu: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do/while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garante que o menu aparece ao menos uma vez.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3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menu principal (parte 2)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4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5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6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7" name="Rectangle 6"/>
          <p:cNvSpPr/>
          <p:nvPr/>
        </p:nvSpPr>
        <p:spPr>
          <a:xfrm>
            <a:off x="640080" y="1371600"/>
            <a:ext cx="10911240" cy="281952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8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9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0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1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2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Principal.java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3" name="TextBox 12"/>
          <p:cNvSpPr/>
          <p:nvPr/>
        </p:nvSpPr>
        <p:spPr>
          <a:xfrm>
            <a:off x="859680" y="1755720"/>
            <a:ext cx="1047240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switch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(opcao)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case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1: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"Nome: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nome = teclado.nextLine();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"Matrícula: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int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mat = teclado.nextInt();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"Nota: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double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nota = teclado.nextDouble();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teclado.nextLine();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alunos.add(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Aluno(nome, mat, nota));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"Aluno cadastrado!"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break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cases 2, 3, 4 seguem o mesmo padrão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4" name="TextBox 13"/>
          <p:cNvSpPr/>
          <p:nvPr/>
        </p:nvSpPr>
        <p:spPr>
          <a:xfrm>
            <a:off x="640080" y="437436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O </a:t>
            </a:r>
            <a:r>
              <a:rPr b="0" lang="en-US" sz="1250" spc="-1" strike="noStrike">
                <a:solidFill>
                  <a:srgbClr val="0b6672"/>
                </a:solidFill>
                <a:latin typeface="Consolas"/>
              </a:rPr>
              <a:t>switch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 decide a ação. Variáveis declaradas dentro de cada case.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busca de aluno por nome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174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0" name="Rectangle 6"/>
          <p:cNvSpPr/>
          <p:nvPr/>
        </p:nvSpPr>
        <p:spPr>
          <a:xfrm>
            <a:off x="640080" y="1371600"/>
            <a:ext cx="10911240" cy="26546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1" name="Rectangle 7"/>
          <p:cNvSpPr/>
          <p:nvPr/>
        </p:nvSpPr>
        <p:spPr>
          <a:xfrm>
            <a:off x="640080" y="137160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2" name="Oval 8"/>
          <p:cNvSpPr/>
          <p:nvPr/>
        </p:nvSpPr>
        <p:spPr>
          <a:xfrm>
            <a:off x="804600" y="147672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3" name="Oval 9"/>
          <p:cNvSpPr/>
          <p:nvPr/>
        </p:nvSpPr>
        <p:spPr>
          <a:xfrm>
            <a:off x="987480" y="147672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4" name="Oval 10"/>
          <p:cNvSpPr/>
          <p:nvPr/>
        </p:nvSpPr>
        <p:spPr>
          <a:xfrm>
            <a:off x="1170360" y="147672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5" name="TextBox 11"/>
          <p:cNvSpPr/>
          <p:nvPr/>
        </p:nvSpPr>
        <p:spPr>
          <a:xfrm>
            <a:off x="1353240" y="142416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Principal.java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6" name="TextBox 12"/>
          <p:cNvSpPr/>
          <p:nvPr/>
        </p:nvSpPr>
        <p:spPr>
          <a:xfrm>
            <a:off x="859680" y="1755720"/>
            <a:ext cx="10472400" cy="21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</a:rPr>
              <a:t>// dentro do case de busca: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"Digite um trecho do nome: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String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trecho = teclado.nextLine();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4ec9b0"/>
                </a:solidFill>
                <a:latin typeface="Consolas"/>
              </a:rPr>
              <a:t>boolean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achou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for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(Aluno a : alunos)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(a.getNome().toLowerCase().contains(trecho.toLowerCase()))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  - 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+ a);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achou =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true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(!achou) {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System.out.println(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</a:rPr>
              <a:t>"Nenhum aluno encontrado."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);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        </a:t>
            </a:r>
            <a:r>
              <a:rPr b="0" lang="en-US" sz="1100" spc="-1" strike="noStrike">
                <a:solidFill>
                  <a:srgbClr val="d8dee9"/>
                </a:solidFill>
                <a:latin typeface="Consolas"/>
              </a:rPr>
              <a:t>}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7" name="TextBox 13"/>
          <p:cNvSpPr/>
          <p:nvPr/>
        </p:nvSpPr>
        <p:spPr>
          <a:xfrm>
            <a:off x="640080" y="420948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Mesma técnica da Agenda do Módulo 3 — reutilização de ideias já vistas!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como estender (desafios extras)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3" name="TextBox 6"/>
          <p:cNvSpPr/>
          <p:nvPr/>
        </p:nvSpPr>
        <p:spPr>
          <a:xfrm>
            <a:off x="640080" y="1371600"/>
            <a:ext cx="109112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Adicionar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exceções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tratar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InputMismatchException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quando o usuário digitar letra em vez de número.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Adicionar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validação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throw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se o nome for vazio ou a nota for negativa.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Exibir 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média da turma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(reutilize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calcularMediaDaTurma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do Módulo 3).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Adicionar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excluir 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da lista (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remove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por índice ou por objeto).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Guardar os dados em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arquivo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(pesquise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BufferedWriter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/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BufferedReader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Adicionar menu para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atualizar nota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de um aluno.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Cada item é um novo desafio de POO — tente implementar um por vez!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5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Projeto: executando o sistema (exemplo)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6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7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8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176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9" name="Rectangle 6"/>
          <p:cNvSpPr/>
          <p:nvPr/>
        </p:nvSpPr>
        <p:spPr>
          <a:xfrm>
            <a:off x="640080" y="1371600"/>
            <a:ext cx="82080" cy="5482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0" name="TextBox 7"/>
          <p:cNvSpPr/>
          <p:nvPr/>
        </p:nvSpPr>
        <p:spPr>
          <a:xfrm>
            <a:off x="859680" y="1353240"/>
            <a:ext cx="10545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Uma sessão de uso com cadastro, turma e listagem: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1" name="Rectangle 8"/>
          <p:cNvSpPr/>
          <p:nvPr/>
        </p:nvSpPr>
        <p:spPr>
          <a:xfrm>
            <a:off x="640080" y="1993320"/>
            <a:ext cx="10911240" cy="2931840"/>
          </a:xfrm>
          <a:prstGeom prst="rect">
            <a:avLst/>
          </a:prstGeom>
          <a:solidFill>
            <a:srgbClr val="1e1f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2" name="Rectangle 9"/>
          <p:cNvSpPr/>
          <p:nvPr/>
        </p:nvSpPr>
        <p:spPr>
          <a:xfrm>
            <a:off x="640080" y="1993320"/>
            <a:ext cx="10911240" cy="273960"/>
          </a:xfrm>
          <a:prstGeom prst="rect">
            <a:avLst/>
          </a:prstGeom>
          <a:solidFill>
            <a:srgbClr val="2d2e45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3" name="Oval 10"/>
          <p:cNvSpPr/>
          <p:nvPr/>
        </p:nvSpPr>
        <p:spPr>
          <a:xfrm>
            <a:off x="804600" y="2098440"/>
            <a:ext cx="100080" cy="100080"/>
          </a:xfrm>
          <a:prstGeom prst="ellipse">
            <a:avLst/>
          </a:prstGeom>
          <a:solidFill>
            <a:srgbClr val="ff5f5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4" name="Oval 11"/>
          <p:cNvSpPr/>
          <p:nvPr/>
        </p:nvSpPr>
        <p:spPr>
          <a:xfrm>
            <a:off x="987480" y="2098440"/>
            <a:ext cx="100080" cy="100080"/>
          </a:xfrm>
          <a:prstGeom prst="ellipse">
            <a:avLst/>
          </a:prstGeom>
          <a:solidFill>
            <a:srgbClr val="ffbd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5" name="Oval 12"/>
          <p:cNvSpPr/>
          <p:nvPr/>
        </p:nvSpPr>
        <p:spPr>
          <a:xfrm>
            <a:off x="1170360" y="2098440"/>
            <a:ext cx="100080" cy="100080"/>
          </a:xfrm>
          <a:prstGeom prst="ellipse">
            <a:avLst/>
          </a:prstGeom>
          <a:solidFill>
            <a:srgbClr val="27c93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6" name="TextBox 13"/>
          <p:cNvSpPr/>
          <p:nvPr/>
        </p:nvSpPr>
        <p:spPr>
          <a:xfrm>
            <a:off x="1353240" y="2045880"/>
            <a:ext cx="99968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db7c9"/>
                </a:solidFill>
                <a:latin typeface="Consolas"/>
              </a:rPr>
              <a:t>Terminal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7" name="TextBox 14"/>
          <p:cNvSpPr/>
          <p:nvPr/>
        </p:nvSpPr>
        <p:spPr>
          <a:xfrm>
            <a:off x="859680" y="2377440"/>
            <a:ext cx="10472400" cy="24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=== SISTEMA ESCOLAR ===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1. Cadastrar aluno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...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Opção: 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Nome: Ana Souza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Matrícula: 101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Nota: 8.5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Aluno cadastrado!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Opção: 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Nome da turma: T1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Disciplina: POO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Opção: 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ALUNOS: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- Ana Souza (mat. 101) — nota 8.5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TURMAS: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Turma T1 (POO):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  </a:t>
            </a:r>
            <a:r>
              <a:rPr b="0" lang="en-US" sz="950" spc="-1" strike="noStrike">
                <a:solidFill>
                  <a:srgbClr val="d8dee9"/>
                </a:solidFill>
                <a:latin typeface="Consolas"/>
              </a:rPr>
              <a:t>(nenhum aluno matriculado)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8" name="TextBox 15"/>
          <p:cNvSpPr/>
          <p:nvPr/>
        </p:nvSpPr>
        <p:spPr>
          <a:xfrm>
            <a:off x="640080" y="5108400"/>
            <a:ext cx="1091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350" spc="-1" strike="noStrike">
                <a:solidFill>
                  <a:srgbClr val="1e293b"/>
                </a:solidFill>
                <a:latin typeface="Calibri"/>
              </a:rPr>
              <a:t>A saída não é gerada por println automático — é o resultado das ações do menu.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0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Checklist de entrega do projeto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1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2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3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177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4" name="TextBox 6"/>
          <p:cNvSpPr/>
          <p:nvPr/>
        </p:nvSpPr>
        <p:spPr>
          <a:xfrm>
            <a:off x="640080" y="1371600"/>
            <a:ext cx="109112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Aluno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encapsulamento 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toString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Professor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encapsulamento e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toString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Classe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Turma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ArrayList&lt;Aluno&gt;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e matrícula.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Menu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funcional com as 6 opções e loop correto.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Cadastro, listagem e busca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testados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dados reais.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Programa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não quebra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com entradas erradas (desafio: try/catch).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Código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legível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nomes significativos, indentação, sem duplicação.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6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Como continuar estudando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7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8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9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178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0" name="TextBox 6"/>
          <p:cNvSpPr/>
          <p:nvPr/>
        </p:nvSpPr>
        <p:spPr>
          <a:xfrm>
            <a:off x="640080" y="1371600"/>
            <a:ext cx="10911240" cy="30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Pratique todos os dias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30 minutos de código valem mais que 3 horas só assistindo.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Recomece o projeto final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sozinho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, sem olhar as soluções.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Leia código de outras pessoas (GitHub) e refaça à sua maneira.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Próximos tópicos naturais: coleções (</a:t>
            </a:r>
            <a:r>
              <a:rPr b="0" lang="en-US" sz="1500" spc="-1" strike="noStrike">
                <a:solidFill>
                  <a:srgbClr val="0b6672"/>
                </a:solidFill>
                <a:latin typeface="Consolas"/>
              </a:rPr>
              <a:t>HashMap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), arquivos, banco de dados, interfaces gráficas.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Recursos oficiais: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documentação: docs.oracle.com/javase/tutorial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56700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–  </a:t>
            </a:r>
            <a:r>
              <a:rPr b="0" lang="en-US" sz="1450" spc="-1" strike="noStrike">
                <a:solidFill>
                  <a:srgbClr val="5b6b80"/>
                </a:solidFill>
                <a:latin typeface="Calibri"/>
              </a:rPr>
              <a:t>comunidade brasileira: fóruns, Discord, grupos de Java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Ferramentas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: aprenda Git + GitHub para versionar seus projetos.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O importante é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construir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— cada projeto pequeno ensina mais que um curso inteiro.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2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Resumo final do curso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3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4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5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179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6" name="Rectangle 6"/>
          <p:cNvSpPr/>
          <p:nvPr/>
        </p:nvSpPr>
        <p:spPr>
          <a:xfrm>
            <a:off x="640080" y="1261800"/>
            <a:ext cx="10911240" cy="4536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7" name="TextBox 7"/>
          <p:cNvSpPr/>
          <p:nvPr/>
        </p:nvSpPr>
        <p:spPr>
          <a:xfrm>
            <a:off x="640080" y="1536120"/>
            <a:ext cx="10911240" cy="23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Módulo 0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Java instalado, primeiros programas, variáveis, fluxo e arrays.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Módulo 1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classes e objetos — o molde e a instância, atributos e métodos.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Módulo 2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encapsulamento, construtores, sobrecarga e static.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Módulo 3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relacionamentos, ArrayList, String e enum.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Módulo 4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herança, polimorfismo, classes abstratas e interfaces.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Módulo 5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: exceções, pacotes e um sistema completo construído por você.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marL="255960" indent="-219600" defTabSz="457200">
              <a:lnSpc>
                <a:spcPct val="102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Você saiu do zero e chegou à POO profissional — continue programando! ☕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Rectangle 1"/>
          <p:cNvSpPr/>
          <p:nvPr/>
        </p:nvSpPr>
        <p:spPr>
          <a:xfrm>
            <a:off x="640080" y="311040"/>
            <a:ext cx="844560" cy="31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Módulo 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9" name="TextBox 2"/>
          <p:cNvSpPr/>
          <p:nvPr/>
        </p:nvSpPr>
        <p:spPr>
          <a:xfrm>
            <a:off x="640080" y="713160"/>
            <a:ext cx="10911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e293b"/>
                </a:solidFill>
                <a:latin typeface="Calibri"/>
              </a:rPr>
              <a:t>Verificação final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0" name="Rectangle 3"/>
          <p:cNvSpPr/>
          <p:nvPr/>
        </p:nvSpPr>
        <p:spPr>
          <a:xfrm>
            <a:off x="640080" y="1225440"/>
            <a:ext cx="10911240" cy="406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1" name="TextBox 4"/>
          <p:cNvSpPr/>
          <p:nvPr/>
        </p:nvSpPr>
        <p:spPr>
          <a:xfrm>
            <a:off x="640080" y="647388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Programação Orientada a Objetos com Java · Curso 40h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2" name="TextBox 5"/>
          <p:cNvSpPr/>
          <p:nvPr/>
        </p:nvSpPr>
        <p:spPr>
          <a:xfrm>
            <a:off x="10454400" y="6473880"/>
            <a:ext cx="109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180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3" name="TextBox 6"/>
          <p:cNvSpPr/>
          <p:nvPr/>
        </p:nvSpPr>
        <p:spPr>
          <a:xfrm>
            <a:off x="640080" y="1371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1.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Qual bloco roda SEMPRE, com ou sem erro?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4" name="TextBox 7"/>
          <p:cNvSpPr/>
          <p:nvPr/>
        </p:nvSpPr>
        <p:spPr>
          <a:xfrm>
            <a:off x="1005840" y="1755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try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catch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finally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5" name="TextBox 8"/>
          <p:cNvSpPr/>
          <p:nvPr/>
        </p:nvSpPr>
        <p:spPr>
          <a:xfrm>
            <a:off x="640080" y="279792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2.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Como avisamos que um método pode lançar exceção verificada?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6" name="TextBox 9"/>
          <p:cNvSpPr/>
          <p:nvPr/>
        </p:nvSpPr>
        <p:spPr>
          <a:xfrm>
            <a:off x="1005840" y="318204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throws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throw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try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7" name="TextBox 10"/>
          <p:cNvSpPr/>
          <p:nvPr/>
        </p:nvSpPr>
        <p:spPr>
          <a:xfrm>
            <a:off x="640080" y="4224600"/>
            <a:ext cx="10911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pc="-1" strike="noStrike">
                <a:solidFill>
                  <a:srgbClr val="1e293b"/>
                </a:solidFill>
                <a:latin typeface="Calibri"/>
              </a:rPr>
              <a:t>3.</a:t>
            </a:r>
            <a:r>
              <a:rPr b="0" lang="en-US" sz="1550" spc="-1" strike="noStrike">
                <a:solidFill>
                  <a:srgbClr val="1e293b"/>
                </a:solidFill>
                <a:latin typeface="Calibri"/>
              </a:rPr>
              <a:t> O projeto final usa qual estrutura para repetir o menu?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8" name="TextBox 11"/>
          <p:cNvSpPr/>
          <p:nvPr/>
        </p:nvSpPr>
        <p:spPr>
          <a:xfrm>
            <a:off x="1005840" y="4608720"/>
            <a:ext cx="103626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(A) if/else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(B) do/while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50" spc="-1" strike="noStrike">
                <a:solidFill>
                  <a:srgbClr val="5b6b80"/>
                </a:solidFill>
                <a:latin typeface="Calibri"/>
              </a:rPr>
              <a:t>(C) switch sem loop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9" name="Rectangle 12"/>
          <p:cNvSpPr/>
          <p:nvPr/>
        </p:nvSpPr>
        <p:spPr>
          <a:xfrm>
            <a:off x="640080" y="5961960"/>
            <a:ext cx="10911240" cy="365400"/>
          </a:xfrm>
          <a:prstGeom prst="rect">
            <a:avLst/>
          </a:prstGeom>
          <a:solidFill>
            <a:srgbClr val="f6f8f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0" name="TextBox 13"/>
          <p:cNvSpPr/>
          <p:nvPr/>
        </p:nvSpPr>
        <p:spPr>
          <a:xfrm>
            <a:off x="804600" y="6054120"/>
            <a:ext cx="10581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6672"/>
                </a:solidFill>
                <a:latin typeface="Calibri"/>
              </a:rPr>
              <a:t>Gabarito:</a:t>
            </a:r>
            <a:r>
              <a:rPr b="0" lang="en-US" sz="1300" spc="-1" strike="noStrike">
                <a:solidFill>
                  <a:srgbClr val="0b6672"/>
                </a:solidFill>
                <a:latin typeface="Calibri"/>
              </a:rPr>
              <a:t> 1→C, 2→A, 3→B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93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2" name="Oval 2"/>
          <p:cNvSpPr/>
          <p:nvPr/>
        </p:nvSpPr>
        <p:spPr>
          <a:xfrm>
            <a:off x="-1463040" y="4206240"/>
            <a:ext cx="4754520" cy="4754520"/>
          </a:xfrm>
          <a:prstGeom prst="ellipse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3" name="Rectangle 3"/>
          <p:cNvSpPr/>
          <p:nvPr/>
        </p:nvSpPr>
        <p:spPr>
          <a:xfrm>
            <a:off x="914400" y="1371600"/>
            <a:ext cx="1554120" cy="9108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4" name="TextBox 4"/>
          <p:cNvSpPr/>
          <p:nvPr/>
        </p:nvSpPr>
        <p:spPr>
          <a:xfrm>
            <a:off x="914400" y="1691640"/>
            <a:ext cx="1033236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Você completou as 40 horas!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5" name="TextBox 5"/>
          <p:cNvSpPr/>
          <p:nvPr/>
        </p:nvSpPr>
        <p:spPr>
          <a:xfrm>
            <a:off x="914400" y="2788920"/>
            <a:ext cx="100580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bbc6d6"/>
                </a:solidFill>
                <a:latin typeface="Calibri"/>
              </a:rPr>
              <a:t>Do primeiro "Olá, mundo!" a um sistema escolar completo — agora é com você: siga codando!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6" name="TextBox 6"/>
          <p:cNvSpPr/>
          <p:nvPr/>
        </p:nvSpPr>
        <p:spPr>
          <a:xfrm>
            <a:off x="914400" y="4206240"/>
            <a:ext cx="10058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8b9bb2"/>
                </a:solidFill>
                <a:latin typeface="Calibri"/>
              </a:rPr>
              <a:t>Bons estudos e ótimos projetos!  ·  Programação Orientada a Objetos com Java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2026-08-07T12:26:01Z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