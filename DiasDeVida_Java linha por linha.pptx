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0B1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59820"/>
                </a:solidFill>
                <a:latin typeface="Calibri"/>
              </a:rPr>
              <a:t>JAVA  ·  INTELLIJ  ·  PASSO A PASSO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DiasDeVida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 i="0">
                <a:solidFill>
                  <a:srgbClr val="EEF2F8"/>
                </a:solidFill>
                <a:latin typeface="Calibri"/>
              </a:rPr>
              <a:t>Explicação linha a linha — como se você estivesse
começando agora em Java.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9AA8BE"/>
                </a:solidFill>
                <a:latin typeface="Calibri"/>
              </a:rPr>
              <a:t>Calcular aproximadamente quantos dias uma pessoa já viveu.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9AA8BE"/>
                </a:solidFill>
                <a:latin typeface="Calibri"/>
              </a:rPr>
              <a:t>Scanner  ·  variáveis  ·  if  ·  for  ·  métodos  ·  Year.now()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566928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400" b="1" i="0">
                <a:solidFill>
                  <a:srgbClr val="F59820"/>
                </a:solidFill>
                <a:latin typeface="Calibri"/>
              </a:rPr>
              <a:t>Aula para iniciantes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9AA8BE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9AA8BE"/>
                </a:solidFill>
                <a:latin typeface="Calibri"/>
              </a:rPr>
              <a:t>01  / 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O que este programa faz?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Um exercício clássico para treinar a base do Java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1051560" cy="64008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1051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E07A00"/>
                </a:solidFill>
                <a:latin typeface="Calibri"/>
              </a:rPr>
              <a:t>365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286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alibri"/>
              </a:rPr>
              <a:t>dias por 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8892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A conta principal multiplica a idade por 365.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26280" y="1508760"/>
            <a:ext cx="1051560" cy="64008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508760"/>
            <a:ext cx="1051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E07A00"/>
                </a:solidFill>
                <a:latin typeface="Calibri"/>
              </a:rPr>
              <a:t>+1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86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alibri"/>
              </a:rPr>
              <a:t>anos bissextos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78892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Soma 1 dia extra para cada 29 de fevereiro vivido.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280160"/>
            <a:ext cx="361188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21040" y="1508760"/>
            <a:ext cx="1051560" cy="64008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508760"/>
            <a:ext cx="10515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E07A00"/>
                </a:solidFill>
                <a:latin typeface="Calibri"/>
              </a:rPr>
              <a:t>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286000"/>
            <a:ext cx="31089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alibri"/>
              </a:rPr>
              <a:t>aproximado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78892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Não usa dia e mês de nascimento — e está tudo bem para aprender.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54880"/>
            <a:ext cx="111556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Arquivo: DiasDeVida.java     Classe: DiasDeVida
Quando você aperta  ▶  Run no IntelliJ, o Java procura o método main e executa
as instruções de cima para baixo.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02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Mapa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Vamos seguir o código na mesma ordem em que o Java o lê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Importações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60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Year e Scanner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28016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554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Classe +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560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Onde o programa começa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280160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80" y="1280160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55448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103120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Entrada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560320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Idade e ano de nascimento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79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611879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88619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4348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Cálculo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9203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Dias + bissextos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3611879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3611879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88619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60" y="44348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Saída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89203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Mensagens na tela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80" y="3611879"/>
            <a:ext cx="36118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80" y="3611879"/>
            <a:ext cx="109728" cy="20574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388619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59820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434839"/>
            <a:ext cx="301752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 i="0">
                <a:solidFill>
                  <a:srgbClr val="121A2B"/>
                </a:solidFill>
                <a:latin typeface="Calibri"/>
              </a:rPr>
              <a:t>Método extra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4892039"/>
            <a:ext cx="3017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O for que conta bissextos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03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Importando as ferramentas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Duas bibliotecas prontas do Java — não precisamos reinventar a roda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3258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3258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F59820"/>
                </a:solidFill>
                <a:latin typeface="Consolas"/>
              </a:rPr>
              <a:t>import java.time.Year;</a:t>
            </a:r>
          </a:p>
          <a:p>
            <a:pPr>
              <a:lnSpc>
                <a:spcPct val="115000"/>
              </a:lnSpc>
            </a:pPr>
            <a:r>
              <a:rPr sz="2000" b="0" i="0">
                <a:solidFill>
                  <a:srgbClr val="3DC2C8"/>
                </a:solidFill>
                <a:latin typeface="Consolas"/>
              </a:rPr>
              <a:t>import java.util.Scanner;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5440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2743200"/>
            <a:ext cx="544068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59820"/>
                </a:solidFill>
                <a:latin typeface="Calibri"/>
              </a:rPr>
              <a:t>java.time.Year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83280"/>
            <a:ext cx="50292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Serve para trabalhar com anos.
No programa, descobre o ano atual:
Year.now().getValue()
Se estamos em 2026, retorna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260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3DC2C8"/>
                </a:solidFill>
                <a:latin typeface="Calibri"/>
              </a:rPr>
              <a:t>java.util.Scanner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80"/>
            <a:ext cx="50292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Serve para ler o que o usuário digita.
Depois criamos o objeto:
Scanner teclado = new Scanner(System.in);
E lemos um inteiro com nextInt().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04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Como o Scanner funciona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Ele é o “ouvido” do programa: escuta o teclado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5544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E6EDF5"/>
                </a:solidFill>
                <a:latin typeface="Consolas"/>
              </a:rPr>
              <a:t>Scanner teclado = new Scanner(System.in);</a:t>
            </a:r>
          </a:p>
          <a:p>
            <a:pPr>
              <a:lnSpc>
                <a:spcPct val="115000"/>
              </a:lnSpc>
            </a:pPr>
            <a:r>
              <a:rPr sz="2000" b="0" i="0">
                <a:solidFill>
                  <a:srgbClr val="E6EDF5"/>
                </a:solidFill>
                <a:latin typeface="Consolas"/>
              </a:rPr>
              <a:t>int idade = teclado.nextInt();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175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3246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246120"/>
            <a:ext cx="7772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16052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121A2B"/>
                </a:solidFill>
                <a:latin typeface="Calibri"/>
              </a:rPr>
              <a:t>System.in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2423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A entrada vem
do teclado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0175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246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246120"/>
            <a:ext cx="7772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16052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121A2B"/>
                </a:solidFill>
                <a:latin typeface="Calibri"/>
              </a:rPr>
              <a:t>new Scanner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709160"/>
            <a:ext cx="2423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Cria o objeto
que vai ler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30175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0" y="3246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3246120"/>
            <a:ext cx="7772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16052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121A2B"/>
                </a:solidFill>
                <a:latin typeface="Calibri"/>
              </a:rPr>
              <a:t>teclado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709160"/>
            <a:ext cx="2423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Nome que damos
ao objeto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3017520"/>
            <a:ext cx="269748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241280" y="324612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3246120"/>
            <a:ext cx="77724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4160520"/>
            <a:ext cx="24231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121A2B"/>
                </a:solidFill>
                <a:latin typeface="Calibri"/>
              </a:rPr>
              <a:t>nextInt()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709160"/>
            <a:ext cx="2423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Pega um número
inteiro digitado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05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2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Criando a classe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O nome da classe precisa ser igual ao nome do arquivo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972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972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 i="0">
                <a:solidFill>
                  <a:srgbClr val="F59820"/>
                </a:solidFill>
                <a:latin typeface="Consolas"/>
              </a:rPr>
              <a:t>public class DiasDeVida {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2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24912"/>
            <a:ext cx="21945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onsolas"/>
              </a:rPr>
              <a:t>public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24912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A classe pode ser acessada de outros lugares. É a visibilidade mais aberta.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913632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13632"/>
            <a:ext cx="21945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onsolas"/>
              </a:rPr>
              <a:t>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913632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Estamos criando um molde — em Java, quase tudo vive dentro de uma classe.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84632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5102352"/>
            <a:ext cx="2194560" cy="530352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02352"/>
            <a:ext cx="219456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onsolas"/>
              </a:rPr>
              <a:t>DiasDeVida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102352"/>
            <a:ext cx="822960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Nome próprio. Arquivo obrigatório: DiasDeVida.java  (maiúsculas iguais).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06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3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O método principal: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É o ponto de partida. Sem main, o IntelliJ não sabe por onde começar.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F59820"/>
                </a:solidFill>
                <a:latin typeface="Consolas"/>
              </a:rPr>
              <a:t>public static void main(String[] args) {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685800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6492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Fluxo de 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62179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PROGRAMA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    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main()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    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primeira instrução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    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segunda instrução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    ↓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C3648"/>
                </a:solidFill>
                <a:latin typeface="Consolas"/>
              </a:rPr>
              <a:t>terceira instrução  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468880"/>
            <a:ext cx="4069080" cy="379476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2697480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Lembrete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246120"/>
            <a:ext cx="365760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EEF2F8"/>
                </a:solidFill>
                <a:latin typeface="Calibri"/>
              </a:rPr>
              <a:t>Quando você aperta o botão  ▶  Run, o Java procura exatamente esta assinatura.
void  =  o método não devolve valor.
String[] args  =  argumentos da linha de comando (não usamos neste exercício).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07  / 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4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Criando o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Uma linha, três ideias: tipo, nome e construção do objeto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E6EDF5"/>
                </a:solidFill>
                <a:latin typeface="Consolas"/>
              </a:rPr>
              <a:t>Scanner teclado = new Scanner(System.in);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59820"/>
                </a:solidFill>
                <a:latin typeface="Calibri"/>
              </a:rPr>
              <a:t>TIPO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21A2B"/>
                </a:solidFill>
                <a:latin typeface="Consolas"/>
              </a:rPr>
              <a:t>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31920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A “forma” do objeto. Precisa do import.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51460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59820"/>
                </a:solidFill>
                <a:latin typeface="Calibri"/>
              </a:rPr>
              <a:t>NOME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21A2B"/>
                </a:solidFill>
                <a:latin typeface="Consolas"/>
              </a:rPr>
              <a:t>teclado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931920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Como vamos chamar esse objeto no resto do código.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51460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59820"/>
                </a:solidFill>
                <a:latin typeface="Calibri"/>
              </a:rPr>
              <a:t>CRIAÇÃO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10896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21A2B"/>
                </a:solidFill>
                <a:latin typeface="Consolas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931920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Pede memória e constrói um Scanner novo.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251460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743200"/>
            <a:ext cx="24688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 i="0">
                <a:solidFill>
                  <a:srgbClr val="F59820"/>
                </a:solidFill>
                <a:latin typeface="Calibri"/>
              </a:rPr>
              <a:t>ORIGEM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108960"/>
            <a:ext cx="24688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 i="0">
                <a:solidFill>
                  <a:srgbClr val="121A2B"/>
                </a:solidFill>
                <a:latin typeface="Consolas"/>
              </a:rPr>
              <a:t>System.in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931920"/>
            <a:ext cx="237744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Lê do teclado, não de um arquivo.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08  /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5–6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Perguntando e guardando a 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Primeiro mostra a pergunta. Depois espera o número.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4173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7ED9A0"/>
                </a:solidFill>
                <a:latin typeface="Consolas"/>
              </a:rPr>
              <a:t>System.out.print("Qual a sua idade? ");</a:t>
            </a:r>
          </a:p>
          <a:p>
            <a:pPr>
              <a:lnSpc>
                <a:spcPct val="115000"/>
              </a:lnSpc>
            </a:pPr>
            <a:r>
              <a:rPr sz="1800" b="0" i="0">
                <a:solidFill>
                  <a:srgbClr val="E6EDF5"/>
                </a:solidFill>
                <a:latin typeface="Consolas"/>
              </a:rPr>
              <a:t>int idade = teclado.nextInt();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34640"/>
            <a:ext cx="36576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34640"/>
            <a:ext cx="3657600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6324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onsolas"/>
              </a:rPr>
              <a:t>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59820"/>
                </a:solidFill>
                <a:latin typeface="Calibri"/>
              </a:rPr>
              <a:t>Tipo da variável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77639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Guarda número inteiro:
10, 18, 25, 40, 70…
Sem parte decimal.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834640"/>
            <a:ext cx="36576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43400" y="2834640"/>
            <a:ext cx="3657600" cy="73152"/>
          </a:xfrm>
          <a:prstGeom prst="rect">
            <a:avLst/>
          </a:prstGeom>
          <a:solidFill>
            <a:srgbClr val="3D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06324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onsolas"/>
              </a:rPr>
              <a:t>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5204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59820"/>
                </a:solidFill>
                <a:latin typeface="Calibri"/>
              </a:rPr>
              <a:t>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77639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Escolhemos um nome claro.
Depois usamos idade em contas,
como idade * 365.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2834640"/>
            <a:ext cx="365760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83880" y="2834640"/>
            <a:ext cx="3657600" cy="73152"/>
          </a:xfrm>
          <a:prstGeom prst="rect">
            <a:avLst/>
          </a:prstGeom>
          <a:solidFill>
            <a:srgbClr val="3DB8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063240"/>
            <a:ext cx="32918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121A2B"/>
                </a:solidFill>
                <a:latin typeface="Consolas"/>
              </a:rPr>
              <a:t>teclado.nextInt()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520440"/>
            <a:ext cx="3291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F59820"/>
                </a:solidFill>
                <a:latin typeface="Calibri"/>
              </a:rPr>
              <a:t>Valor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977639"/>
            <a:ext cx="329184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Lê o que o usuário digitou.
Se digitar 20:
idade = 20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09  / 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7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Perguntando o ano de nascimento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Mesmo padrão: mensagem + nextInt()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4173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7ED9A0"/>
                </a:solidFill>
                <a:latin typeface="Consolas"/>
              </a:rPr>
              <a:t>System.out.print("Em que ano você nasceu? ");</a:t>
            </a:r>
          </a:p>
          <a:p>
            <a:pPr>
              <a:lnSpc>
                <a:spcPct val="115000"/>
              </a:lnSpc>
            </a:pPr>
            <a:r>
              <a:rPr sz="1800" b="0" i="0">
                <a:solidFill>
                  <a:srgbClr val="E6EDF5"/>
                </a:solidFill>
                <a:latin typeface="Consolas"/>
              </a:rPr>
              <a:t>int anoNascimento = teclado.nextInt();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Na tela aparece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1188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73152" cy="2194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758184"/>
            <a:ext cx="464515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0">
                <a:solidFill>
                  <a:srgbClr val="E6EDF5"/>
                </a:solidFill>
                <a:latin typeface="Consolas"/>
              </a:rPr>
              <a:t>Em que ano você nasceu? 2006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F59820"/>
                </a:solidFill>
                <a:latin typeface="Consolas"/>
              </a:rPr>
              <a:t>anoNascimento = 2006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10896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Padrão que se repete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703320"/>
            <a:ext cx="49377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EEF2F8"/>
                </a:solidFill>
                <a:latin typeface="Calibri"/>
              </a:rPr>
              <a:t>1.  System.out.print  →  pergunta
2.  int nome = teclado.nextInt()  →  guarda
Você já usou esse padrão duas vezes.
É o jeito mais comum de ler números no console.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10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8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Descobrindo o ano atual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Não pedimos ao usuário — o próprio Java sabe a data de hoje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E6EDF5"/>
                </a:solidFill>
                <a:latin typeface="Consolas"/>
              </a:rPr>
              <a:t>int anoAtual = Year.now().getValue();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59820"/>
                </a:solidFill>
                <a:latin typeface="Consolas"/>
              </a:rPr>
              <a:t>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2423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Classe de data
(java.time)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2918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9AA8BE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25146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74320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59820"/>
                </a:solidFill>
                <a:latin typeface="Consolas"/>
              </a:rPr>
              <a:t>now()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337560"/>
            <a:ext cx="2423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Pega o ano
deste momento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2918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9AA8BE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5146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74320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59820"/>
                </a:solidFill>
                <a:latin typeface="Consolas"/>
              </a:rPr>
              <a:t>getValue()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37560"/>
            <a:ext cx="2423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Extrai o número
inteiro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2918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9AA8BE"/>
                </a:solidFill>
                <a:latin typeface="Calibr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25146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743200"/>
            <a:ext cx="2514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 i="0">
                <a:solidFill>
                  <a:srgbClr val="F59820"/>
                </a:solidFill>
                <a:latin typeface="Consolas"/>
              </a:rPr>
              <a:t>anoAtual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337560"/>
            <a:ext cx="24231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Guarda, p.ex.
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2120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Vantagem: o programa continua certo em 2027, 2028… sem você alterar o código.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11  / 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9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Chamando o cálculo dos bissextos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Aqui só pedimos o resultado. O método em si aparece mais abaixo.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23444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0">
                <a:solidFill>
                  <a:srgbClr val="E6EDF5"/>
                </a:solidFill>
                <a:latin typeface="Consolas"/>
              </a:rPr>
              <a:t>int anosBissextos = calcularAnosBissextos(anoNascimento, anoAtual - 1);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5486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Dois argumentos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502920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1º  anoNascimento   →  de onde começar
2º  anoAtual - 1    →  até onde ir
Exemplo: nascido em 2006, ano 2026
chama  calcularAnosBissextos(2006, 2025)
O −1 para no ano anterior ao atual.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651760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834640"/>
            <a:ext cx="49377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Por que − 1?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383280"/>
            <a:ext cx="4937760" cy="2468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EEF2F8"/>
                </a:solidFill>
                <a:latin typeface="Calibri"/>
              </a:rPr>
              <a:t>O ano atual ainda não terminou.
Se estivermos em março de 2026, o 29 de fevereiro de 2026 pode ainda não ter acontecido.
Parar em 2025 deixa o cálculo mais seguro (ainda aproximado).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12  / 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10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A conta principal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Dias ≈ idade × 365  +  quantidade de 29 de fevereiro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 i="0">
                <a:solidFill>
                  <a:srgbClr val="E6EDF5"/>
                </a:solidFill>
                <a:latin typeface="Consolas"/>
              </a:rPr>
              <a:t>int dias = (idade * 365) + anosBissextos;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14600"/>
            <a:ext cx="34747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59820"/>
                </a:solidFill>
                <a:latin typeface="Calibri"/>
              </a:rPr>
              <a:t>PASSO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idade ×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2C3648"/>
                </a:solidFill>
                <a:latin typeface="Calibri"/>
              </a:rPr>
              <a:t>Pessoa de 20 anos:
20 × 365  =  7300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514600"/>
            <a:ext cx="34747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74320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3DC2C8"/>
                </a:solidFill>
                <a:latin typeface="Calibri"/>
              </a:rPr>
              <a:t>PASSO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200400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+ bissextos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60"/>
            <a:ext cx="31089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 i="0">
                <a:solidFill>
                  <a:srgbClr val="2C3648"/>
                </a:solidFill>
                <a:latin typeface="Calibri"/>
              </a:rPr>
              <a:t>Se passou por 5 anos
bissextos:
7300 + 5  =  7305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2514600"/>
            <a:ext cx="3474720" cy="36118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74320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59820"/>
                </a:solidFill>
                <a:latin typeface="Calibri"/>
              </a:rPr>
              <a:t>RESULTADO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291840"/>
            <a:ext cx="347472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dias = 7305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97680"/>
            <a:ext cx="31089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EEF2F8"/>
                </a:solidFill>
                <a:latin typeface="Calibri"/>
              </a:rPr>
              <a:t>Cada ano bissexto adiciona exatamente 1 dia extra.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13  / 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784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11–12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Mostrando o 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println pula de linha. O + junta texto com número.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5544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7ED9A0"/>
                </a:solidFill>
                <a:latin typeface="Consolas"/>
              </a:rPr>
              <a:t>System.out.println("Você já viveu aproximadamente " + dias + " dias.");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7ED9A0"/>
                </a:solidFill>
                <a:latin typeface="Consolas"/>
              </a:rPr>
              <a:t>System.out.println("Você viveu " + anosBissextos + " ano(s) bissexto(s).");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67665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O que aparece no console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6309360" cy="2194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2194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803904"/>
            <a:ext cx="5925312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>Você já viveu aproximadamente 7305 dias.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>Você viveu 5 ano(s) bissexto(s).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2971800"/>
            <a:ext cx="416052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3200400"/>
            <a:ext cx="3749039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print  vs  println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3749039"/>
            <a:ext cx="3749039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EEF2F8"/>
                </a:solidFill>
                <a:latin typeface="Calibri"/>
              </a:rPr>
              <a:t>print     continua na mesma linha
println   escreve e vai para a próxima
O +  concatena: junta pedaços de texto e o valor das variáveis.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14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13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Fechando o Scanner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Boa prática: se abriu um recurso, feche quando não precisar mais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05156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200" b="0" i="0">
                <a:solidFill>
                  <a:srgbClr val="F59820"/>
                </a:solidFill>
                <a:latin typeface="Consolas"/>
              </a:rPr>
              <a:t>teclado.close();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46888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2743200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1031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E07A00"/>
                </a:solidFill>
                <a:latin typeface="Calibri"/>
              </a:rPr>
              <a:t>Por quê?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24912"/>
            <a:ext cx="8321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O Scanner está ligado ao teclado (System.in). Fechar avisa que não vamos mais ler.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3977640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21031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E07A00"/>
                </a:solidFill>
                <a:latin typeface="Calibri"/>
              </a:rPr>
              <a:t>Quando?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959352"/>
            <a:ext cx="8321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Depois da última leitura — neste programa, depois das duas perguntas.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937760"/>
            <a:ext cx="111556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2103120" cy="54864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212080"/>
            <a:ext cx="210312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 i="0">
                <a:solidFill>
                  <a:srgbClr val="E07A00"/>
                </a:solidFill>
                <a:latin typeface="Calibri"/>
              </a:rPr>
              <a:t>E se esquecer?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5193792"/>
            <a:ext cx="832104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Em um exercício curto, quase nada acontece. Em programas maiores, vira hábito importante.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15  / 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14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Um método à parte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main coordena. calcularAnosBissextos faz o trabalho pesado.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4173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0">
                <a:solidFill>
                  <a:srgbClr val="9AA8BE"/>
                </a:solidFill>
                <a:latin typeface="Consolas"/>
              </a:rPr>
              <a:t>// Método para calcular anos bissextos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E6EDF5"/>
                </a:solidFill>
                <a:latin typeface="Consolas"/>
              </a:rPr>
              <a:t>private static int calcularAnosBissextos(int anoInicial, int anoFinal) {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0360"/>
            <a:ext cx="1115568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Analogia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060704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Imagine a cozinha de um restaurante.
main  é o chef que recebe o pedido: “quantos dias essa pessoa viveu?”
calcularAnosBissextos  é o auxiliar que só conta os 29 de fevereiro e devolve o número.
Separar em métodos deixa o main curto e fácil de ler — e o cálculo pode ser testado sozinho.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16  / 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15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O que significa private static 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Três palavras. Três papéis diferentes.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23444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234440"/>
            <a:ext cx="3657600" cy="123444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59820"/>
                </a:solidFill>
                <a:latin typeface="Consolas"/>
              </a:rPr>
              <a:t>private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3657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9AA8BE"/>
                </a:solidFill>
                <a:latin typeface="Calibri"/>
              </a:rPr>
              <a:t>VISIBILIDADE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32004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Só esta classe usa o método. O mundo de fora nem precisa saber que ele existe.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23444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234440"/>
            <a:ext cx="3657600" cy="123444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3258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59820"/>
                </a:solidFill>
                <a:latin typeface="Consolas"/>
              </a:rPr>
              <a:t>static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1828800"/>
            <a:ext cx="3657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9AA8BE"/>
                </a:solidFill>
                <a:latin typeface="Calibri"/>
              </a:rPr>
              <a:t>COMO CHAMAR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2004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Pode ser chamado de dentro do main sem criar um objeto DiasDeVida.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234440"/>
            <a:ext cx="36576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234440"/>
            <a:ext cx="3657600" cy="123444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325880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59820"/>
                </a:solidFill>
                <a:latin typeface="Consolas"/>
              </a:rPr>
              <a:t>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828800"/>
            <a:ext cx="3657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9AA8BE"/>
                </a:solidFill>
                <a:latin typeface="Calibri"/>
              </a:rPr>
              <a:t>RETORNO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743200"/>
            <a:ext cx="3200400" cy="3017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O método devolve um número inteiro — a quantidade de anos bissextos.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17  / 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784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16–17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O for: repetir ano por 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Comece no inicial, vá até o final, some 1 a cada volta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5544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0" i="0">
                <a:solidFill>
                  <a:srgbClr val="E6EDF5"/>
                </a:solidFill>
                <a:latin typeface="Consolas"/>
              </a:rPr>
              <a:t>int anosBissextos = 0;</a:t>
            </a:r>
          </a:p>
          <a:p>
            <a:pPr>
              <a:lnSpc>
                <a:spcPct val="115000"/>
              </a:lnSpc>
            </a:pPr>
            <a:r>
              <a:rPr sz="1800" b="0" i="0">
                <a:solidFill>
                  <a:srgbClr val="F59820"/>
                </a:solidFill>
                <a:latin typeface="Consolas"/>
              </a:rPr>
              <a:t>for (int ano = anoInicial; ano &lt;= anoFinal; ano++) {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59820"/>
                </a:solidFill>
                <a:latin typeface="Calibri"/>
              </a:rPr>
              <a:t>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21A2B"/>
                </a:solidFill>
                <a:latin typeface="Consolas"/>
              </a:rPr>
              <a:t>int ano = anoInicial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32918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Cria o contador.
Começa no ano de nascimento.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97180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1546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59820"/>
                </a:solidFill>
                <a:latin typeface="Calibri"/>
              </a:rPr>
              <a:t>CONDIÇÃO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21A2B"/>
                </a:solidFill>
                <a:latin typeface="Consolas"/>
              </a:rPr>
              <a:t>ano &lt;= anoFinal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97680"/>
            <a:ext cx="32918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Enquanto for verdade,
o laço continua.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2971800"/>
            <a:ext cx="36576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154680"/>
            <a:ext cx="3383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 i="0">
                <a:solidFill>
                  <a:srgbClr val="F59820"/>
                </a:solidFill>
                <a:latin typeface="Calibri"/>
              </a:rPr>
              <a:t>PASSO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520440"/>
            <a:ext cx="34747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 i="0">
                <a:solidFill>
                  <a:srgbClr val="121A2B"/>
                </a:solidFill>
                <a:latin typeface="Consolas"/>
              </a:rPr>
              <a:t>ano++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97680"/>
            <a:ext cx="32918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 i="0">
                <a:solidFill>
                  <a:srgbClr val="2C3648"/>
                </a:solidFill>
                <a:latin typeface="Calibri"/>
              </a:rPr>
              <a:t>No fim de cada volta:
ano = ano + 1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18  / 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Exemplo do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Se anoInicial = 2000 e anoFinal = 2005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5875">
            <a:solidFill>
              <a:srgbClr val="F59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59820"/>
                </a:solidFill>
                <a:latin typeface="Calibri"/>
              </a:rPr>
              <a:t>bissexto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2001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9AA8BE"/>
                </a:solidFill>
                <a:latin typeface="Calibri"/>
              </a:rPr>
              <a:t>comum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2002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9AA8BE"/>
                </a:solidFill>
                <a:latin typeface="Calibri"/>
              </a:rPr>
              <a:t>comum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2003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9AA8BE"/>
                </a:solidFill>
                <a:latin typeface="Calibri"/>
              </a:rPr>
              <a:t>comum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15875">
            <a:solidFill>
              <a:srgbClr val="F598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F59820"/>
                </a:solidFill>
                <a:latin typeface="Calibri"/>
              </a:rPr>
              <a:t>bissexto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1371600"/>
            <a:ext cx="173736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0" y="155448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200" b="1" i="0">
                <a:solidFill>
                  <a:srgbClr val="121A2B"/>
                </a:solidFill>
                <a:latin typeface="Calibri"/>
              </a:rPr>
              <a:t>2005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2286000"/>
            <a:ext cx="1737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9AA8BE"/>
                </a:solidFill>
                <a:latin typeface="Calibri"/>
              </a:rPr>
              <a:t>comum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703320"/>
            <a:ext cx="11155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O que o for está fazendo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106070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Em cada volta, a variável ano vale um desses valores. Dentro das chaves { } vamos testar:
“este ano é bissexto?”  Se sim, somamos 1 no contador.
anosBissextos começa em 0. Depois de 2000 e 2004, vale 2.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19  /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18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A regra do ano bissexto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A parte mais difícil do código — e a mais famosa do calendário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23444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0">
                <a:solidFill>
                  <a:srgbClr val="F59820"/>
                </a:solidFill>
                <a:latin typeface="Consolas"/>
              </a:rPr>
              <a:t>if ((ano % 4 == 0 &amp;&amp; ano % 100 != 0) || (ano % 400 == 0)) {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51760"/>
            <a:ext cx="548640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51760"/>
            <a:ext cx="109728" cy="3520440"/>
          </a:xfrm>
          <a:prstGeom prst="rect">
            <a:avLst/>
          </a:prstGeom>
          <a:solidFill>
            <a:srgbClr val="3DC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3DC2C8"/>
                </a:solidFill>
                <a:latin typeface="Calibri"/>
              </a:rPr>
              <a:t>REGRA A  —  o caso comum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49377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Divisível por 4
    ano % 4 == 0
E  NÃO  divisível por 100
    ano % 100 != 0
Exemplos: 2004, 2016, 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651760"/>
            <a:ext cx="5394960" cy="3520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651760"/>
            <a:ext cx="109728" cy="352044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F59820"/>
                </a:solidFill>
                <a:latin typeface="Calibri"/>
              </a:rPr>
              <a:t>REGRA B  —  o século especial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484632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Divisível por 400
    ano % 400 == 0
Isso salva 1600 e 2000.
Reprova 1700, 1800, 1900, 2100.
Por isso o || (OU) no if.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20  / 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784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19–20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Os operadores desta linha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%   &amp;&amp;   ||   ==   !=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280160"/>
            <a:ext cx="2240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08760"/>
            <a:ext cx="1234440" cy="1051560"/>
          </a:xfrm>
          <a:prstGeom prst="roundRect">
            <a:avLst>
              <a:gd name="adj" fmla="val 2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08760"/>
            <a:ext cx="123444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59820"/>
                </a:solidFill>
                <a:latin typeface="Consolas"/>
              </a:rPr>
              <a:t>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2057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21A2B"/>
                </a:solidFill>
                <a:latin typeface="Calibri"/>
              </a:rPr>
              <a:t>RESTO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200400"/>
            <a:ext cx="2029968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C3648"/>
                </a:solidFill>
                <a:latin typeface="Calibri"/>
              </a:rPr>
              <a:t>2024 % 4  →  0
Significa: cabe exatamente.
É divisível.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24912" y="1280160"/>
            <a:ext cx="2240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227832" y="1508760"/>
            <a:ext cx="1234440" cy="1051560"/>
          </a:xfrm>
          <a:prstGeom prst="roundRect">
            <a:avLst>
              <a:gd name="adj" fmla="val 2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1508760"/>
            <a:ext cx="123444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59820"/>
                </a:solidFill>
                <a:latin typeface="Consolas"/>
              </a:rPr>
              <a:t>==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2697480"/>
            <a:ext cx="2057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21A2B"/>
                </a:solidFill>
                <a:latin typeface="Calibri"/>
              </a:rPr>
              <a:t>IGUAL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3200400"/>
            <a:ext cx="2029968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C3648"/>
                </a:solidFill>
                <a:latin typeface="Calibri"/>
              </a:rPr>
              <a:t>Compara se dois valores
são iguais.
0 == 0  →  verdadeiro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4064" y="1280160"/>
            <a:ext cx="2240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586984" y="1508760"/>
            <a:ext cx="1234440" cy="1051560"/>
          </a:xfrm>
          <a:prstGeom prst="roundRect">
            <a:avLst>
              <a:gd name="adj" fmla="val 2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4" y="1508760"/>
            <a:ext cx="123444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59820"/>
                </a:solidFill>
                <a:latin typeface="Consolas"/>
              </a:rPr>
              <a:t>!=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697480"/>
            <a:ext cx="2057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21A2B"/>
                </a:solidFill>
                <a:latin typeface="Calibri"/>
              </a:rPr>
              <a:t>DIFERENTE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200400"/>
            <a:ext cx="2029968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C3648"/>
                </a:solidFill>
                <a:latin typeface="Calibri"/>
              </a:rPr>
              <a:t>O contrário de ==.
2024 % 100 != 0
é verdadeiro.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43216" y="1280160"/>
            <a:ext cx="2240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46136" y="1508760"/>
            <a:ext cx="1234440" cy="1051560"/>
          </a:xfrm>
          <a:prstGeom prst="roundRect">
            <a:avLst>
              <a:gd name="adj" fmla="val 2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6136" y="1508760"/>
            <a:ext cx="123444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59820"/>
                </a:solidFill>
                <a:latin typeface="Consolas"/>
              </a:rPr>
              <a:t>&amp;&amp;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2697480"/>
            <a:ext cx="2057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21A2B"/>
                </a:solidFill>
                <a:latin typeface="Calibri"/>
              </a:rPr>
              <a:t>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52944" y="3200400"/>
            <a:ext cx="2029968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C3648"/>
                </a:solidFill>
                <a:latin typeface="Calibri"/>
              </a:rPr>
              <a:t>As duas condições
precisam ser verdadeiras.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02368" y="1280160"/>
            <a:ext cx="2240280" cy="4892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05288" y="1508760"/>
            <a:ext cx="1234440" cy="1051560"/>
          </a:xfrm>
          <a:prstGeom prst="roundRect">
            <a:avLst>
              <a:gd name="adj" fmla="val 2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1508760"/>
            <a:ext cx="123444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800" b="1" i="0">
                <a:solidFill>
                  <a:srgbClr val="F59820"/>
                </a:solidFill>
                <a:latin typeface="Consolas"/>
              </a:rPr>
              <a:t>||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93808" y="2697480"/>
            <a:ext cx="2057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121A2B"/>
                </a:solidFill>
                <a:latin typeface="Calibri"/>
              </a:rPr>
              <a:t>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12096" y="3200400"/>
            <a:ext cx="2029968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 i="0">
                <a:solidFill>
                  <a:srgbClr val="2C3648"/>
                </a:solidFill>
                <a:latin typeface="Calibri"/>
              </a:rPr>
              <a:t>Basta uma das duas
ser verdadeira.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21  / 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676656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676656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21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Teste ao vivo: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Vamos aplicar a condição passo a passo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143000"/>
            <a:ext cx="11155680" cy="45720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3840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9AA8BE"/>
                </a:solidFill>
                <a:latin typeface="Calibri"/>
              </a:rPr>
              <a:t>Expressão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27432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9AA8BE"/>
                </a:solidFill>
                <a:latin typeface="Calibri"/>
              </a:rPr>
              <a:t>Conta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143000"/>
            <a:ext cx="38404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300" b="1" i="0">
                <a:solidFill>
                  <a:srgbClr val="9AA8BE"/>
                </a:solidFill>
                <a:latin typeface="Calibri"/>
              </a:rPr>
              <a:t>Resultado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0020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60020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21A2B"/>
                </a:solidFill>
                <a:latin typeface="Consolas"/>
              </a:rPr>
              <a:t>2024 % 4 ==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60020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648"/>
                </a:solidFill>
                <a:latin typeface="Consolas"/>
              </a:rPr>
              <a:t>0 ==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60020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3DB872"/>
                </a:solidFill>
                <a:latin typeface="Calibri"/>
              </a:rPr>
              <a:t>verdadeiro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377440"/>
            <a:ext cx="11155680" cy="777240"/>
          </a:xfrm>
          <a:prstGeom prst="rect">
            <a:avLst/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37744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21A2B"/>
                </a:solidFill>
                <a:latin typeface="Consolas"/>
              </a:rPr>
              <a:t>2024 % 100 !=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37744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648"/>
                </a:solidFill>
                <a:latin typeface="Consolas"/>
              </a:rPr>
              <a:t>24 !=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37744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3DB872"/>
                </a:solidFill>
                <a:latin typeface="Calibri"/>
              </a:rPr>
              <a:t>verdadeiro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5468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15468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21A2B"/>
                </a:solidFill>
                <a:latin typeface="Consolas"/>
              </a:rPr>
              <a:t>A  &amp;&amp; 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15468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648"/>
                </a:solidFill>
                <a:latin typeface="Consolas"/>
              </a:rPr>
              <a:t>V  e  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3DB872"/>
                </a:solidFill>
                <a:latin typeface="Calibri"/>
              </a:rPr>
              <a:t>verdadeiro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31920"/>
            <a:ext cx="11155680" cy="777240"/>
          </a:xfrm>
          <a:prstGeom prst="rect">
            <a:avLst/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21A2B"/>
                </a:solidFill>
                <a:latin typeface="Consolas"/>
              </a:rPr>
              <a:t>2024 % 400 == 0 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93192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648"/>
                </a:solidFill>
                <a:latin typeface="Consolas"/>
              </a:rPr>
              <a:t>224 !=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93192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E05A5A"/>
                </a:solidFill>
                <a:latin typeface="Calibri"/>
              </a:rPr>
              <a:t>falso — mas não precisamos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709160"/>
            <a:ext cx="1115568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70916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121A2B"/>
                </a:solidFill>
                <a:latin typeface="Consolas"/>
              </a:rPr>
              <a:t>(A &amp;&amp; B)  || 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09160"/>
            <a:ext cx="274320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0" i="0">
                <a:solidFill>
                  <a:srgbClr val="2C3648"/>
                </a:solidFill>
                <a:latin typeface="Consolas"/>
              </a:rPr>
              <a:t>V  ou  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709160"/>
            <a:ext cx="38404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500" b="1" i="0">
                <a:solidFill>
                  <a:srgbClr val="3DB872"/>
                </a:solidFill>
                <a:latin typeface="Calibri"/>
              </a:rPr>
              <a:t>VERDADEIRO → é bissexto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22  /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Por que 1900 não e 2000 sim?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A regra dos séculos existe para o calendário não atrasar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5577840" cy="100584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5778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1900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÷ 4     sim  (÷4)
não ÷100     não  (é ÷100)
÷ 400     não  (1900÷400 = 4 resto 300)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8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4937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E05A5A"/>
                </a:solidFill>
                <a:latin typeface="Calibri"/>
              </a:rPr>
              <a:t>NÃO é bissexto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37760"/>
            <a:ext cx="49377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Século comum: perde o dia extra.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557784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5577840" cy="1005840"/>
          </a:xfrm>
          <a:prstGeom prst="rect">
            <a:avLst/>
          </a:prstGeom>
          <a:solidFill>
            <a:srgbClr val="1A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34440"/>
            <a:ext cx="557784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468880"/>
            <a:ext cx="493776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÷ 4     sim  (÷4)
não ÷100     não  (é ÷100)
÷ 400     sim  (2000÷400 = 5)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160520"/>
            <a:ext cx="4937760" cy="640080"/>
          </a:xfrm>
          <a:prstGeom prst="roundRect">
            <a:avLst>
              <a:gd name="adj" fmla="val 8000"/>
            </a:avLst>
          </a:prstGeom>
          <a:solidFill>
            <a:srgbClr val="FFF1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160520"/>
            <a:ext cx="49377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3DB872"/>
                </a:solidFill>
                <a:latin typeface="Calibri"/>
              </a:rPr>
              <a:t>É bissexto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937760"/>
            <a:ext cx="493776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 i="0">
                <a:solidFill>
                  <a:srgbClr val="2C3648"/>
                </a:solidFill>
                <a:latin typeface="Calibri"/>
              </a:rPr>
              <a:t>Múltiplo de 400: ganha o dia extra.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23  /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78408" cy="292608"/>
          </a:xfrm>
          <a:prstGeom prst="roundRect">
            <a:avLst>
              <a:gd name="adj" fmla="val 50000"/>
            </a:avLst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978408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100" b="1" i="0">
                <a:solidFill>
                  <a:srgbClr val="121A2B"/>
                </a:solidFill>
                <a:latin typeface="Calibri"/>
              </a:rPr>
              <a:t>  22–23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1168"/>
            <a:ext cx="100584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Se for bissexto: soma 1 e, no fim, devolve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O método termina com return — o valor volta para o main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11155680" cy="155448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155448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289304"/>
            <a:ext cx="10771632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600" b="0" i="0">
                <a:solidFill>
                  <a:srgbClr val="E6EDF5"/>
                </a:solidFill>
                <a:latin typeface="Consolas"/>
              </a:rPr>
              <a:t>anosBissextos++;          // igual a  anosBissextos = anosBissextos + 1</a:t>
            </a:r>
          </a:p>
          <a:p>
            <a:pPr>
              <a:lnSpc>
                <a:spcPct val="115000"/>
              </a:lnSpc>
            </a:pPr>
            <a:r>
              <a:rPr sz="1600" b="0" i="0">
                <a:solidFill>
                  <a:srgbClr val="F59820"/>
                </a:solidFill>
                <a:latin typeface="Consolas"/>
              </a:rPr>
              <a:t>return anosBissextos;     // devolve o total encontrado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7180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Dentro do 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02920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2C3648"/>
                </a:solidFill>
                <a:latin typeface="Calibri"/>
              </a:rPr>
              <a:t>Só entra aqui quando o ano passou no teste.
0 → 1 → 2 → 3 → 4 → …
Anos comuns são ignorados. O for simplesmente vai para o próximo.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71800"/>
            <a:ext cx="5394960" cy="32004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5468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Depois do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657600"/>
            <a:ext cx="49377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EEF2F8"/>
                </a:solidFill>
                <a:latin typeface="Calibri"/>
              </a:rPr>
              <a:t>return entrega o número para quem chamou:
int anosBissextos =
    calcularAnosBissextos(...);
Se encontrou 5, anosBissextos vale 5 no main.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24  /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Como o programa inteiro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Sete passos, de cima para baixo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94560" y="11887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31720" y="12618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2618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11887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Recebe a 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1874519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31720" y="1947671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47671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1874519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Recebe o ano de nascimento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5603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26334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6334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25603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Descobre o ano atual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94560" y="32461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31720" y="33192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33192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32461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Procura os anos bissextos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39319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331720" y="40050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40050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9319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Faz idade × 365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46177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31720" y="46908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46908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6177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Soma os bissextos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5303520"/>
            <a:ext cx="77724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31720" y="5376672"/>
            <a:ext cx="457200" cy="438912"/>
          </a:xfrm>
          <a:prstGeom prst="roundRect">
            <a:avLst>
              <a:gd name="adj" fmla="val 50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5376672"/>
            <a:ext cx="45720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600" b="1" i="0">
                <a:solidFill>
                  <a:srgbClr val="F59820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303520"/>
            <a:ext cx="6766560" cy="5943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 i="0">
                <a:solidFill>
                  <a:srgbClr val="121A2B"/>
                </a:solidFill>
                <a:latin typeface="Calibri"/>
              </a:rPr>
              <a:t>Mostra o resultado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25  / 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Exemplo completo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Idade 20  ·  nascido em 2006  ·  ano atual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143000"/>
            <a:ext cx="5577840" cy="5029200"/>
          </a:xfrm>
          <a:prstGeom prst="roundRect">
            <a:avLst>
              <a:gd name="adj" fmla="val 4000"/>
            </a:avLst>
          </a:prstGeom>
          <a:solidFill>
            <a:srgbClr val="0F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73152" cy="50292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289304"/>
            <a:ext cx="5193792" cy="477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0" i="0">
                <a:solidFill>
                  <a:srgbClr val="7ED9A0"/>
                </a:solidFill>
                <a:latin typeface="Consolas"/>
              </a:rPr>
              <a:t>Qual a sua idade? 20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7ED9A0"/>
                </a:solidFill>
                <a:latin typeface="Consolas"/>
              </a:rPr>
              <a:t>Em que ano você nasceu? 2006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>anoAtual          = 2026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9AA8BE"/>
                </a:solidFill>
                <a:latin typeface="Consolas"/>
              </a:rPr>
              <a:t>intervalo         = 2006 … 2025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9AA8BE"/>
                </a:solidFill>
                <a:latin typeface="Consolas"/>
              </a:rPr>
              <a:t>bissextos nessa faixa: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F59820"/>
                </a:solidFill>
                <a:latin typeface="Consolas"/>
              </a:rPr>
              <a:t>2008  2012  2016  2020  2024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F59820"/>
                </a:solidFill>
                <a:latin typeface="Consolas"/>
              </a:rPr>
              <a:t>anosBissextos     = 5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/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E6EDF5"/>
                </a:solidFill>
                <a:latin typeface="Consolas"/>
              </a:rPr>
              <a:t>20 × 365          = 7300</a:t>
            </a:r>
          </a:p>
          <a:p>
            <a:pPr>
              <a:lnSpc>
                <a:spcPct val="115000"/>
              </a:lnSpc>
            </a:pPr>
            <a:r>
              <a:rPr sz="1500" b="0" i="0">
                <a:solidFill>
                  <a:srgbClr val="7ED9A0"/>
                </a:solidFill>
                <a:latin typeface="Consolas"/>
              </a:rPr>
              <a:t>7300 + 5          = 7305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143000"/>
            <a:ext cx="5303520" cy="50292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71600"/>
            <a:ext cx="4846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alibri"/>
              </a:rPr>
              <a:t>Saída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846320" cy="2011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Você já viveu aproximadamente
7305 dias.
Você viveu 5 ano(s)
bissexto(s).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8463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 i="0">
                <a:solidFill>
                  <a:srgbClr val="9AA8BE"/>
                </a:solidFill>
                <a:latin typeface="Calibri"/>
              </a:rPr>
              <a:t>Confira no IntelliJ: rode, digite os mesmos números e compare.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26  /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97280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 i="0">
                <a:solidFill>
                  <a:srgbClr val="121A2B"/>
                </a:solidFill>
                <a:latin typeface="Calibri"/>
              </a:rPr>
              <a:t>Uma observação importante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85216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5A6880"/>
                </a:solidFill>
                <a:latin typeface="Calibri"/>
              </a:rPr>
              <a:t>O cálculo é aproximado — e isso é esperado neste exercício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32688"/>
            <a:ext cx="1280160" cy="4572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11155680" cy="219456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5875">
            <a:solidFill>
              <a:srgbClr val="F5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E07A00"/>
                </a:solidFill>
                <a:latin typeface="Calibri"/>
              </a:rPr>
              <a:t>O que o programa NÃO considera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60704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2C3648"/>
                </a:solidFill>
                <a:latin typeface="Calibri"/>
              </a:rPr>
              <a:t>Não pede o dia nem o mês de nascimento. Alguém que fez 20 anos ontem e alguém que faz 21 amanhã podem receber o mesmo resultado. A idade inteira × 365 não representa o calendário real até hoje.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Para aprender 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648"/>
                </a:solidFill>
                <a:latin typeface="Calibri"/>
              </a:rPr>
              <a:t>É um ótimo exercício: entrada, variáveis, conta, if, for, método e return.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3657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Para o dia real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262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648"/>
                </a:solidFill>
                <a:latin typeface="Calibri"/>
              </a:rPr>
              <a:t>Precisaríamos de LocalDate, data completa e ChronoUnit.DAYS.between.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657600"/>
            <a:ext cx="36576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4E0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3840480"/>
            <a:ext cx="32004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21A2B"/>
                </a:solidFill>
                <a:latin typeface="Calibri"/>
              </a:rPr>
              <a:t>Para o próximo passo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526280"/>
            <a:ext cx="3200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2C3648"/>
                </a:solidFill>
                <a:latin typeface="Calibri"/>
              </a:rPr>
              <a:t>Tente pedir dia e mês, ou usar LocalDate.now() e LocalDate.of(...).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5A6880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5A6880"/>
                </a:solidFill>
                <a:latin typeface="Calibri"/>
              </a:rPr>
              <a:t>27  /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você treinou hoje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14400"/>
            <a:ext cx="1280160" cy="54864"/>
          </a:xfrm>
          <a:prstGeom prst="rect">
            <a:avLst/>
          </a:prstGeom>
          <a:solidFill>
            <a:srgbClr val="F598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2801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Scanner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ler o teclado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5087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guardar números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System.out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falar com o usuário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28016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5087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Year.now()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96596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pegar o ano atual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34639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632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5204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tomar decisão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2834639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30632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5204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repetir com contador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834639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0632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5204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resto da divisão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2834639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30632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&amp;&amp;  ||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520439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combinar condições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3891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6177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método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74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separar uma tarefa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3891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11880" y="46177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11880" y="5074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devolver um valor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3891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6177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74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incrementar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89120"/>
            <a:ext cx="2651760" cy="1325880"/>
          </a:xfrm>
          <a:prstGeom prst="roundRect">
            <a:avLst>
              <a:gd name="adj" fmla="val 8000"/>
            </a:avLst>
          </a:prstGeom>
          <a:solidFill>
            <a:srgbClr val="1C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81160" y="46177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59820"/>
                </a:solidFill>
                <a:latin typeface="Consolas"/>
              </a:rPr>
              <a:t>close()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5074920"/>
            <a:ext cx="2377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EEF2F8"/>
                </a:solidFill>
                <a:latin typeface="Calibri"/>
              </a:rPr>
              <a:t>encerrar o Scanner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2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656832"/>
            <a:ext cx="731520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9AA8BE"/>
                </a:solidFill>
                <a:latin typeface="Calibri"/>
              </a:rPr>
              <a:t>DiasDeVida  ·  Java linha a linha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6656832"/>
            <a:ext cx="1554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9AA8BE"/>
                </a:solidFill>
                <a:latin typeface="Calibri"/>
              </a:rPr>
              <a:t>28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