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 explique o objetivo: ao final, todos terão construído uma calculadora completa em Java, entendendo cada linha do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objetivo: ao final, o aluno terá um programa completo, com entrada, processamento e saída. Adiante que cada conceito será explicado na hora em que aparecer.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Enfatize que a versão Community é gratuita e suficiente. Se o aluno já tiver o JDK instalado, ele só precisa selecioná-lo no assistente.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tela do IntelliJ enquanto fala. Reforce que todo arquivo .java que criarmos vai morar dentro de src.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Java é organizado em classes: todo código fica dentro de uma. Por isso o arquivo e a classe precisam ter o mesmo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Frase-chave: “Sempre que o programa inicia, o Java procura pelo método main”. Tudo que estiver dentro das chaves dele será executado.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 a vida real: sem o Scanner é como tentar preencher um formulário sem caneta. O import é o “pedido” para usar essa ferramenta pronta do Java.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 o padrão: primeiro avisa com println, depois lê com nextDouble. Esse par ‘mensagem + leitura’ vai se repetir durante todo 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Pergunte à turma: “por que int aqui e não double?” — porque a opção do menu é sempre um número inteiro (1, 2, 3 ou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com o exemplo do tutorial: se o usuário digita 2, o Java testa o case 1 (não), depois o case 2 (sim!), executa a subtração e o break encerra 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programas reais precisam prever erros. Aqui validamos duas situações: divisão por zero e opção inexistente no 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Concatenação: o + entre texto e número “cola” os dois em uma única mensagem. Fechar o Scanner é uma boa prática, como desligar a luz ao sair da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referência — não leia linha por linha. Use para revisar a estrutura: imports, classe, main, entradas, decisão e saída. O arquivo Calculadora.java completo acompanha o material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demonstração ao vivo se possível. Mostre onde clicar e onde digitar: a entrada é feita na própria janela Run, como um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Convide a turma a sugerir outros valores. Sugestão de teste: 10 ÷ 0 com a opção 4 para ver o tratamento de erro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Recapitule em uma frase por card. Pergunte à turma qual conceito foi mais difícil e volte ao slide correspondente, se necessário.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Encerre motivando: cada melhoria sugerida é um novo exercício. Deixe o código disponível para a turma experimentar em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3716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8981D"/>
                </a:solidFill>
                <a:latin typeface="Segoe UI"/>
              </a:rPr>
              <a:t>SEU PRIMEIRO PROGRAMA EM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83080"/>
            <a:ext cx="6126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700" b="1" i="0">
                <a:solidFill>
                  <a:srgbClr val="F4F7FC"/>
                </a:solidFill>
                <a:latin typeface="Segoe UI"/>
              </a:rPr>
              <a:t>Calculadora em Java</a:t>
            </a:r>
          </a:p>
          <a:p>
            <a:pPr>
              <a:spcBef>
                <a:spcPts val="1000"/>
              </a:spcBef>
            </a:pPr>
            <a:r>
              <a:rPr sz="1800" b="0" i="0">
                <a:solidFill>
                  <a:srgbClr val="A4B0C5"/>
                </a:solidFill>
                <a:latin typeface="Segoe UI"/>
              </a:rPr>
              <a:t>Um passo a passo completo usando o IntelliJ IDEA</a:t>
            </a:r>
          </a:p>
        </p:txBody>
      </p:sp>
      <p:sp>
        <p:nvSpPr>
          <p:cNvPr id="4" name="Oval 3"/>
          <p:cNvSpPr/>
          <p:nvPr/>
        </p:nvSpPr>
        <p:spPr>
          <a:xfrm>
            <a:off x="576072" y="3703320"/>
            <a:ext cx="777240" cy="777240"/>
          </a:xfrm>
          <a:prstGeom prst="ellipse">
            <a:avLst/>
          </a:prstGeom>
          <a:solidFill>
            <a:srgbClr val="15223E"/>
          </a:solidFill>
          <a:ln w="19050">
            <a:solidFill>
              <a:srgbClr val="F89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8981D"/>
                </a:solidFill>
                <a:latin typeface="Segoe UI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459028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4B0C5"/>
                </a:solidFill>
                <a:latin typeface="Segoe UI"/>
              </a:rPr>
              <a:t>Soma</a:t>
            </a:r>
          </a:p>
        </p:txBody>
      </p:sp>
      <p:sp>
        <p:nvSpPr>
          <p:cNvPr id="6" name="Oval 5"/>
          <p:cNvSpPr/>
          <p:nvPr/>
        </p:nvSpPr>
        <p:spPr>
          <a:xfrm>
            <a:off x="1874519" y="3703320"/>
            <a:ext cx="777240" cy="777240"/>
          </a:xfrm>
          <a:prstGeom prst="ellipse">
            <a:avLst/>
          </a:prstGeom>
          <a:solidFill>
            <a:srgbClr val="15223E"/>
          </a:solidFill>
          <a:ln w="19050">
            <a:solidFill>
              <a:srgbClr val="F89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8981D"/>
                </a:solidFill>
                <a:latin typeface="Segoe UI"/>
              </a:rP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199" y="459028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4B0C5"/>
                </a:solidFill>
                <a:latin typeface="Segoe UI"/>
              </a:rPr>
              <a:t>Subtração</a:t>
            </a:r>
          </a:p>
        </p:txBody>
      </p:sp>
      <p:sp>
        <p:nvSpPr>
          <p:cNvPr id="8" name="Oval 7"/>
          <p:cNvSpPr/>
          <p:nvPr/>
        </p:nvSpPr>
        <p:spPr>
          <a:xfrm>
            <a:off x="3172968" y="3703320"/>
            <a:ext cx="777240" cy="777240"/>
          </a:xfrm>
          <a:prstGeom prst="ellipse">
            <a:avLst/>
          </a:prstGeom>
          <a:solidFill>
            <a:srgbClr val="15223E"/>
          </a:solidFill>
          <a:ln w="19050">
            <a:solidFill>
              <a:srgbClr val="F89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8981D"/>
                </a:solidFill>
                <a:latin typeface="Segoe UI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459028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4B0C5"/>
                </a:solidFill>
                <a:latin typeface="Segoe UI"/>
              </a:rPr>
              <a:t>Multiplicação</a:t>
            </a:r>
          </a:p>
        </p:txBody>
      </p:sp>
      <p:sp>
        <p:nvSpPr>
          <p:cNvPr id="10" name="Oval 9"/>
          <p:cNvSpPr/>
          <p:nvPr/>
        </p:nvSpPr>
        <p:spPr>
          <a:xfrm>
            <a:off x="4471416" y="3703320"/>
            <a:ext cx="777240" cy="777240"/>
          </a:xfrm>
          <a:prstGeom prst="ellipse">
            <a:avLst/>
          </a:prstGeom>
          <a:solidFill>
            <a:srgbClr val="15223E"/>
          </a:solidFill>
          <a:ln w="19050">
            <a:solidFill>
              <a:srgbClr val="F89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 i="0">
                <a:solidFill>
                  <a:srgbClr val="F8981D"/>
                </a:solidFill>
                <a:latin typeface="Segoe UI"/>
              </a:rPr>
              <a:t>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459028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A4B0C5"/>
                </a:solidFill>
                <a:latin typeface="Segoe UI"/>
              </a:rPr>
              <a:t>Divisão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A4B0C5"/>
                </a:solidFill>
                <a:latin typeface="Segoe UI"/>
              </a:rPr>
              <a:t>Do zero ao primeiro resultado no console.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554480"/>
            <a:ext cx="4709160" cy="356616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755648"/>
            <a:ext cx="4197096" cy="3163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9E64"/>
                </a:solidFill>
                <a:latin typeface="Consolas"/>
              </a:rPr>
              <a:t>import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java.util.</a:t>
            </a:r>
            <a:r>
              <a:rPr sz="12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200" b="0" i="0">
                <a:solidFill>
                  <a:srgbClr val="FF9E64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200" b="0" i="0">
                <a:solidFill>
                  <a:srgbClr val="7AA2F7"/>
                </a:solidFill>
                <a:latin typeface="Consolas"/>
              </a:rPr>
              <a:t>Calculadora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2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200" b="0" i="0">
                <a:solidFill>
                  <a:srgbClr val="FF9E64"/>
                </a:solidFill>
                <a:latin typeface="Consolas"/>
              </a:rPr>
              <a:t>static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200" b="0" i="0">
                <a:solidFill>
                  <a:srgbClr val="FF9E64"/>
                </a:solidFill>
                <a:latin typeface="Consolas"/>
              </a:rPr>
              <a:t>void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main(</a:t>
            </a:r>
            <a:r>
              <a:rPr sz="1200" b="0" i="0">
                <a:solidFill>
                  <a:srgbClr val="7AA2F7"/>
                </a:solidFill>
                <a:latin typeface="Consolas"/>
              </a:rPr>
              <a:t>String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[] args)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entrada = </a:t>
            </a:r>
            <a:r>
              <a:rPr sz="1200" b="0" i="0">
                <a:solidFill>
                  <a:srgbClr val="FF9E64"/>
                </a:solidFill>
                <a:latin typeface="Consolas"/>
              </a:rPr>
              <a:t>new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2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(</a:t>
            </a:r>
            <a:r>
              <a:rPr sz="12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200" b="0" i="0">
                <a:solidFill>
                  <a:srgbClr val="DDE4F0"/>
                </a:solidFill>
                <a:latin typeface="Consolas"/>
              </a:rPr>
              <a:t>.in);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200" b="0" i="0">
                <a:solidFill>
                  <a:srgbClr val="63708C"/>
                </a:solidFill>
                <a:latin typeface="Consolas"/>
              </a:rPr>
              <a:t>// tudo começa aqui...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4F0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200" b="0" i="0">
                <a:solidFill>
                  <a:srgbClr val="DDE4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VISÃO GERAL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O que vamos construir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8981D"/>
                </a:solidFill>
                <a:latin typeface="Segoe UI"/>
              </a:rPr>
              <a:t>O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4892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Calculadora de console com as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4 operações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básicas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O usuário digita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dois números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Escolhe a operação em um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menu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(1 a 4)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O programa calcula e mostra o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resultado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E ainda trata o erro de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divisão por zero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417320"/>
            <a:ext cx="5440680" cy="47091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64592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8981D"/>
                </a:solidFill>
                <a:latin typeface="Segoe UI"/>
              </a:rPr>
              <a:t>CONCEITOS QUE VOCÊ VAI APRENDER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148840"/>
            <a:ext cx="4892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Variáveis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int e double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Entrada de dados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Scanner (teclado)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Saída de dados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System.out.println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Decisões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switch e if / else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Erros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validação simples e close()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1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Preparando o ambiente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1778508"/>
            <a:ext cx="99761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F4F7FC"/>
                </a:solidFill>
                <a:latin typeface="Segoe UI"/>
              </a:rPr>
              <a:t>Baixe o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IntelliJ IDEA Community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— é gratuito (jetbrains.com/idea)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51460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555748"/>
            <a:ext cx="99761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F4F7FC"/>
                </a:solidFill>
                <a:latin typeface="Segoe UI"/>
              </a:rPr>
              <a:t>Instale normalmente e abra o programa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9184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3332988"/>
            <a:ext cx="997610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F4F7FC"/>
                </a:solidFill>
                <a:latin typeface="Segoe UI"/>
              </a:rPr>
              <a:t>Na tela inicial, clique em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New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343400"/>
            <a:ext cx="10972800" cy="1417320"/>
          </a:xfrm>
          <a:prstGeom prst="rect">
            <a:avLst/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343400"/>
            <a:ext cx="82296" cy="1417320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489704"/>
            <a:ext cx="1046988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SEM JDK? SEM PROBLEMA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500" b="0" i="0">
                <a:solidFill>
                  <a:srgbClr val="F4F7FC"/>
                </a:solidFill>
                <a:latin typeface="Segoe UI"/>
              </a:rPr>
              <a:t>O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JDK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(Java Development Kit) é o kit que compila e executa seus programas. O próprio IntelliJ baixa para você: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New Project → Download JDK → versão 21 ou superior → Download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2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Criando o projeto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1824228"/>
            <a:ext cx="9976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1" i="0">
                <a:solidFill>
                  <a:srgbClr val="F8981D"/>
                </a:solidFill>
                <a:latin typeface="Segoe UI"/>
              </a:rPr>
              <a:t>New Project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→ selecione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Java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51460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555748"/>
            <a:ext cx="9976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F4F7FC"/>
                </a:solidFill>
                <a:latin typeface="Segoe UI"/>
              </a:rPr>
              <a:t>Verifique se há um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JDK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selecionado (senão: Download JDK)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4612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3287268"/>
            <a:ext cx="9976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F4F7FC"/>
                </a:solidFill>
                <a:latin typeface="Segoe UI"/>
              </a:rPr>
              <a:t>Nome do projeto: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CalculadoraJava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7764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241600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4018788"/>
            <a:ext cx="9976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 i="0">
                <a:solidFill>
                  <a:srgbClr val="F4F7FC"/>
                </a:solidFill>
                <a:latin typeface="Segoe UI"/>
              </a:rPr>
              <a:t>Clique em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Create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800600"/>
            <a:ext cx="10972800" cy="1234440"/>
          </a:xfrm>
          <a:prstGeom prst="rect">
            <a:avLst/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800600"/>
            <a:ext cx="82296" cy="1234440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46904"/>
            <a:ext cx="10469880" cy="941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OLHA A ESTRUTURA AÍ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500" b="0" i="0">
                <a:solidFill>
                  <a:srgbClr val="F4F7FC"/>
                </a:solidFill>
                <a:latin typeface="Segoe UI"/>
              </a:rPr>
              <a:t>À esquerda aparece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CalculadoraJava → src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. A pasta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src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(source, código-fonte) é onde ficará todo o código do programa.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3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Criando a classe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074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Botão direito em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src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→ New → Java Class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Digite o nome: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Calculadora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Uma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classe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é a “caixa” que guarda o programa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public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qualquer outra classe pode usá-la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class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palavra-chave que define uma classe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691640"/>
            <a:ext cx="5788152" cy="141732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08192" y="1892808"/>
            <a:ext cx="5276088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400" b="0" i="0">
                <a:solidFill>
                  <a:srgbClr val="FF9E64"/>
                </a:solidFill>
                <a:latin typeface="Consolas"/>
              </a:rPr>
              <a:t>class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400" b="0" i="0">
                <a:solidFill>
                  <a:srgbClr val="7AA2F7"/>
                </a:solidFill>
                <a:latin typeface="Consolas"/>
              </a:rPr>
              <a:t>Calculadora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DDE4F0"/>
                </a:solidFill>
                <a:latin typeface="Consola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520440"/>
            <a:ext cx="5788152" cy="1463040"/>
          </a:xfrm>
          <a:prstGeom prst="rect">
            <a:avLst/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0" y="3520440"/>
            <a:ext cx="82296" cy="1463040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3666744"/>
            <a:ext cx="5285232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REGRA DE OURO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sz="1400" b="0" i="0">
                <a:solidFill>
                  <a:srgbClr val="F4F7FC"/>
                </a:solidFill>
                <a:latin typeface="Segoe UI"/>
              </a:rPr>
              <a:t>O nome da classe deve ser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igual ao nome do arquivo</a:t>
            </a:r>
            <a:r>
              <a:rPr sz="1400" b="0" i="0">
                <a:solidFill>
                  <a:srgbClr val="F4F7FC"/>
                </a:solidFill>
                <a:latin typeface="Segoe UI"/>
              </a:rPr>
              <a:t>: classe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Calculadora</a:t>
            </a:r>
            <a:r>
              <a:rPr sz="1400" b="0" i="0">
                <a:solidFill>
                  <a:srgbClr val="F4F7FC"/>
                </a:solidFill>
                <a:latin typeface="Segoe UI"/>
              </a:rPr>
              <a:t> → arquivo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Calculadora.java</a:t>
            </a:r>
            <a:r>
              <a:rPr sz="1400" b="0" i="0">
                <a:solidFill>
                  <a:srgbClr val="F4F7FC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4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O método main: ponto de entrada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6583680" cy="141732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55648"/>
            <a:ext cx="6071616" cy="1014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400" b="0" i="0">
                <a:solidFill>
                  <a:srgbClr val="FF9E64"/>
                </a:solidFill>
                <a:latin typeface="Consolas"/>
              </a:rPr>
              <a:t>static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400" b="0" i="0">
                <a:solidFill>
                  <a:srgbClr val="FF9E64"/>
                </a:solidFill>
                <a:latin typeface="Consolas"/>
              </a:rPr>
              <a:t>void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main(</a:t>
            </a:r>
            <a:r>
              <a:rPr sz="1400" b="0" i="0">
                <a:solidFill>
                  <a:srgbClr val="7AA2F7"/>
                </a:solidFill>
                <a:latin typeface="Consolas"/>
              </a:rPr>
              <a:t>String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[] args)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DDE4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10642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public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permite que o Java encontre o método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static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pertence à classe; executa sem criar objeto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void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não retorna nenhum valor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main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o nome que o Java procura ao iniciar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String[] args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— argumentos do programa (não vamos usar)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5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Scanner: lendo o teclado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6949440" cy="306324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09928"/>
            <a:ext cx="6437376" cy="2660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import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java.util.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class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Calculadora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static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void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main(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String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[] args)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entrada =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new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(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.in);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import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traz a classe Scanner para o arquivo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Scanner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classe que lê o que o usuário digita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entrada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nome da variável (você escolhe)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new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cria um novo objeto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System.in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representa o teclado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0" i="0">
                <a:solidFill>
                  <a:srgbClr val="A4B0C5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Sem o Scanner, o programa não recebe dados do usuário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6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Pedindo os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6949440" cy="233172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09928"/>
            <a:ext cx="6437376" cy="1929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"Digite o primeiro número:"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double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numero1 = entrada.nextDouble();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"Digite o segundo número:"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double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numero2 = entrada.nextDouble();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System.out.println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mostra uma mensagem na tela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double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tipo que aceita casas decimais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 i="0">
                <a:solidFill>
                  <a:srgbClr val="A4B0C5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exemplos: 10, 10.5, 3.14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nextDouble()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lê o número digitado no teclado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O valor digitado fica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guardado na variável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numero1 / numero2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7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O menu de operações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6949440" cy="306324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09928"/>
            <a:ext cx="6437376" cy="2660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"Escolha a operação:"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"1 - Soma"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"2 - Subtração"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"3 - Multiplicação"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"4 - Divisão"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int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opcao = entrada.nextInt();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int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tipo para números inteiros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00" b="0" i="0">
                <a:solidFill>
                  <a:srgbClr val="A4B0C5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exemplos: 1, 2, 10, 50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nextInt()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lê a opção digitada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A opção escolhida fica na variável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opcao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Ela vai decidir o cálculo no próximo passo...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8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Fazendo os cálculos com switch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400800" cy="443484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664208"/>
            <a:ext cx="5888736" cy="403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double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resultado = </a:t>
            </a:r>
            <a:r>
              <a:rPr sz="1300" b="0" i="0">
                <a:solidFill>
                  <a:srgbClr val="BB9AF7"/>
                </a:solidFill>
                <a:latin typeface="Consolas"/>
              </a:rPr>
              <a:t>0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switch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(opcao)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BB9AF7"/>
                </a:solidFill>
                <a:latin typeface="Consolas"/>
              </a:rPr>
              <a:t>1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resultado = numero1 + numero2;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BB9AF7"/>
                </a:solidFill>
                <a:latin typeface="Consolas"/>
              </a:rPr>
              <a:t>2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resultado = numero1 - numero2;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BB9AF7"/>
                </a:solidFill>
                <a:latin typeface="Consolas"/>
              </a:rPr>
              <a:t>3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resultado = numero1 * numero2;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63708C"/>
                </a:solidFill>
                <a:latin typeface="Consolas"/>
              </a:rPr>
              <a:t>// case 4 e default vêm a seguir...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600200"/>
            <a:ext cx="4434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O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switch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compara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opcao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com cada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case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Encontrou o case certo?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Executa o cálculo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break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sai do switch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0" i="0">
                <a:solidFill>
                  <a:srgbClr val="A4B0C5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sem ele, os próximos casos também seriam executados!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default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pega qualquer opção fora do menu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resultado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guarda o valor calculado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9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Divisão: cuidado com o zero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6583680" cy="457200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664208"/>
            <a:ext cx="6071616" cy="416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300" b="0" i="0">
                <a:solidFill>
                  <a:srgbClr val="BB9AF7"/>
                </a:solidFill>
                <a:latin typeface="Consolas"/>
              </a:rPr>
              <a:t>4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if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(numero2 != </a:t>
            </a:r>
            <a:r>
              <a:rPr sz="1300" b="0" i="0">
                <a:solidFill>
                  <a:srgbClr val="BB9AF7"/>
                </a:solidFill>
                <a:latin typeface="Consolas"/>
              </a:rPr>
              <a:t>0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resultado = numero1 / numero2;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}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else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"Erro: divisão por zero!"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entrada.close();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return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FF9E64"/>
                </a:solidFill>
                <a:latin typeface="Consolas"/>
              </a:rPr>
              <a:t>default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300" b="0" i="0">
                <a:solidFill>
                  <a:srgbClr val="9ECE6A"/>
                </a:solidFill>
                <a:latin typeface="Consolas"/>
              </a:rPr>
              <a:t>"Opção inválida."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entrada.close();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300" b="0" i="0">
                <a:solidFill>
                  <a:srgbClr val="FF9E64"/>
                </a:solidFill>
                <a:latin typeface="Consolas"/>
              </a:rPr>
              <a:t>return</a:t>
            </a:r>
            <a:r>
              <a:rPr sz="1300" b="0" i="0">
                <a:solidFill>
                  <a:srgbClr val="DDE4F0"/>
                </a:solidFill>
                <a:latin typeface="Consolas"/>
              </a:rPr>
              <a:t>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600200"/>
            <a:ext cx="4297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Dividir por zero é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proibido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testamos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antes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if / else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escolhe um caminho ou outro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numero2 != 0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“segundo número é diferente de zero?”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return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encerra o programa imediatamente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default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avisa quando a opção não existe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PASSO 10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Mostrando o resultado (e limpando)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6400800" cy="169164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755648"/>
            <a:ext cx="5888736" cy="1289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400" b="0" i="0">
                <a:solidFill>
                  <a:srgbClr val="9ECE6A"/>
                </a:solidFill>
                <a:latin typeface="Consolas"/>
              </a:rPr>
              <a:t>"Resultado: "</a:t>
            </a:r>
            <a:r>
              <a:rPr sz="1400" b="0" i="0">
                <a:solidFill>
                  <a:srgbClr val="DDE4F0"/>
                </a:solidFill>
                <a:latin typeface="Consolas"/>
              </a:rPr>
              <a:t> + resultado);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DDE4F0"/>
                </a:solidFill>
                <a:latin typeface="Consolas"/>
              </a:rPr>
              <a:t>entrada.close();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60350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O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+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junta o texto com o valor da variável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0" i="0">
                <a:solidFill>
                  <a:srgbClr val="A4B0C5"/>
                </a:solidFill>
                <a:latin typeface="Segoe UI"/>
              </a:rPr>
              <a:t>      –  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“Resultado: ” + 25.0  →  Resultado: 25.0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close()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libera os recursos de leitura do teclado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Depois disso, o programa chega ao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fim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657600"/>
            <a:ext cx="4663440" cy="1371600"/>
          </a:xfrm>
          <a:prstGeom prst="roundRect">
            <a:avLst>
              <a:gd name="adj" fmla="val 7000"/>
            </a:avLst>
          </a:prstGeom>
          <a:solidFill>
            <a:srgbClr val="080D1A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38404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4B0C5"/>
                </a:solidFill>
                <a:latin typeface="Segoe UI"/>
              </a:rPr>
              <a:t>SAÍDA NO CONSOLE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F8981D"/>
                </a:solidFill>
                <a:latin typeface="Consolas"/>
              </a:rPr>
              <a:t>Resultado: 25.0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JUNTANDO TUDO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O código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898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8981D"/>
                </a:solidFill>
                <a:latin typeface="Segoe UI"/>
              </a:rPr>
              <a:t>PARTE 1 — ENTRADAS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65376"/>
            <a:ext cx="4928616" cy="4315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9E64"/>
                </a:solidFill>
                <a:latin typeface="Consolas"/>
              </a:rPr>
              <a:t>import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java.util.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class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Calculadora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public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static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void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main(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String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[] args)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entrada =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new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Scanner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(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.in);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"Digite o primeiro número:"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numero1 = entrada.nextDouble();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"Digite o segundo número:"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numero2 = entrada.nextDouble();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"Escolha a operação:"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"1 - Soma"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"2 - Subtração"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"3 - Multiplicação"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"4 - Divisão"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int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opcao = entrada.nextInt();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double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resultado = </a:t>
            </a:r>
            <a:r>
              <a:rPr sz="1000" b="0" i="0">
                <a:solidFill>
                  <a:srgbClr val="BB9AF7"/>
                </a:solidFill>
                <a:latin typeface="Consolas"/>
              </a:rPr>
              <a:t>0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38988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8981D"/>
                </a:solidFill>
                <a:latin typeface="Segoe UI"/>
              </a:rPr>
              <a:t>PARTE 2 — CÁLCULO E SAÍDA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440680" cy="4572000"/>
          </a:xfrm>
          <a:prstGeom prst="roundRect">
            <a:avLst>
              <a:gd name="adj" fmla="val 5000"/>
            </a:avLst>
          </a:prstGeom>
          <a:solidFill>
            <a:srgbClr val="0F1A32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865376"/>
            <a:ext cx="4928616" cy="4315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Calculadora.java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9E64"/>
                </a:solidFill>
                <a:latin typeface="Consolas"/>
              </a:rPr>
              <a:t>switch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(opcao)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BB9AF7"/>
                </a:solidFill>
                <a:latin typeface="Consolas"/>
              </a:rPr>
              <a:t>1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resultado = numero1 + numero2;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BB9AF7"/>
                </a:solidFill>
                <a:latin typeface="Consolas"/>
              </a:rPr>
              <a:t>2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resultado = numero1 - numero2;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BB9AF7"/>
                </a:solidFill>
                <a:latin typeface="Consolas"/>
              </a:rPr>
              <a:t>3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resultado = numero1 * numero2;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case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</a:t>
            </a:r>
            <a:r>
              <a:rPr sz="1000" b="0" i="0">
                <a:solidFill>
                  <a:srgbClr val="BB9AF7"/>
                </a:solidFill>
                <a:latin typeface="Consolas"/>
              </a:rPr>
              <a:t>4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if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(numero2 != </a:t>
            </a:r>
            <a:r>
              <a:rPr sz="1000" b="0" i="0">
                <a:solidFill>
                  <a:srgbClr val="BB9AF7"/>
                </a:solidFill>
                <a:latin typeface="Consolas"/>
              </a:rPr>
              <a:t>0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    resultado = numero1 / numero2;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}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else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"Erro: divisão por zero."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    entrada.close();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return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break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default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"Opção inválida."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entrada.close();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    </a:t>
            </a:r>
            <a:r>
              <a:rPr sz="1000" b="0" i="0">
                <a:solidFill>
                  <a:srgbClr val="FF9E64"/>
                </a:solidFill>
                <a:latin typeface="Consolas"/>
              </a:rPr>
              <a:t>return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AA2F7"/>
                </a:solidFill>
                <a:latin typeface="Consolas"/>
              </a:rPr>
              <a:t>System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.out.println(</a:t>
            </a:r>
            <a:r>
              <a:rPr sz="1000" b="0" i="0">
                <a:solidFill>
                  <a:srgbClr val="9ECE6A"/>
                </a:solidFill>
                <a:latin typeface="Consolas"/>
              </a:rPr>
              <a:t>"Resultado: "</a:t>
            </a:r>
            <a:r>
              <a:rPr sz="1000" b="0" i="0">
                <a:solidFill>
                  <a:srgbClr val="DDE4F0"/>
                </a:solidFill>
                <a:latin typeface="Consolas"/>
              </a:rPr>
              <a:t> + resultado);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4F7FC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entrada.close();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DE4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HORA DE VER FUNCIONANDO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Executando no IntelliJ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9164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1016" y="1732788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Salve o arquivo (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Ctrl + S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313432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2354580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Clique no botão verde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▶ Run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(canto superior direito)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935224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1016" y="2976372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A janela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Run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abre na parte inferior da tela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557016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598164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Digite o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1º número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→ Enter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178808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4219956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Digite o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2º número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→ Enter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00600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4841748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Digite a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opção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(1 a 4) → Enter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422392"/>
            <a:ext cx="402336" cy="402336"/>
          </a:xfrm>
          <a:prstGeom prst="ellipse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241600"/>
                </a:solidFill>
                <a:latin typeface="Segoe U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5463540"/>
            <a:ext cx="997610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600" b="0" i="0">
                <a:solidFill>
                  <a:srgbClr val="F4F7FC"/>
                </a:solidFill>
                <a:latin typeface="Segoe UI"/>
              </a:rPr>
              <a:t>Veja o </a:t>
            </a:r>
            <a:r>
              <a:rPr sz="1600" b="1" i="0">
                <a:solidFill>
                  <a:srgbClr val="F8981D"/>
                </a:solidFill>
                <a:latin typeface="Segoe UI"/>
              </a:rPr>
              <a:t>resultado</a:t>
            </a:r>
            <a:r>
              <a:rPr sz="1600" b="0" i="0">
                <a:solidFill>
                  <a:srgbClr val="F4F7FC"/>
                </a:solidFill>
                <a:latin typeface="Segoe UI"/>
              </a:rPr>
              <a:t> aparecer no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TESTANDO A SOMA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Exemplo de execução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080D1A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217920" cy="411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050" b="0" i="1">
                <a:solidFill>
                  <a:srgbClr val="A4B0C5"/>
                </a:solidFill>
                <a:latin typeface="Consolas"/>
              </a:rPr>
              <a:t>Console — Run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Digite o primeiro número: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9ECE6A"/>
                </a:solidFill>
                <a:latin typeface="Consolas"/>
              </a:rPr>
              <a:t>20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Digite o segundo número: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9ECE6A"/>
                </a:solidFill>
                <a:latin typeface="Consolas"/>
              </a:rPr>
              <a:t>5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Escolha a operação: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1 - Soma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2 - Subtração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3 - Multiplicação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DDE4F0"/>
                </a:solidFill>
                <a:latin typeface="Consolas"/>
              </a:rPr>
              <a:t>4 - Divisão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0" i="0">
                <a:solidFill>
                  <a:srgbClr val="9ECE6A"/>
                </a:solidFill>
                <a:latin typeface="Consolas"/>
              </a:rPr>
              <a:t>1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 b="1" i="0">
                <a:solidFill>
                  <a:srgbClr val="F8981D"/>
                </a:solidFill>
                <a:latin typeface="Consolas"/>
              </a:rPr>
              <a:t>Resultado: 25.0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0233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Verde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o que o usuário digita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Branco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mensagens do programa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F8981D"/>
                </a:solidFill>
                <a:latin typeface="Segoe UI"/>
              </a:rPr>
              <a:t>Laranja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 — o resultado final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F4F7FC"/>
                </a:solidFill>
                <a:latin typeface="Segoe UI"/>
              </a:rPr>
              <a:t>Teste as outras operações e o erro de divisão por zero!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RESUMO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O que você aprendeu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82496"/>
            <a:ext cx="48920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F4F7FC"/>
                </a:solidFill>
                <a:latin typeface="Segoe UI"/>
              </a:rPr>
              <a:t>Variáveis e tipos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F8981D"/>
                </a:solidFill>
                <a:latin typeface="Segoe UI"/>
              </a:rPr>
              <a:t>int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guarda números inteiros e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double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guarda números com casas decimais. Variáveis são “caixinhas” com nome que armazenam valores.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463040"/>
            <a:ext cx="5440680" cy="21945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682496"/>
            <a:ext cx="48920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F4F7FC"/>
                </a:solidFill>
                <a:latin typeface="Segoe UI"/>
              </a:rPr>
              <a:t>Entrada e saída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F8981D"/>
                </a:solidFill>
                <a:latin typeface="Segoe UI"/>
              </a:rPr>
              <a:t>Scanner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lê o que o usuário digita no teclado;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System.out.println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escreve mensagens na tela do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59936"/>
            <a:ext cx="48920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F4F7FC"/>
                </a:solidFill>
                <a:latin typeface="Segoe UI"/>
              </a:rPr>
              <a:t>Tomada de decisão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1" i="0">
                <a:solidFill>
                  <a:srgbClr val="F8981D"/>
                </a:solidFill>
                <a:latin typeface="Segoe UI"/>
              </a:rPr>
              <a:t>switch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escolhe qual operação executar;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if / else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trata os casos especiais, como a divisão por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840480"/>
            <a:ext cx="5440680" cy="21945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4059936"/>
            <a:ext cx="4892040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1" i="0">
                <a:solidFill>
                  <a:srgbClr val="F4F7FC"/>
                </a:solidFill>
                <a:latin typeface="Segoe UI"/>
              </a:rPr>
              <a:t>Boas práticas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400" b="0" i="0">
                <a:solidFill>
                  <a:srgbClr val="A4B0C5"/>
                </a:solidFill>
                <a:latin typeface="Segoe UI"/>
              </a:rPr>
              <a:t>Validar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erros antes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de calcular, usar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break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 para sair do switch e fechar o Scanner com </a:t>
            </a:r>
            <a:r>
              <a:rPr sz="1400" b="1" i="0">
                <a:solidFill>
                  <a:srgbClr val="F8981D"/>
                </a:solidFill>
                <a:latin typeface="Segoe UI"/>
              </a:rPr>
              <a:t>close()</a:t>
            </a:r>
            <a:r>
              <a:rPr sz="1400" b="0" i="0">
                <a:solidFill>
                  <a:srgbClr val="A4B0C5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66928"/>
            <a:ext cx="128016" cy="713232"/>
          </a:xfrm>
          <a:prstGeom prst="roundRect">
            <a:avLst>
              <a:gd name="adj" fmla="val 50000"/>
            </a:avLst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657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8981D"/>
                </a:solidFill>
                <a:latin typeface="Segoe UI"/>
              </a:rPr>
              <a:t>CONTINUE EVOLUINDO</a:t>
            </a:r>
          </a:p>
          <a:p>
            <a:pPr>
              <a:spcBef>
                <a:spcPts val="200"/>
              </a:spcBef>
            </a:pPr>
            <a:r>
              <a:rPr sz="3000" b="1" i="0">
                <a:solidFill>
                  <a:srgbClr val="F4F7FC"/>
                </a:solidFill>
                <a:latin typeface="Segoe UI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309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Repetir o menu com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while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até o usuário escolher sair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Criar um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método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separado para cada operação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Validar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entradas inválidas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(ex.: letras em vez de números)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 i="0">
                <a:solidFill>
                  <a:srgbClr val="F8981D"/>
                </a:solidFill>
                <a:latin typeface="Segoe UI"/>
              </a:rPr>
              <a:t>▪  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Evoluir para uma </a:t>
            </a:r>
            <a:r>
              <a:rPr sz="1700" b="1" i="0">
                <a:solidFill>
                  <a:srgbClr val="F8981D"/>
                </a:solidFill>
                <a:latin typeface="Segoe UI"/>
              </a:rPr>
              <a:t>interface gráfica</a:t>
            </a:r>
            <a:r>
              <a:rPr sz="1700" b="0" i="0">
                <a:solidFill>
                  <a:srgbClr val="F4F7FC"/>
                </a:solidFill>
                <a:latin typeface="Segoe UI"/>
              </a:rPr>
              <a:t> (Swing ou JavaFX)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91640"/>
            <a:ext cx="4526280" cy="4023360"/>
          </a:xfrm>
          <a:prstGeom prst="roundRect">
            <a:avLst>
              <a:gd name="adj" fmla="val 7000"/>
            </a:avLst>
          </a:prstGeom>
          <a:solidFill>
            <a:srgbClr val="15223E"/>
          </a:solidFill>
          <a:ln w="12700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057400"/>
            <a:ext cx="3977639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4F7FC"/>
                </a:solidFill>
                <a:latin typeface="Segoe UI"/>
              </a:rPr>
              <a:t>Bons estudos!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1500" b="0" i="0">
                <a:solidFill>
                  <a:srgbClr val="A4B0C5"/>
                </a:solidFill>
                <a:latin typeface="Segoe UI"/>
              </a:rPr>
              <a:t>Você escreveu seu primeiro programa completo em Java.</a:t>
            </a:r>
          </a:p>
          <a:p>
            <a:pPr>
              <a:spcBef>
                <a:spcPts val="1800"/>
              </a:spcBef>
            </a:pPr>
            <a:r>
              <a:rPr sz="1800" b="1" i="0">
                <a:solidFill>
                  <a:srgbClr val="F8981D"/>
                </a:solidFill>
                <a:latin typeface="Segoe UI"/>
              </a:rPr>
              <a:t>Perguntas?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A4B0C5"/>
                </a:solidFill>
                <a:latin typeface="Segoe UI"/>
              </a:rPr>
              <a:t>Calculadora em Java  •  IntelliJ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4B0C5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Calculadora em Java — IntelliJ IDEA</dc:title>
  <dc:subject>Introdução à programação em Java</dc:subject>
  <dc:creator>Apresentação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